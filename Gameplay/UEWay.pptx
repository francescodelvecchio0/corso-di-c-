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Poppins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jGIEYm3KGu9cry2kYxY3STzG/O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6.xml"/><Relationship Id="rId42" Type="http://schemas.openxmlformats.org/officeDocument/2006/relationships/font" Target="fonts/PoppinsSemiBold-regular.fnt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8.xml"/><Relationship Id="rId44" Type="http://schemas.openxmlformats.org/officeDocument/2006/relationships/font" Target="fonts/PoppinsSemiBold-italic.fntdata"/><Relationship Id="rId21" Type="http://schemas.openxmlformats.org/officeDocument/2006/relationships/slide" Target="slides/slide17.xml"/><Relationship Id="rId43" Type="http://schemas.openxmlformats.org/officeDocument/2006/relationships/font" Target="fonts/PoppinsSemiBold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Poppins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-bold.fntdata"/><Relationship Id="rId12" Type="http://schemas.openxmlformats.org/officeDocument/2006/relationships/slide" Target="slides/slide8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1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3.xml"/><Relationship Id="rId39" Type="http://schemas.openxmlformats.org/officeDocument/2006/relationships/font" Target="fonts/Poppins-bold.fntdata"/><Relationship Id="rId16" Type="http://schemas.openxmlformats.org/officeDocument/2006/relationships/slide" Target="slides/slide12.xml"/><Relationship Id="rId38" Type="http://schemas.openxmlformats.org/officeDocument/2006/relationships/font" Target="fonts/Poppi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Pattern e soluzioni per il gameplay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Gameplay Ability System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Game Optimization (profiling, pattern d’ottimizzazione)</a:t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77c4531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577c4531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Mirato ai vostri progetti BigOne</a:t>
            </a:r>
            <a:br>
              <a:rPr lang="en-GB"/>
            </a:br>
            <a:r>
              <a:rPr lang="en-GB"/>
              <a:t>Se avete qualche dubbio implementativo, volete dei consigli su come affrontare qualcosa</a:t>
            </a:r>
            <a:endParaRPr/>
          </a:p>
        </p:txBody>
      </p:sp>
      <p:sp>
        <p:nvSpPr>
          <p:cNvPr id="101" name="Google Shape;101;g3577c45310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8fee19e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58fee19e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g358fee19e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8fee19e7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58fee19e7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g358fee19e74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75265d70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575265d70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g3575265d70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75265d709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575265d709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g3575265d709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8fee19e7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58fee19e7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g358fee19e74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75265d70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575265d70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g3575265d709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Uint8 = 1byte riservato in memoria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Uint32 = 4byte riservati in memoria</a:t>
            </a:r>
            <a:endParaRPr/>
          </a:p>
        </p:txBody>
      </p:sp>
      <p:sp>
        <p:nvSpPr>
          <p:cNvPr id="210" name="Google Shape;2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75265d709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575265d709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g3575265d709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7f5d27338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57f5d27338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1" name="Google Shape;241;g357f5d27338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8fee19e74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58fee19e74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9" name="Google Shape;259;g358fee19e74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75265d709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575265d709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g3575265d709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7f5d27338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57f5d27338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g357f5d27338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8fee19e7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58fee19e7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4" name="Google Shape;304;g358fee19e74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7ab5552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57ab5552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5" name="Google Shape;315;g357ab55524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7ab55524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57ab55524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g357ab55524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8fee19e7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58fee19e7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7" name="Google Shape;347;g358fee19e7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8fee19e74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58fee19e74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AnimNotifyState_Trace (TBO_01)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358" name="Google Shape;358;g358fee19e74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57f5d2733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57f5d2733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AnimNotifyState_Trace (TBO_01)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373" name="Google Shape;373;g357f5d27338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7f5d2733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57f5d2733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AnimNotifyState_Trace (TBO_01)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385" name="Google Shape;385;g357f5d2733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8fee19e74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58fee19e74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8" name="Google Shape;398;g358fee19e74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409" name="Google Shape;4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8fee19e74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58fee19e74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423" name="Google Shape;423;g358fee19e74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77c45310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577c45310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AnimNotifyState_Trace (TBO_01)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438" name="Google Shape;438;g3577c453105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7f5d27338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57f5d2733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ATPP_RoomVolume</a:t>
            </a:r>
            <a:r>
              <a:rPr lang="en-GB" sz="11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GB" sz="1100">
                <a:solidFill>
                  <a:srgbClr val="DCDCA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PlayerEnteredRoom (TPP_01) → MEMORY LEAK</a:t>
            </a:r>
            <a:endParaRPr sz="1100">
              <a:solidFill>
                <a:srgbClr val="DCDCA9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AnimNotifyState_Trace (TBO_01)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ProjectileDataAsset (TBO_02)</a:t>
            </a:r>
            <a:endParaRPr/>
          </a:p>
        </p:txBody>
      </p:sp>
      <p:sp>
        <p:nvSpPr>
          <p:cNvPr id="450" name="Google Shape;450;g357f5d27338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8" name="Google Shape;4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8fee19e74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58fee19e74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Un videogioco non è un simulatore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/>
              <a:t>Principio base: divertimento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8" name="Google Shape;478;g358fee19e74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1">
  <p:cSld name="slide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 collection2">
  <p:cSld name="car collection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3">
  <p:cSld name="slide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2">
  <p:cSld name="about us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ev.epicgames.com/documentation/en-us/unreal-engine/epic-cplusplus-coding-standard-for-unreal-engin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dev.epicgames.com/documentation/en-us/unreal-engine/epic-cplusplus-coding-standard-for-unreal-engine#namingconventions" TargetMode="External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hyperlink" Target="https://dev.epicgames.com/documentation/en-us/unreal-engine/epic-cplusplus-coding-standard-for-unreal-engine#braces" TargetMode="External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hyperlink" Target="https://dev.epicgames.com/documentation/en-us/unreal-engine/epic-cplusplus-coding-standard-for-unreal-engine#auto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hyperlink" Target="https://dev.epicgames.com/documentation/en-us/unreal-engine/epic-cplusplus-coding-standard-for-unreal-engine#auto" TargetMode="External"/><Relationship Id="rId8" Type="http://schemas.openxmlformats.org/officeDocument/2006/relationships/hyperlink" Target="https://dev.epicgames.com/documentation/en-us/unreal-engine/epic-cplusplus-coding-standard-for-unreal-engine#aut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hyperlink" Target="https://dev.epicgames.com/documentation/en-us/unreal-engine/epic-cplusplus-coding-standard-for-unreal-engine#portablec++co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38939" y="-1296713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 flipH="1">
            <a:off x="1225685" y="0"/>
            <a:ext cx="9144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941525" y="2815300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Gameplay in an Epic 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Regole e pattern per </a:t>
            </a:r>
            <a:r>
              <a:rPr lang="en-GB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uniformarsi a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 Engine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577c453105_0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577c453105_0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577c45310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577c453105_0_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577c453105_0_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“Ogni riferimento a codice </a:t>
            </a:r>
            <a:endParaRPr b="1" sz="4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esistente è puramente casuale”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577c453105_0_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Forse…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58fee19e74_0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58fee19e74_0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58fee19e7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58fee19e74_0_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58fee19e74_0_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“Non puntiamo il dito, </a:t>
            </a:r>
            <a:endParaRPr b="1" sz="4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siamo qui per imparare”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58fee19e74_0_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58fee19e74_0_5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58fee19e74_0_5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58fee19e74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58fee19e74_0_5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58fee19e74_0_5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Videogiochi e Simulatori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58fee19e74_0_5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"/>
          <p:cNvSpPr/>
          <p:nvPr/>
        </p:nvSpPr>
        <p:spPr>
          <a:xfrm flipH="1">
            <a:off x="1225685" y="0"/>
            <a:ext cx="9144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234829" y="2837797"/>
            <a:ext cx="10957171" cy="2093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“Codice di Unreal Engine?”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2250175" y="402097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7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Epic C++ Coding Standard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147" name="Google Shape;147;g3575265d709_0_0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575265d709_0_0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575265d709_0_0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75265d709_0_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575265d709_0_0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Scrivi in 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Pascal Case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g3575265d70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575265d70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7825" y="-272150"/>
            <a:ext cx="4770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575265d709_0_0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575265d709_0_0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 usa altre regole solo quando è in un contesto Low Level.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Mantieni la consistenza fra gli altri programmatori.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si deve riconoscere di chi è il codice.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Reference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575265d709_0_0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575265d709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7825" y="5554625"/>
            <a:ext cx="4770524" cy="1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163" name="Google Shape;163;g3575265d709_0_33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575265d709_0_33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75265d709_0_33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75265d709_0_33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575265d709_0_33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 le 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Parentesi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g3575265d709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575265d709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8725" y="440700"/>
            <a:ext cx="460962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575265d709_0_33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575265d709_0_33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Migliorano la leggibilità.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Scope già definiti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Alcuni compilatori potrebbero non compilare (PS5)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Epic Guidelines Parentesi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3575265d709_0_33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575265d709_0_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5825" y="-387975"/>
            <a:ext cx="4609625" cy="9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179" name="Google Shape;179;g358fee19e74_0_32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58fee19e74_0_32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58fee19e74_0_32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8fee19e74_0_3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58fee19e74_0_32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 gli</a:t>
            </a: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auto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g358fee19e74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58fee19e74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825" y="0"/>
            <a:ext cx="460962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58fee19e74_0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8725" y="1332038"/>
            <a:ext cx="4609624" cy="1891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58fee19e74_0_32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58fee19e74_0_32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Deve essere tutto comprensibile da qualcuno che scrive il codice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 IDE aiuta, ma leggi sempre dall’IDE?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Usi di "</a:t>
            </a:r>
            <a:r>
              <a:rPr b="1"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auto</a:t>
            </a:r>
            <a:r>
              <a:rPr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" accettabili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58fee19e74_0_32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58fee19e74_0_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8720" y="473475"/>
            <a:ext cx="4606725" cy="89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58fee19e74_0_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7275" y="3223400"/>
            <a:ext cx="4606725" cy="36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197" name="Google Shape;197;g3575265d709_0_17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575265d709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575265d709_0_17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75265d709_0_17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575265d709_0_17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575265d709_0_17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usare</a:t>
            </a:r>
            <a:b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g3575265d709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8725" y="0"/>
            <a:ext cx="460962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575265d709_0_17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575265d709_0_17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75265d709_0_17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usare la keyword “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”, specialmente come property.</a:t>
            </a: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Ogni macchina e piattaforma può leggere differentemente se è 32 o 64.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Utilizza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sempre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int32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 sicurezza.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Reference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212" name="Google Shape;212;p3"/>
          <p:cNvPicPr preferRelativeResize="0"/>
          <p:nvPr/>
        </p:nvPicPr>
        <p:blipFill rotWithShape="1">
          <a:blip r:embed="rId3">
            <a:alphaModFix/>
          </a:blip>
          <a:srcRect b="0" l="667" r="54695" t="0"/>
          <a:stretch/>
        </p:blipFill>
        <p:spPr>
          <a:xfrm>
            <a:off x="1228732" y="-2"/>
            <a:ext cx="460962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"/>
          <p:cNvSpPr txBox="1"/>
          <p:nvPr/>
        </p:nvSpPr>
        <p:spPr>
          <a:xfrm>
            <a:off x="7540805" y="4790607"/>
            <a:ext cx="481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9943585" y="4790607"/>
            <a:ext cx="481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"/>
          <p:cNvSpPr/>
          <p:nvPr/>
        </p:nvSpPr>
        <p:spPr>
          <a:xfrm flipH="1">
            <a:off x="1225685" y="0"/>
            <a:ext cx="9144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 txBox="1"/>
          <p:nvPr/>
        </p:nvSpPr>
        <p:spPr>
          <a:xfrm>
            <a:off x="6871927" y="1564556"/>
            <a:ext cx="5092484" cy="1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Booleani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8" name="Google Shape;218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5650739" y="1695485"/>
            <a:ext cx="389100" cy="735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6871927" y="3091414"/>
            <a:ext cx="4408048" cy="373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Naming Convention con “b” davanti.</a:t>
            </a: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Possono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essere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scritti per stare in un bit (bThisIsAOneBitBoolean).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Usalo solo quando hai diversi booleani.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booleani devono essere contigui.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Metti l’inizializzazione nel costruttore nello stesso identico ordine di dichiarazione.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227" name="Google Shape;227;g3575265d709_0_50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575265d709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575265d709_0_50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75265d709_0_50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75265d709_0_5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575265d709_0_50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UProperty senza</a:t>
            </a: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Raw Pointers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3" name="Google Shape;233;g3575265d709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825" y="0"/>
            <a:ext cx="464062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575265d709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824" y="0"/>
            <a:ext cx="4640625" cy="233036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575265d709_0_50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575265d709_0_50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575265d709_0_50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 Engine ci aiuta con la garbage collection.</a:t>
            </a: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 di usare Raw Pointers nelle UProperty.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Valuta se utilizzare un TWeakObjectPtr&lt;&gt; o un TObjectPtr&lt;&gt;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243" name="Google Shape;243;g357f5d27338_0_47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57f5d27338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57f5d27338_0_47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57f5d27338_0_47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57f5d27338_0_47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57f5d27338_0_47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Interfaces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g357f5d27338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57f5d27338_0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675" y="0"/>
            <a:ext cx="4609626" cy="398733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57f5d27338_0_47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57f5d27338_0_47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57f5d27338_0_47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Cast&lt;Interface&gt;()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valido se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implementata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codice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CannotImplementInterfaceInBlueprint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attaccabile solo a codice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IInterfaceName::UClassType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_getUObject()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4" name="Google Shape;254;g357f5d27338_0_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7375" y="2935775"/>
            <a:ext cx="4612300" cy="365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57f5d27338_0_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8726" y="2776850"/>
            <a:ext cx="46096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58fee19e74_0_2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58fee19e74_0_2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58fee19e74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58fee19e74_0_2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58fee19e74_0_2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String Runtime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58fee19e74_0_2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272" name="Google Shape;272;g3575265d709_0_68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575265d709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575265d709_0_68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75265d709_0_68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575265d709_0_68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575265d709_0_68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FName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g3575265d709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575265d709_0_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677" y="0"/>
            <a:ext cx="45642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575265d709_0_68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575265d709_0_68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575265d709_0_68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FName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è una stringa con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 univoco.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Invece di fare il parsing della stringa viene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confrontato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dell’FName.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 di utilizzare le FString in gameplay!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288" name="Google Shape;288;g357f5d27338_0_33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57f5d27338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57f5d27338_0_33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7f5d27338_0_33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7f5d27338_0_33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57f5d27338_0_33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FGameplayTag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g357f5d27338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57f5d27338_0_33"/>
          <p:cNvPicPr preferRelativeResize="0"/>
          <p:nvPr/>
        </p:nvPicPr>
        <p:blipFill rotWithShape="1">
          <a:blip r:embed="rId6">
            <a:alphaModFix/>
          </a:blip>
          <a:srcRect b="488" l="0" r="0" t="0"/>
          <a:stretch/>
        </p:blipFill>
        <p:spPr>
          <a:xfrm>
            <a:off x="1225675" y="0"/>
            <a:ext cx="4609624" cy="682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57f5d27338_0_33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57f5d27338_0_33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57f5d27338_0_33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Versione migliorata dei FName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errori di battitura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Gerarchico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Utilizzabili e dichiarabili a codice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9" name="Google Shape;299;g357f5d27338_0_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5677" y="5212500"/>
            <a:ext cx="2898725" cy="6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57f5d27338_0_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4819" y="5839419"/>
            <a:ext cx="4609626" cy="58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58fee19e74_0_6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58fee19e74_0_6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58fee19e74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58fee19e74_0_6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58fee19e74_0_6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Blueprint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58fee19e74_0_6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317" name="Google Shape;317;g357ab55524f_0_0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57ab55524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57ab55524f_0_0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57ab55524f_0_0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57ab55524f_0_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57ab55524f_0_0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Cast di </a:t>
            </a: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Blueprint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g357ab55524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57ab55524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825" y="0"/>
            <a:ext cx="461229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57ab55524f_0_0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57ab55524f_0_0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57ab55524f_0_0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Castare un blueprint vuol dire conoscerlo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nodo di “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Cast To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tiene in memoria il Blueprint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castato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testo, quotidiano&#10;&#10;Descrizione generata automaticamente" id="333" name="Google Shape;333;g357ab55524f_0_14"/>
          <p:cNvPicPr preferRelativeResize="0"/>
          <p:nvPr/>
        </p:nvPicPr>
        <p:blipFill rotWithShape="1">
          <a:blip r:embed="rId3">
            <a:alphaModFix/>
          </a:blip>
          <a:srcRect b="0" l="665" r="54696" t="0"/>
          <a:stretch/>
        </p:blipFill>
        <p:spPr>
          <a:xfrm>
            <a:off x="1228732" y="-2"/>
            <a:ext cx="460962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57ab55524f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57ab55524f_0_14"/>
          <p:cNvSpPr txBox="1"/>
          <p:nvPr/>
        </p:nvSpPr>
        <p:spPr>
          <a:xfrm>
            <a:off x="754080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57ab55524f_0_14"/>
          <p:cNvSpPr txBox="1"/>
          <p:nvPr/>
        </p:nvSpPr>
        <p:spPr>
          <a:xfrm>
            <a:off x="9943585" y="4790607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57ab55524f_0_14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57ab55524f_0_14"/>
          <p:cNvSpPr txBox="1"/>
          <p:nvPr/>
        </p:nvSpPr>
        <p:spPr>
          <a:xfrm>
            <a:off x="6871927" y="1564556"/>
            <a:ext cx="50925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Blueprint Pure</a:t>
            </a:r>
            <a:endParaRPr b="1" i="0" sz="1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g357ab55524f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75" y="0"/>
            <a:ext cx="461230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57ab55524f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825" y="0"/>
            <a:ext cx="460962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57ab55524f_0_14"/>
          <p:cNvSpPr/>
          <p:nvPr/>
        </p:nvSpPr>
        <p:spPr>
          <a:xfrm>
            <a:off x="5443874" y="1695485"/>
            <a:ext cx="934500" cy="934500"/>
          </a:xfrm>
          <a:prstGeom prst="ellipse">
            <a:avLst/>
          </a:prstGeom>
          <a:solidFill>
            <a:srgbClr val="FF000D"/>
          </a:solidFill>
          <a:ln>
            <a:noFill/>
          </a:ln>
          <a:effectLst>
            <a:outerShdw blurRad="393700" rotWithShape="0" algn="t" dir="5400000" dist="1016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57ab55524f_0_14"/>
          <p:cNvSpPr txBox="1"/>
          <p:nvPr/>
        </p:nvSpPr>
        <p:spPr>
          <a:xfrm>
            <a:off x="5650739" y="1695485"/>
            <a:ext cx="389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57ab55524f_0_14"/>
          <p:cNvSpPr txBox="1"/>
          <p:nvPr/>
        </p:nvSpPr>
        <p:spPr>
          <a:xfrm>
            <a:off x="6871927" y="3091414"/>
            <a:ext cx="44079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nodi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 e pure vengono rivalutati ad ogni utilizzo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 un cache se sai che le operazioni sono costose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g358fee19e74_1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58fee19e74_1_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58fee19e7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58fee19e74_1_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58fee19e74_1_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Validations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58fee19e74_1_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58fee19e74_0_73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58fee19e74_0_73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g358fee19e74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58fee19e74_0_73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Flow control: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Asserts</a:t>
            </a:r>
            <a:endParaRPr b="1" sz="3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58fee19e74_0_73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Crash se condizione invalida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check(cond)</a:t>
            </a:r>
            <a:b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checkf(cond, string)</a:t>
            </a:r>
            <a:endParaRPr i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Errore alla prima volta che la condizione è invalida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ensure(cond)</a:t>
            </a:r>
            <a:b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ensureMsgf</a:t>
            </a: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(cond, string)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Errore ogni volta che la condizione è invalida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ensureAlways(cond)</a:t>
            </a:r>
            <a:b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ensureAlwaysMsgf(cond, string)</a:t>
            </a:r>
            <a:endParaRPr i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58fee19e74_0_73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g358fee19e74_0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-13075"/>
            <a:ext cx="6774450" cy="31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58fee19e74_0_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3926725"/>
            <a:ext cx="7167126" cy="2666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58fee19e74_0_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3077025"/>
            <a:ext cx="6426200" cy="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58fee19e74_0_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6516300"/>
            <a:ext cx="6252025" cy="8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57f5d27338_0_11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57f5d27338_0_11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g357f5d27338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57f5d27338_0_11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Asset Valid:</a:t>
            </a:r>
            <a:b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Is Data Valid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g357f5d27338_0_11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Manda Errori o Warning custom al salvataggio dell’ Asset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Aiuta i Designer a utilizzare correttamente l’ Asset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Aiuta i Programmatori a ricordarsi come e cosa bisogna setuppare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g357f5d27338_0_11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g357f5d27338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1" y="-13075"/>
            <a:ext cx="6263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357f5d27338_0_22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57f5d27338_0_22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g357f5d27338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57f5d27338_0_22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Edit Blocked</a:t>
            </a: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Can Edit Change</a:t>
            </a:r>
            <a:endParaRPr b="1" sz="4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g357f5d27338_0_22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Blocca le UProperty che hai la necessità non vengano modificate in 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 controlli nel codice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 cose da toccare a Blueprint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g357f5d27338_0_22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57f5d27338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12" y="-13075"/>
            <a:ext cx="808382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57f5d27338_0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99" y="-13075"/>
            <a:ext cx="819990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g358fee19e74_1_1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58fee19e74_1_1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58fee19e74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58fee19e74_1_1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58fee19e74_1_10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Patterns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58fee19e74_1_10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"/>
          <p:cNvSpPr/>
          <p:nvPr/>
        </p:nvSpPr>
        <p:spPr>
          <a:xfrm>
            <a:off x="-4561" y="-2980"/>
            <a:ext cx="1466288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00793"/>
            <a:ext cx="657799" cy="703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 txBox="1"/>
          <p:nvPr/>
        </p:nvSpPr>
        <p:spPr>
          <a:xfrm>
            <a:off x="1390081" y="652293"/>
            <a:ext cx="5816164" cy="124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 i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Copy Paste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1461727" y="2970789"/>
            <a:ext cx="3961517" cy="3692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Copy Paste = Warning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 codice da aggiornare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 codice da debuggare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uando devi modificare, rischi di non considerare tutti i casi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…ma non esagerare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6344651" y="6412476"/>
            <a:ext cx="5598695" cy="3064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0"/>
            <a:ext cx="3467149" cy="329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3299982"/>
            <a:ext cx="3467149" cy="3751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5200" y="3484950"/>
            <a:ext cx="2811825" cy="339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79325" y="-2975"/>
            <a:ext cx="3012675" cy="362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g358fee19e74_1_20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58fee19e74_1_20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g358fee19e74_1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58fee19e74_1_20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Find </a:t>
            </a:r>
            <a:b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Component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g358fee19e74_1_20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un’ interfaccia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 andare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colpo sicuro (solo 1 cast)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Statica in supporto per cercare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componente come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fallback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CVar per disabilitare la fallback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 progetto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g358fee19e74_1_20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g358fee19e74_1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1109" y="-13087"/>
            <a:ext cx="70508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58fee19e74_1_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1100" y="-111050"/>
            <a:ext cx="6410125" cy="534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58fee19e74_1_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1112" y="4601050"/>
            <a:ext cx="8262875" cy="23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58fee19e74_1_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72850" y="-111030"/>
            <a:ext cx="819150" cy="50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g3577c453105_0_12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577c453105_0_12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g3577c453105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577c453105_0_12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Content Asset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Non-Instanced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g3577c453105_0_12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editarli Runtime!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(UStaticMesh, USkeletalMesh, UPhysicsAsset, UAnimMontage, UAnimSequence, UAnimComposite, UAnimNotify, UAnimNotifyState, UDataAsset, etc…)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modifica persiste per la sessione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Sono asset condivisi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g3577c453105_0_12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577c453105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12" y="-13075"/>
            <a:ext cx="808382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g357f5d27338_0_61"/>
          <p:cNvPicPr preferRelativeResize="0"/>
          <p:nvPr/>
        </p:nvPicPr>
        <p:blipFill rotWithShape="1">
          <a:blip r:embed="rId3">
            <a:alphaModFix/>
          </a:blip>
          <a:srcRect b="-220" l="14536" r="-855" t="220"/>
          <a:stretch/>
        </p:blipFill>
        <p:spPr>
          <a:xfrm>
            <a:off x="6096000" y="-13063"/>
            <a:ext cx="6095998" cy="688599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57f5d27338_0_61"/>
          <p:cNvSpPr/>
          <p:nvPr/>
        </p:nvSpPr>
        <p:spPr>
          <a:xfrm>
            <a:off x="-4561" y="-2980"/>
            <a:ext cx="1464332" cy="6885991"/>
          </a:xfrm>
          <a:custGeom>
            <a:rect b="b" l="l" r="r" t="t"/>
            <a:pathLst>
              <a:path extrusionOk="0" h="6885991" w="1895576">
                <a:moveTo>
                  <a:pt x="0" y="0"/>
                </a:moveTo>
                <a:lnTo>
                  <a:pt x="1606309" y="9330"/>
                </a:lnTo>
                <a:lnTo>
                  <a:pt x="1606309" y="971013"/>
                </a:lnTo>
                <a:lnTo>
                  <a:pt x="1895576" y="1260279"/>
                </a:lnTo>
                <a:lnTo>
                  <a:pt x="1606309" y="1549546"/>
                </a:lnTo>
                <a:lnTo>
                  <a:pt x="1606309" y="6867330"/>
                </a:lnTo>
                <a:lnTo>
                  <a:pt x="12063" y="6885991"/>
                </a:lnTo>
                <a:cubicBezTo>
                  <a:pt x="12063" y="4599991"/>
                  <a:pt x="0" y="2286000"/>
                  <a:pt x="0" y="0"/>
                </a:cubicBezTo>
                <a:close/>
              </a:path>
            </a:pathLst>
          </a:custGeom>
          <a:solidFill>
            <a:srgbClr val="FF00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g357f5d27338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00793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57f5d27338_0_61"/>
          <p:cNvSpPr txBox="1"/>
          <p:nvPr/>
        </p:nvSpPr>
        <p:spPr>
          <a:xfrm>
            <a:off x="1390081" y="65229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Usi di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UObject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g357f5d27338_0_61"/>
          <p:cNvSpPr txBox="1"/>
          <p:nvPr/>
        </p:nvSpPr>
        <p:spPr>
          <a:xfrm>
            <a:off x="1461727" y="2970789"/>
            <a:ext cx="39615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Default Object (CDO)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Instanced UObject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urier New"/>
              <a:buChar char="o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 piccole logiche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modulari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intercambiabili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g357f5d27338_0_61"/>
          <p:cNvSpPr/>
          <p:nvPr/>
        </p:nvSpPr>
        <p:spPr>
          <a:xfrm>
            <a:off x="6344651" y="6412476"/>
            <a:ext cx="5598600" cy="30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 use, https://en.wikipedia.org/w/index.php?curid=20304715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g357f5d27338_0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570475"/>
            <a:ext cx="6263374" cy="2400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57f5d27338_0_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95" y="3998320"/>
            <a:ext cx="6263374" cy="2012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g357f5d27338_0_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5" y="-118800"/>
            <a:ext cx="6263375" cy="7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57f5d27338_0_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2825650"/>
            <a:ext cx="6263375" cy="117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57f5d27338_0_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6010900"/>
            <a:ext cx="6263375" cy="8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57f5d27338_0_61"/>
          <p:cNvSpPr txBox="1"/>
          <p:nvPr/>
        </p:nvSpPr>
        <p:spPr>
          <a:xfrm>
            <a:off x="6319631" y="153343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Class Default Object</a:t>
            </a:r>
            <a:endParaRPr b="1" sz="2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g357f5d27338_0_61"/>
          <p:cNvSpPr txBox="1"/>
          <p:nvPr/>
        </p:nvSpPr>
        <p:spPr>
          <a:xfrm>
            <a:off x="6344656" y="3331606"/>
            <a:ext cx="58161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Instanced</a:t>
            </a:r>
            <a:endParaRPr b="1" sz="2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7"/>
          <p:cNvPicPr preferRelativeResize="0"/>
          <p:nvPr/>
        </p:nvPicPr>
        <p:blipFill rotWithShape="1">
          <a:blip r:embed="rId3">
            <a:alphaModFix/>
          </a:blip>
          <a:srcRect b="32407" l="167" r="-167" t="5899"/>
          <a:stretch/>
        </p:blipFill>
        <p:spPr>
          <a:xfrm>
            <a:off x="1230256" y="2344616"/>
            <a:ext cx="10961743" cy="450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7"/>
          <p:cNvSpPr/>
          <p:nvPr/>
        </p:nvSpPr>
        <p:spPr>
          <a:xfrm flipH="1">
            <a:off x="1225685" y="0"/>
            <a:ext cx="9144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1225682" y="792565"/>
            <a:ext cx="10966318" cy="1274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GB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b="1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5406334" y="2179977"/>
            <a:ext cx="2610278" cy="334160"/>
          </a:xfrm>
          <a:prstGeom prst="rect">
            <a:avLst/>
          </a:prstGeom>
          <a:solidFill>
            <a:srgbClr val="FF00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NOW IS THE TIME!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g358fee19e74_1_68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58fee19e74_1_68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50090" y="-1252108"/>
            <a:ext cx="5560191" cy="59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58fee19e74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58fee19e74_1_68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58fee19e74_1_68"/>
          <p:cNvSpPr txBox="1"/>
          <p:nvPr/>
        </p:nvSpPr>
        <p:spPr>
          <a:xfrm>
            <a:off x="1234829" y="2837797"/>
            <a:ext cx="109572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PRATICA</a:t>
            </a:r>
            <a:endParaRPr b="0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58fee19e74_1_68"/>
          <p:cNvSpPr txBox="1"/>
          <p:nvPr/>
        </p:nvSpPr>
        <p:spPr>
          <a:xfrm>
            <a:off x="5706700" y="4369925"/>
            <a:ext cx="89265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