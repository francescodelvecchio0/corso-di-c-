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y="6858000" cx="12192000"/>
  <p:notesSz cx="6858000" cy="9144000"/>
  <p:embeddedFontLst>
    <p:embeddedFont>
      <p:font typeface="Montserrat"/>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3" roundtripDataSignature="AMtx7miKEfAjL+mcR38jkxJ3S7n2mH5p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1A0DBA-7BFA-4146-8AC2-0E725B44B318}">
  <a:tblStyle styleId="{E21A0DBA-7BFA-4146-8AC2-0E725B44B3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5C32983-F606-45F7-9AA4-D2FD1482CA6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customschemas.google.com/relationships/presentationmetadata" Target="metadata"/><Relationship Id="rId72" Type="http://schemas.openxmlformats.org/officeDocument/2006/relationships/font" Target="fonts/Montserrat-bold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Montserrat-italic.fntdata"/><Relationship Id="rId70" Type="http://schemas.openxmlformats.org/officeDocument/2006/relationships/font" Target="fonts/Montserrat-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8" name="Google Shape;9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83d73ba60_0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7" name="Google Shape;107;g3d83d73ba60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dac08760b_0_5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5" name="Google Shape;115;g3ddac08760b_0_5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dac08760b_0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9" name="Google Shape;129;g3ddac08760b_0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dac08760b_0_5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37" name="Google Shape;137;g3ddac08760b_0_5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dac08760b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8" name="Google Shape;148;g3ddac08760b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dac08760b_0_3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93" name="Google Shape;193;g3ddac08760b_0_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dac08760b_0_4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8" name="Google Shape;248;g3ddac08760b_0_4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dac08760b_0_4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6" name="Google Shape;256;g3ddac08760b_0_4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ddac08760b_0_5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8" name="Google Shape;268;g3ddac08760b_0_5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dac08760b_0_5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9" name="Google Shape;279;g3ddac08760b_0_5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ddac08760b_0_6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7" name="Google Shape;287;g3ddac08760b_0_6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dac08760b_0_5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5" name="Google Shape;295;g3ddac08760b_0_5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ddac08760b_0_5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0" name="Google Shape;310;g3ddac08760b_0_5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dac08760b_0_5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8" name="Google Shape;318;g3ddac08760b_0_5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dac08760b_0_4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39" name="Google Shape;339;g3ddac08760b_0_4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dac08760b_0_6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90" name="Google Shape;390;g3ddac08760b_0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ddac08760b_0_6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98" name="Google Shape;398;g3ddac08760b_0_6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dac08760b_0_6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08" name="Google Shape;408;g3ddac08760b_0_6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dac08760b_0_6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17" name="Google Shape;417;g3ddac08760b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ddac08760b_0_6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25" name="Google Shape;425;g3ddac08760b_0_6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dac08760b_0_6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33" name="Google Shape;433;g3ddac08760b_0_6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dac08760b_0_6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42" name="Google Shape;442;g3ddac08760b_0_6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ddac08760b_0_6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53" name="Google Shape;453;g3ddac08760b_0_6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dac08760b_0_6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62" name="Google Shape;462;g3ddac08760b_0_6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ddac08760b_0_6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73" name="Google Shape;473;g3ddac08760b_0_6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ddac08760b_0_7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81" name="Google Shape;481;g3ddac08760b_0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dac08760b_0_7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89" name="Google Shape;489;g3ddac08760b_0_7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dac08760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98" name="Google Shape;498;g3ddac0876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dac08760b_0_7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06" name="Google Shape;506;g3ddac08760b_0_7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dac08760b_0_7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15" name="Google Shape;515;g3ddac08760b_0_7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dac08760b_0_7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23" name="Google Shape;523;g3ddac08760b_0_7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ddac08760b_0_7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31" name="Google Shape;531;g3ddac08760b_0_7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ddac08760b_0_9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43" name="Google Shape;543;g3ddac08760b_0_9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dac08760b_0_9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51" name="Google Shape;551;g3ddac08760b_0_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ddac08760b_0_7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68" name="Google Shape;568;g3ddac08760b_0_7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ddac08760b_0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608" name="Google Shape;608;g3ddac08760b_0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ddac08760b_0_8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649" name="Google Shape;649;g3ddac08760b_0_8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ddac08760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692" name="Google Shape;692;g3ddac08760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ddac08760b_0_9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00" name="Google Shape;700;g3ddac08760b_0_9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dac08760b_0_9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11" name="Google Shape;711;g3ddac08760b_0_9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dac08760b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21" name="Google Shape;721;g3ddac08760b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ddac08760b_0_10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29" name="Google Shape;729;g3ddac08760b_0_10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ddac08760b_0_10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43" name="Google Shape;743;g3ddac08760b_0_10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ddac08760b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52" name="Google Shape;752;g3ddac08760b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ddac08760b_0_10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60" name="Google Shape;760;g3ddac08760b_0_10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ddac08760b_0_10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70" name="Google Shape;770;g3ddac08760b_0_10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ddac08760b_0_10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84" name="Google Shape;784;g3ddac08760b_0_10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ddac08760b_0_10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793" name="Google Shape;793;g3ddac08760b_0_10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ddac08760b_0_10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02" name="Google Shape;802;g3ddac08760b_0_10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ddac08760b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10" name="Google Shape;810;g3ddac08760b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ddac08760b_0_10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18" name="Google Shape;818;g3ddac08760b_0_10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ddac08760b_0_1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27" name="Google Shape;827;g3ddac08760b_0_1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ddac08760b_0_1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35" name="Google Shape;835;g3ddac08760b_0_1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ddac08760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44" name="Google Shape;844;g3ddac08760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ddac08760b_0_1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52" name="Google Shape;852;g3ddac08760b_0_1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ddac08760b_0_1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86" name="Google Shape;886;g3ddac08760b_0_1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ddac08760b_0_12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25" name="Google Shape;925;g3ddac08760b_0_1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ddac08760b_0_13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34" name="Google Shape;934;g3ddac08760b_0_13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ddac08760b_0_1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44" name="Google Shape;944;g3ddac08760b_0_12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ddac08760b_0_12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53" name="Google Shape;953;g3ddac08760b_0_1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3" name="Google Shape;9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GB"/>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73" name="Google Shape;9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3">
  <p:cSld name="slide3">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us2">
  <p:cSld name="about us2">
    <p:spTree>
      <p:nvGrpSpPr>
        <p:cNvPr id="17" name="Shape 1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 collection2">
  <p:cSld name="car collection2">
    <p:spTree>
      <p:nvGrpSpPr>
        <p:cNvPr id="18" name="Shape 18"/>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p:nvPr>
            <p:ph idx="2" type="pic"/>
          </p:nvPr>
        </p:nvSpPr>
        <p:spPr>
          <a:xfrm>
            <a:off x="5183188" y="987425"/>
            <a:ext cx="6172200" cy="4873625"/>
          </a:xfrm>
          <a:prstGeom prst="rect">
            <a:avLst/>
          </a:prstGeom>
          <a:noFill/>
          <a:ln>
            <a:noFill/>
          </a:ln>
        </p:spPr>
      </p:sp>
      <p:sp>
        <p:nvSpPr>
          <p:cNvPr id="72" name="Google Shape;72;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 name="Shape 88"/>
        <p:cNvGrpSpPr/>
        <p:nvPr/>
      </p:nvGrpSpPr>
      <p:grpSpPr>
        <a:xfrm>
          <a:off x="0" y="0"/>
          <a:ext cx="0" cy="0"/>
          <a:chOff x="0" y="0"/>
          <a:chExt cx="0" cy="0"/>
        </a:xfrm>
      </p:grpSpPr>
      <p:pic>
        <p:nvPicPr>
          <p:cNvPr id="89" name="Google Shape;89;g3ddac08760b_0_166"/>
          <p:cNvPicPr preferRelativeResize="0"/>
          <p:nvPr/>
        </p:nvPicPr>
        <p:blipFill rotWithShape="1">
          <a:blip r:embed="rId2">
            <a:alphaModFix/>
          </a:blip>
          <a:srcRect b="0" l="0" r="0" t="0"/>
          <a:stretch/>
        </p:blipFill>
        <p:spPr>
          <a:xfrm>
            <a:off x="174481" y="95040"/>
            <a:ext cx="877073" cy="937331"/>
          </a:xfrm>
          <a:prstGeom prst="rect">
            <a:avLst/>
          </a:prstGeom>
          <a:noFill/>
          <a:ln>
            <a:noFill/>
          </a:ln>
        </p:spPr>
      </p:pic>
      <p:pic>
        <p:nvPicPr>
          <p:cNvPr id="90" name="Google Shape;90;g3ddac08760b_0_166"/>
          <p:cNvPicPr preferRelativeResize="0"/>
          <p:nvPr/>
        </p:nvPicPr>
        <p:blipFill rotWithShape="1">
          <a:blip r:embed="rId3">
            <a:alphaModFix/>
          </a:blip>
          <a:srcRect b="-11" l="0" r="0" t="-6599"/>
          <a:stretch/>
        </p:blipFill>
        <p:spPr>
          <a:xfrm>
            <a:off x="1225685" y="-452877"/>
            <a:ext cx="10966319" cy="7310879"/>
          </a:xfrm>
          <a:prstGeom prst="rect">
            <a:avLst/>
          </a:prstGeom>
          <a:noFill/>
          <a:ln>
            <a:noFill/>
          </a:ln>
        </p:spPr>
      </p:pic>
      <p:sp>
        <p:nvSpPr>
          <p:cNvPr id="91" name="Google Shape;91;g3ddac08760b_0_166"/>
          <p:cNvSpPr/>
          <p:nvPr/>
        </p:nvSpPr>
        <p:spPr>
          <a:xfrm>
            <a:off x="1234829" y="0"/>
            <a:ext cx="10957200" cy="6858000"/>
          </a:xfrm>
          <a:prstGeom prst="rect">
            <a:avLst/>
          </a:prstGeom>
          <a:solidFill>
            <a:srgbClr val="000000">
              <a:alpha val="8471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alibri"/>
              <a:ea typeface="Calibri"/>
              <a:cs typeface="Calibri"/>
              <a:sym typeface="Calibri"/>
            </a:endParaRPr>
          </a:p>
        </p:txBody>
      </p:sp>
      <p:sp>
        <p:nvSpPr>
          <p:cNvPr id="92" name="Google Shape;92;g3ddac08760b_0_166"/>
          <p:cNvSpPr/>
          <p:nvPr/>
        </p:nvSpPr>
        <p:spPr>
          <a:xfrm flipH="1">
            <a:off x="1225529" y="0"/>
            <a:ext cx="93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alibri"/>
              <a:ea typeface="Calibri"/>
              <a:cs typeface="Calibri"/>
              <a:sym typeface="Calibri"/>
            </a:endParaRPr>
          </a:p>
        </p:txBody>
      </p:sp>
      <p:sp>
        <p:nvSpPr>
          <p:cNvPr id="93" name="Google Shape;93;g3ddac08760b_0_166"/>
          <p:cNvSpPr txBox="1"/>
          <p:nvPr>
            <p:ph type="title"/>
          </p:nvPr>
        </p:nvSpPr>
        <p:spPr>
          <a:xfrm>
            <a:off x="1215433" y="0"/>
            <a:ext cx="10976400" cy="669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Clr>
                <a:srgbClr val="CC1417"/>
              </a:buClr>
              <a:buSzPts val="2900"/>
              <a:buFont typeface="Montserrat"/>
              <a:buNone/>
              <a:defRPr b="1" sz="2900">
                <a:solidFill>
                  <a:srgbClr val="CC1417"/>
                </a:solidFill>
                <a:latin typeface="Montserrat"/>
                <a:ea typeface="Montserrat"/>
                <a:cs typeface="Montserrat"/>
                <a:sym typeface="Montserrat"/>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4" name="Google Shape;94;g3ddac08760b_0_16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28.png"/><Relationship Id="rId5"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34.png"/><Relationship Id="rId5" Type="http://schemas.openxmlformats.org/officeDocument/2006/relationships/image" Target="../media/image38.png"/><Relationship Id="rId6"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37.png"/><Relationship Id="rId5" Type="http://schemas.openxmlformats.org/officeDocument/2006/relationships/image" Target="../media/image3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8.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0" Type="http://schemas.openxmlformats.org/officeDocument/2006/relationships/image" Target="../media/image46.png"/><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8.png"/><Relationship Id="rId4" Type="http://schemas.openxmlformats.org/officeDocument/2006/relationships/image" Target="../media/image42.png"/><Relationship Id="rId9" Type="http://schemas.openxmlformats.org/officeDocument/2006/relationships/image" Target="../media/image50.png"/><Relationship Id="rId5" Type="http://schemas.openxmlformats.org/officeDocument/2006/relationships/image" Target="../media/image43.png"/><Relationship Id="rId6" Type="http://schemas.openxmlformats.org/officeDocument/2006/relationships/image" Target="../media/image40.png"/><Relationship Id="rId7" Type="http://schemas.openxmlformats.org/officeDocument/2006/relationships/image" Target="../media/image62.png"/><Relationship Id="rId8"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png"/><Relationship Id="rId4" Type="http://schemas.openxmlformats.org/officeDocument/2006/relationships/image" Target="../media/image52.png"/><Relationship Id="rId5"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png"/><Relationship Id="rId4" Type="http://schemas.openxmlformats.org/officeDocument/2006/relationships/image" Target="../media/image4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8.png"/><Relationship Id="rId4"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pn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png"/><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8.png"/><Relationship Id="rId4" Type="http://schemas.openxmlformats.org/officeDocument/2006/relationships/image" Target="../media/image57.png"/><Relationship Id="rId5"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8.png"/><Relationship Id="rId4" Type="http://schemas.openxmlformats.org/officeDocument/2006/relationships/image" Target="../media/image57.png"/><Relationship Id="rId5"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8.png"/><Relationship Id="rId4" Type="http://schemas.openxmlformats.org/officeDocument/2006/relationships/image" Target="../media/image61.png"/><Relationship Id="rId5" Type="http://schemas.openxmlformats.org/officeDocument/2006/relationships/image" Target="../media/image59.png"/><Relationship Id="rId6"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8.png"/><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63.jpg"/><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8.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
          <p:cNvPicPr preferRelativeResize="0"/>
          <p:nvPr/>
        </p:nvPicPr>
        <p:blipFill rotWithShape="1">
          <a:blip r:embed="rId3">
            <a:alphaModFix amt="5000"/>
          </a:blip>
          <a:srcRect b="0" l="0" r="0" t="0"/>
          <a:stretch/>
        </p:blipFill>
        <p:spPr>
          <a:xfrm>
            <a:off x="1671543" y="2445342"/>
            <a:ext cx="5560190" cy="5942264"/>
          </a:xfrm>
          <a:prstGeom prst="rect">
            <a:avLst/>
          </a:prstGeom>
          <a:noFill/>
          <a:ln>
            <a:noFill/>
          </a:ln>
        </p:spPr>
      </p:pic>
      <p:pic>
        <p:nvPicPr>
          <p:cNvPr id="101" name="Google Shape;101;p1"/>
          <p:cNvPicPr preferRelativeResize="0"/>
          <p:nvPr/>
        </p:nvPicPr>
        <p:blipFill rotWithShape="1">
          <a:blip r:embed="rId3">
            <a:alphaModFix amt="5000"/>
          </a:blip>
          <a:srcRect b="0" l="0" r="0" t="0"/>
          <a:stretch/>
        </p:blipFill>
        <p:spPr>
          <a:xfrm>
            <a:off x="6838939" y="-1296713"/>
            <a:ext cx="5560190" cy="5942264"/>
          </a:xfrm>
          <a:prstGeom prst="rect">
            <a:avLst/>
          </a:prstGeom>
          <a:noFill/>
          <a:ln>
            <a:noFill/>
          </a:ln>
        </p:spPr>
      </p:pic>
      <p:pic>
        <p:nvPicPr>
          <p:cNvPr id="102" name="Google Shape;102;p1"/>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03" name="Google Shape;103;p1"/>
          <p:cNvSpPr txBox="1"/>
          <p:nvPr/>
        </p:nvSpPr>
        <p:spPr>
          <a:xfrm>
            <a:off x="1225825" y="0"/>
            <a:ext cx="10966200" cy="685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Montserrat"/>
              <a:buNone/>
            </a:pPr>
            <a:r>
              <a:rPr b="1" i="0" lang="en-GB" sz="4400" u="none" cap="none" strike="noStrike">
                <a:solidFill>
                  <a:srgbClr val="FF0000"/>
                </a:solidFill>
                <a:latin typeface="Montserrat"/>
                <a:ea typeface="Montserrat"/>
                <a:cs typeface="Montserrat"/>
                <a:sym typeface="Montserrat"/>
              </a:rPr>
              <a:t>MULTIPLAYER</a:t>
            </a:r>
            <a:endParaRPr b="1" i="0" sz="4400" u="none" cap="none" strike="noStrike">
              <a:solidFill>
                <a:srgbClr val="FF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FF0000"/>
              </a:buClr>
              <a:buSzPts val="4400"/>
              <a:buFont typeface="Montserrat"/>
              <a:buNone/>
            </a:pPr>
            <a:r>
              <a:rPr b="1" i="0" lang="en-GB" sz="4400" u="none" cap="none" strike="noStrike">
                <a:solidFill>
                  <a:srgbClr val="FF0000"/>
                </a:solidFill>
                <a:latin typeface="Montserrat"/>
                <a:ea typeface="Montserrat"/>
                <a:cs typeface="Montserrat"/>
                <a:sym typeface="Montserrat"/>
              </a:rPr>
              <a:t>Parte </a:t>
            </a:r>
            <a:r>
              <a:rPr b="1" lang="en-GB" sz="4400">
                <a:solidFill>
                  <a:srgbClr val="FF0000"/>
                </a:solidFill>
                <a:latin typeface="Montserrat"/>
                <a:ea typeface="Montserrat"/>
                <a:cs typeface="Montserrat"/>
                <a:sym typeface="Montserrat"/>
              </a:rPr>
              <a:t>2</a:t>
            </a:r>
            <a:endParaRPr b="1" i="0" sz="4400" u="none" cap="none" strike="noStrike">
              <a:solidFill>
                <a:srgbClr val="FF0000"/>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Montserrat"/>
              <a:ea typeface="Montserrat"/>
              <a:cs typeface="Montserrat"/>
              <a:sym typeface="Montserrat"/>
            </a:endParaRPr>
          </a:p>
        </p:txBody>
      </p:sp>
      <p:sp>
        <p:nvSpPr>
          <p:cNvPr id="104" name="Google Shape;104;p1"/>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d83d73ba60_0_18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10" name="Google Shape;110;g3d83d73ba60_0_18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Replication</a:t>
            </a:r>
            <a:endParaRPr b="1" i="0" sz="1100" u="none" cap="none" strike="noStrike">
              <a:solidFill>
                <a:srgbClr val="FF0000"/>
              </a:solidFill>
              <a:latin typeface="Montserrat"/>
              <a:ea typeface="Montserrat"/>
              <a:cs typeface="Montserrat"/>
              <a:sym typeface="Montserrat"/>
            </a:endParaRPr>
          </a:p>
        </p:txBody>
      </p:sp>
      <p:sp>
        <p:nvSpPr>
          <p:cNvPr id="111" name="Google Shape;111;g3d83d73ba60_0_186"/>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a:t>
            </a:r>
            <a:r>
              <a:rPr b="1" lang="en-GB" sz="1600">
                <a:solidFill>
                  <a:schemeClr val="dk1"/>
                </a:solidFill>
                <a:latin typeface="Montserrat"/>
                <a:ea typeface="Montserrat"/>
                <a:cs typeface="Montserrat"/>
                <a:sym typeface="Montserrat"/>
              </a:rPr>
              <a:t>Replicazione </a:t>
            </a:r>
            <a:r>
              <a:rPr lang="en-GB" sz="1600">
                <a:solidFill>
                  <a:schemeClr val="dk1"/>
                </a:solidFill>
                <a:latin typeface="Montserrat"/>
                <a:ea typeface="Montserrat"/>
                <a:cs typeface="Montserrat"/>
                <a:sym typeface="Montserrat"/>
              </a:rPr>
              <a:t>e’ il processo attraverso il quale il Server condivide informazioni con i Client. </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P</a:t>
            </a:r>
            <a:r>
              <a:rPr lang="en-GB" sz="1600">
                <a:solidFill>
                  <a:schemeClr val="dk1"/>
                </a:solidFill>
                <a:latin typeface="Montserrat"/>
                <a:ea typeface="Montserrat"/>
                <a:cs typeface="Montserrat"/>
                <a:sym typeface="Montserrat"/>
              </a:rPr>
              <a:t>uò</a:t>
            </a:r>
            <a:r>
              <a:rPr lang="en-GB" sz="1600">
                <a:solidFill>
                  <a:schemeClr val="dk1"/>
                </a:solidFill>
                <a:latin typeface="Montserrat"/>
                <a:ea typeface="Montserrat"/>
                <a:cs typeface="Montserrat"/>
                <a:sym typeface="Montserrat"/>
              </a:rPr>
              <a:t>’ essere specifica per un singolo oggetto o un gruppo di oggetti.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È abilitata di default per alcuni oggetti, ma per la maggior parte sta a noi definire chiaramente cosa deve essere replicato.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È un processo unidirezionale: il Server processa i cambiamenti e i Client si limitano a ricevere il risultato e copiarlo nella propria istanza di gioco.</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Avviene a livello di AActor e solo gli AActor (e alcune eccezioni) possono essere replicati.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Attivare la replicazione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Attivare </a:t>
            </a:r>
            <a:r>
              <a:rPr b="1" lang="en-GB" sz="1600">
                <a:solidFill>
                  <a:schemeClr val="dk1"/>
                </a:solidFill>
                <a:latin typeface="Montserrat"/>
                <a:ea typeface="Montserrat"/>
                <a:cs typeface="Montserrat"/>
                <a:sym typeface="Montserrat"/>
              </a:rPr>
              <a:t>bReplicates </a:t>
            </a:r>
            <a:r>
              <a:rPr lang="en-GB" sz="1600">
                <a:solidFill>
                  <a:schemeClr val="dk1"/>
                </a:solidFill>
                <a:latin typeface="Montserrat"/>
                <a:ea typeface="Montserrat"/>
                <a:cs typeface="Montserrat"/>
                <a:sym typeface="Montserrat"/>
              </a:rPr>
              <a:t>per far sì che l’actor venga replicato su tutti i client se generato dal server.</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Spesso si attiva anche </a:t>
            </a:r>
            <a:r>
              <a:rPr b="1" lang="en-GB" sz="1600">
                <a:solidFill>
                  <a:schemeClr val="dk1"/>
                </a:solidFill>
                <a:latin typeface="Montserrat"/>
                <a:ea typeface="Montserrat"/>
                <a:cs typeface="Montserrat"/>
                <a:sym typeface="Montserrat"/>
              </a:rPr>
              <a:t>bReplicateMovement </a:t>
            </a:r>
            <a:r>
              <a:rPr lang="en-GB" sz="1600">
                <a:solidFill>
                  <a:schemeClr val="dk1"/>
                </a:solidFill>
                <a:latin typeface="Montserrat"/>
                <a:ea typeface="Montserrat"/>
                <a:cs typeface="Montserrat"/>
                <a:sym typeface="Montserrat"/>
              </a:rPr>
              <a:t>per sincronizzare movimento e rotazione.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un client spawna un actor con </a:t>
            </a:r>
            <a:r>
              <a:rPr b="1" lang="en-GB" sz="1600">
                <a:solidFill>
                  <a:schemeClr val="dk1"/>
                </a:solidFill>
                <a:latin typeface="Montserrat"/>
                <a:ea typeface="Montserrat"/>
                <a:cs typeface="Montserrat"/>
                <a:sym typeface="Montserrat"/>
              </a:rPr>
              <a:t>bReplicates</a:t>
            </a:r>
            <a:r>
              <a:rPr lang="en-GB" sz="1600">
                <a:solidFill>
                  <a:schemeClr val="dk1"/>
                </a:solidFill>
                <a:latin typeface="Montserrat"/>
                <a:ea typeface="Montserrat"/>
                <a:cs typeface="Montserrat"/>
                <a:sym typeface="Montserrat"/>
              </a:rPr>
              <a:t>, quell’actor esisterà solo sul client, non su altri.</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112" name="Google Shape;112;g3d83d73ba60_0_18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ddac08760b_0_52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18" name="Google Shape;118;g3ddac08760b_0_52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Replication</a:t>
            </a:r>
            <a:endParaRPr b="1" i="0" sz="1100" u="none" cap="none" strike="noStrike">
              <a:solidFill>
                <a:srgbClr val="FF0000"/>
              </a:solidFill>
              <a:latin typeface="Montserrat"/>
              <a:ea typeface="Montserrat"/>
              <a:cs typeface="Montserrat"/>
              <a:sym typeface="Montserrat"/>
            </a:endParaRPr>
          </a:p>
        </p:txBody>
      </p:sp>
      <p:sp>
        <p:nvSpPr>
          <p:cNvPr id="119" name="Google Shape;119;g3ddac08760b_0_52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120" name="Google Shape;120;g3ddac08760b_0_528"/>
          <p:cNvPicPr preferRelativeResize="0"/>
          <p:nvPr/>
        </p:nvPicPr>
        <p:blipFill rotWithShape="1">
          <a:blip r:embed="rId4">
            <a:alphaModFix/>
          </a:blip>
          <a:srcRect b="0" l="0" r="0" t="0"/>
          <a:stretch/>
        </p:blipFill>
        <p:spPr>
          <a:xfrm>
            <a:off x="4029513" y="1150125"/>
            <a:ext cx="5358825" cy="2018950"/>
          </a:xfrm>
          <a:prstGeom prst="rect">
            <a:avLst/>
          </a:prstGeom>
          <a:noFill/>
          <a:ln cap="flat" cmpd="sng" w="12200">
            <a:solidFill>
              <a:srgbClr val="595959"/>
            </a:solidFill>
            <a:prstDash val="solid"/>
            <a:round/>
            <a:headEnd len="sm" w="sm" type="none"/>
            <a:tailEnd len="sm" w="sm" type="none"/>
          </a:ln>
        </p:spPr>
      </p:pic>
      <p:pic>
        <p:nvPicPr>
          <p:cNvPr id="121" name="Google Shape;121;g3ddac08760b_0_528"/>
          <p:cNvPicPr preferRelativeResize="0"/>
          <p:nvPr/>
        </p:nvPicPr>
        <p:blipFill rotWithShape="1">
          <a:blip r:embed="rId5">
            <a:alphaModFix/>
          </a:blip>
          <a:srcRect b="0" l="0" r="0" t="0"/>
          <a:stretch/>
        </p:blipFill>
        <p:spPr>
          <a:xfrm>
            <a:off x="4042144" y="3409984"/>
            <a:ext cx="5333563" cy="1363466"/>
          </a:xfrm>
          <a:prstGeom prst="rect">
            <a:avLst/>
          </a:prstGeom>
          <a:noFill/>
          <a:ln cap="flat" cmpd="sng" w="12200">
            <a:solidFill>
              <a:srgbClr val="595959"/>
            </a:solidFill>
            <a:prstDash val="solid"/>
            <a:round/>
            <a:headEnd len="sm" w="sm" type="none"/>
            <a:tailEnd len="sm" w="sm" type="none"/>
          </a:ln>
        </p:spPr>
      </p:pic>
      <p:sp>
        <p:nvSpPr>
          <p:cNvPr id="122" name="Google Shape;122;g3ddac08760b_0_528"/>
          <p:cNvSpPr/>
          <p:nvPr/>
        </p:nvSpPr>
        <p:spPr>
          <a:xfrm>
            <a:off x="5568544" y="1331057"/>
            <a:ext cx="257700" cy="250200"/>
          </a:xfrm>
          <a:prstGeom prst="rect">
            <a:avLst/>
          </a:prstGeom>
          <a:noFill/>
          <a:ln cap="flat" cmpd="sng" w="24400">
            <a:solidFill>
              <a:srgbClr val="FF0000"/>
            </a:solidFill>
            <a:prstDash val="solid"/>
            <a:round/>
            <a:headEnd len="sm" w="sm" type="none"/>
            <a:tailEnd len="sm" w="sm" type="none"/>
          </a:ln>
        </p:spPr>
        <p:txBody>
          <a:bodyPr anchorCtr="0" anchor="ctr" bIns="117100" lIns="117100" spcFirstLastPara="1" rIns="117100" wrap="square" tIns="117100">
            <a:noAutofit/>
          </a:bodyPr>
          <a:lstStyle/>
          <a:p>
            <a:pPr indent="0" lvl="0" marL="0" marR="0" rtl="0" algn="ctr">
              <a:lnSpc>
                <a:spcPct val="100000"/>
              </a:lnSpc>
              <a:spcBef>
                <a:spcPts val="0"/>
              </a:spcBef>
              <a:spcAft>
                <a:spcPts val="0"/>
              </a:spcAft>
              <a:buClr>
                <a:srgbClr val="000000"/>
              </a:buClr>
              <a:buSzPts val="1793"/>
              <a:buFont typeface="Arial"/>
              <a:buNone/>
            </a:pPr>
            <a:r>
              <a:t/>
            </a:r>
            <a:endParaRPr b="0" i="0" sz="1793" u="none" cap="none" strike="noStrike">
              <a:solidFill>
                <a:srgbClr val="000000"/>
              </a:solidFill>
              <a:latin typeface="Arial"/>
              <a:ea typeface="Arial"/>
              <a:cs typeface="Arial"/>
              <a:sym typeface="Arial"/>
            </a:endParaRPr>
          </a:p>
        </p:txBody>
      </p:sp>
      <p:sp>
        <p:nvSpPr>
          <p:cNvPr id="123" name="Google Shape;123;g3ddac08760b_0_528"/>
          <p:cNvSpPr/>
          <p:nvPr/>
        </p:nvSpPr>
        <p:spPr>
          <a:xfrm>
            <a:off x="5826208" y="1641348"/>
            <a:ext cx="444600" cy="109200"/>
          </a:xfrm>
          <a:prstGeom prst="rect">
            <a:avLst/>
          </a:prstGeom>
          <a:noFill/>
          <a:ln cap="flat" cmpd="sng" w="24400">
            <a:solidFill>
              <a:srgbClr val="FF0000"/>
            </a:solidFill>
            <a:prstDash val="solid"/>
            <a:round/>
            <a:headEnd len="sm" w="sm" type="none"/>
            <a:tailEnd len="sm" w="sm" type="none"/>
          </a:ln>
        </p:spPr>
        <p:txBody>
          <a:bodyPr anchorCtr="0" anchor="ctr" bIns="117100" lIns="117100" spcFirstLastPara="1" rIns="117100" wrap="square" tIns="117100">
            <a:noAutofit/>
          </a:bodyPr>
          <a:lstStyle/>
          <a:p>
            <a:pPr indent="0" lvl="0" marL="0" marR="0" rtl="0" algn="ctr">
              <a:lnSpc>
                <a:spcPct val="100000"/>
              </a:lnSpc>
              <a:spcBef>
                <a:spcPts val="0"/>
              </a:spcBef>
              <a:spcAft>
                <a:spcPts val="0"/>
              </a:spcAft>
              <a:buClr>
                <a:srgbClr val="000000"/>
              </a:buClr>
              <a:buSzPts val="1793"/>
              <a:buFont typeface="Arial"/>
              <a:buNone/>
            </a:pPr>
            <a:r>
              <a:t/>
            </a:r>
            <a:endParaRPr b="0" i="0" sz="1793" u="none" cap="none" strike="noStrike">
              <a:solidFill>
                <a:srgbClr val="000000"/>
              </a:solidFill>
              <a:latin typeface="Arial"/>
              <a:ea typeface="Arial"/>
              <a:cs typeface="Arial"/>
              <a:sym typeface="Arial"/>
            </a:endParaRPr>
          </a:p>
        </p:txBody>
      </p:sp>
      <p:sp>
        <p:nvSpPr>
          <p:cNvPr id="124" name="Google Shape;124;g3ddac08760b_0_528"/>
          <p:cNvSpPr/>
          <p:nvPr/>
        </p:nvSpPr>
        <p:spPr>
          <a:xfrm>
            <a:off x="5826208" y="2619921"/>
            <a:ext cx="2449500" cy="144600"/>
          </a:xfrm>
          <a:prstGeom prst="rect">
            <a:avLst/>
          </a:prstGeom>
          <a:noFill/>
          <a:ln cap="flat" cmpd="sng" w="24400">
            <a:solidFill>
              <a:srgbClr val="FF0000"/>
            </a:solidFill>
            <a:prstDash val="solid"/>
            <a:round/>
            <a:headEnd len="sm" w="sm" type="none"/>
            <a:tailEnd len="sm" w="sm" type="none"/>
          </a:ln>
        </p:spPr>
        <p:txBody>
          <a:bodyPr anchorCtr="0" anchor="ctr" bIns="117100" lIns="117100" spcFirstLastPara="1" rIns="117100" wrap="square" tIns="117100">
            <a:noAutofit/>
          </a:bodyPr>
          <a:lstStyle/>
          <a:p>
            <a:pPr indent="0" lvl="0" marL="0" marR="0" rtl="0" algn="ctr">
              <a:lnSpc>
                <a:spcPct val="100000"/>
              </a:lnSpc>
              <a:spcBef>
                <a:spcPts val="0"/>
              </a:spcBef>
              <a:spcAft>
                <a:spcPts val="0"/>
              </a:spcAft>
              <a:buClr>
                <a:srgbClr val="000000"/>
              </a:buClr>
              <a:buSzPts val="1793"/>
              <a:buFont typeface="Arial"/>
              <a:buNone/>
            </a:pPr>
            <a:r>
              <a:t/>
            </a:r>
            <a:endParaRPr b="0" i="0" sz="1793" u="none" cap="none" strike="noStrike">
              <a:solidFill>
                <a:srgbClr val="000000"/>
              </a:solidFill>
              <a:latin typeface="Arial"/>
              <a:ea typeface="Arial"/>
              <a:cs typeface="Arial"/>
              <a:sym typeface="Arial"/>
            </a:endParaRPr>
          </a:p>
        </p:txBody>
      </p:sp>
      <p:pic>
        <p:nvPicPr>
          <p:cNvPr id="125" name="Google Shape;125;g3ddac08760b_0_528"/>
          <p:cNvPicPr preferRelativeResize="0"/>
          <p:nvPr/>
        </p:nvPicPr>
        <p:blipFill rotWithShape="1">
          <a:blip r:embed="rId6">
            <a:alphaModFix/>
          </a:blip>
          <a:srcRect b="0" l="0" r="0" t="0"/>
          <a:stretch/>
        </p:blipFill>
        <p:spPr>
          <a:xfrm>
            <a:off x="4029513" y="5098707"/>
            <a:ext cx="5358825" cy="1432342"/>
          </a:xfrm>
          <a:prstGeom prst="rect">
            <a:avLst/>
          </a:prstGeom>
          <a:noFill/>
          <a:ln>
            <a:noFill/>
          </a:ln>
        </p:spPr>
      </p:pic>
      <p:sp>
        <p:nvSpPr>
          <p:cNvPr id="126" name="Google Shape;126;g3ddac08760b_0_528"/>
          <p:cNvSpPr/>
          <p:nvPr/>
        </p:nvSpPr>
        <p:spPr>
          <a:xfrm>
            <a:off x="5428519" y="6224524"/>
            <a:ext cx="2563200" cy="194400"/>
          </a:xfrm>
          <a:prstGeom prst="rect">
            <a:avLst/>
          </a:prstGeom>
          <a:noFill/>
          <a:ln cap="flat" cmpd="sng" w="24400">
            <a:solidFill>
              <a:srgbClr val="FF0000"/>
            </a:solidFill>
            <a:prstDash val="solid"/>
            <a:round/>
            <a:headEnd len="sm" w="sm" type="none"/>
            <a:tailEnd len="sm" w="sm" type="none"/>
          </a:ln>
        </p:spPr>
        <p:txBody>
          <a:bodyPr anchorCtr="0" anchor="ctr" bIns="117100" lIns="117100" spcFirstLastPara="1" rIns="117100" wrap="square" tIns="117100">
            <a:noAutofit/>
          </a:bodyPr>
          <a:lstStyle/>
          <a:p>
            <a:pPr indent="0" lvl="0" marL="0" marR="0" rtl="0" algn="ctr">
              <a:lnSpc>
                <a:spcPct val="100000"/>
              </a:lnSpc>
              <a:spcBef>
                <a:spcPts val="0"/>
              </a:spcBef>
              <a:spcAft>
                <a:spcPts val="0"/>
              </a:spcAft>
              <a:buClr>
                <a:srgbClr val="000000"/>
              </a:buClr>
              <a:buSzPts val="1793"/>
              <a:buFont typeface="Arial"/>
              <a:buNone/>
            </a:pPr>
            <a:r>
              <a:t/>
            </a:r>
            <a:endParaRPr b="0" i="0" sz="1793"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g3ddac08760b_0_46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32" name="Google Shape;132;g3ddac08760b_0_46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 </a:t>
            </a:r>
            <a:r>
              <a:rPr b="1" lang="en-GB" sz="4000">
                <a:solidFill>
                  <a:schemeClr val="dk1"/>
                </a:solidFill>
                <a:latin typeface="Montserrat"/>
                <a:ea typeface="Montserrat"/>
                <a:cs typeface="Montserrat"/>
                <a:sym typeface="Montserrat"/>
              </a:rPr>
              <a:t>Replication</a:t>
            </a:r>
            <a:endParaRPr b="1" i="0" sz="1100" u="none" cap="none" strike="noStrike">
              <a:solidFill>
                <a:srgbClr val="FF0000"/>
              </a:solidFill>
              <a:latin typeface="Montserrat"/>
              <a:ea typeface="Montserrat"/>
              <a:cs typeface="Montserrat"/>
              <a:sym typeface="Montserrat"/>
            </a:endParaRPr>
          </a:p>
        </p:txBody>
      </p:sp>
      <p:sp>
        <p:nvSpPr>
          <p:cNvPr id="133" name="Google Shape;133;g3ddac08760b_0_468"/>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In C++, è possibile abilitare la replicazione in un Actor impostando “</a:t>
            </a:r>
            <a:r>
              <a:rPr b="1" lang="en-GB" sz="1600">
                <a:solidFill>
                  <a:schemeClr val="dk1"/>
                </a:solidFill>
                <a:latin typeface="Montserrat"/>
                <a:ea typeface="Montserrat"/>
                <a:cs typeface="Montserrat"/>
                <a:sym typeface="Montserrat"/>
              </a:rPr>
              <a:t>bReplicates</a:t>
            </a:r>
            <a:r>
              <a:rPr lang="en-GB" sz="1600">
                <a:solidFill>
                  <a:schemeClr val="dk1"/>
                </a:solidFill>
                <a:latin typeface="Montserrat"/>
                <a:ea typeface="Montserrat"/>
                <a:cs typeface="Montserrat"/>
                <a:sym typeface="Montserrat"/>
              </a:rPr>
              <a:t>” a “</a:t>
            </a:r>
            <a:r>
              <a:rPr b="1" lang="en-GB" sz="1600">
                <a:solidFill>
                  <a:schemeClr val="dk1"/>
                </a:solidFill>
                <a:latin typeface="Montserrat"/>
                <a:ea typeface="Montserrat"/>
                <a:cs typeface="Montserrat"/>
                <a:sym typeface="Montserrat"/>
              </a:rPr>
              <a:t>true</a:t>
            </a:r>
            <a:r>
              <a:rPr lang="en-GB" sz="1600">
                <a:solidFill>
                  <a:schemeClr val="dk1"/>
                </a:solidFill>
                <a:latin typeface="Montserrat"/>
                <a:ea typeface="Montserrat"/>
                <a:cs typeface="Montserrat"/>
                <a:sym typeface="Montserrat"/>
              </a:rPr>
              <a:t>” nel suo costruttore, ma e’ possibile modificare questo comportamento a Runtime.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In Blueprint è possibile andare nella tab “Class Defaults” e cliccare sul checkbox “</a:t>
            </a:r>
            <a:r>
              <a:rPr b="1" lang="en-GB" sz="1600">
                <a:solidFill>
                  <a:schemeClr val="dk1"/>
                </a:solidFill>
                <a:latin typeface="Montserrat"/>
                <a:ea typeface="Montserrat"/>
                <a:cs typeface="Montserrat"/>
                <a:sym typeface="Montserrat"/>
              </a:rPr>
              <a:t>Replicates</a:t>
            </a:r>
            <a:r>
              <a:rPr lang="en-GB" sz="1600">
                <a:solidFill>
                  <a:schemeClr val="dk1"/>
                </a:solidFill>
                <a:latin typeface="Montserrat"/>
                <a:ea typeface="Montserrat"/>
                <a:cs typeface="Montserrat"/>
                <a:sym typeface="Montserrat"/>
              </a:rPr>
              <a:t>”.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Questo </a:t>
            </a:r>
            <a:r>
              <a:rPr lang="en-GB" sz="1600">
                <a:solidFill>
                  <a:schemeClr val="dk1"/>
                </a:solidFill>
                <a:latin typeface="Montserrat"/>
                <a:ea typeface="Montserrat"/>
                <a:cs typeface="Montserrat"/>
                <a:sym typeface="Montserrat"/>
              </a:rPr>
              <a:t>permetterà</a:t>
            </a:r>
            <a:r>
              <a:rPr lang="en-GB" sz="1600">
                <a:solidFill>
                  <a:schemeClr val="dk1"/>
                </a:solidFill>
                <a:latin typeface="Montserrat"/>
                <a:ea typeface="Montserrat"/>
                <a:cs typeface="Montserrat"/>
                <a:sym typeface="Montserrat"/>
              </a:rPr>
              <a:t> al Server di capire se e’ il caso di creare un </a:t>
            </a:r>
            <a:r>
              <a:rPr b="1" lang="en-GB" sz="1600">
                <a:solidFill>
                  <a:schemeClr val="dk1"/>
                </a:solidFill>
                <a:latin typeface="Montserrat"/>
                <a:ea typeface="Montserrat"/>
                <a:cs typeface="Montserrat"/>
                <a:sym typeface="Montserrat"/>
              </a:rPr>
              <a:t>UActorChannel </a:t>
            </a:r>
            <a:r>
              <a:rPr lang="en-GB" sz="1600">
                <a:solidFill>
                  <a:schemeClr val="dk1"/>
                </a:solidFill>
                <a:latin typeface="Montserrat"/>
                <a:ea typeface="Montserrat"/>
                <a:cs typeface="Montserrat"/>
                <a:sym typeface="Montserrat"/>
              </a:rPr>
              <a:t>associato oppure no.</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Se l’oggetto non e’ marcato come “bReplicates = true”, allora l’Actor non </a:t>
            </a:r>
            <a:r>
              <a:rPr lang="en-GB" sz="1600">
                <a:solidFill>
                  <a:schemeClr val="dk1"/>
                </a:solidFill>
                <a:latin typeface="Montserrat"/>
                <a:ea typeface="Montserrat"/>
                <a:cs typeface="Montserrat"/>
                <a:sym typeface="Montserrat"/>
              </a:rPr>
              <a:t>avrà</a:t>
            </a:r>
            <a:r>
              <a:rPr lang="en-GB" sz="1600">
                <a:solidFill>
                  <a:schemeClr val="dk1"/>
                </a:solidFill>
                <a:latin typeface="Montserrat"/>
                <a:ea typeface="Montserrat"/>
                <a:cs typeface="Montserrat"/>
                <a:sym typeface="Montserrat"/>
              </a:rPr>
              <a:t> alcuna rilevanza in termini di Networking e non </a:t>
            </a:r>
            <a:r>
              <a:rPr lang="en-GB" sz="1600">
                <a:solidFill>
                  <a:schemeClr val="dk1"/>
                </a:solidFill>
                <a:latin typeface="Montserrat"/>
                <a:ea typeface="Montserrat"/>
                <a:cs typeface="Montserrat"/>
                <a:sym typeface="Montserrat"/>
              </a:rPr>
              <a:t>sarà</a:t>
            </a:r>
            <a:r>
              <a:rPr lang="en-GB" sz="1600">
                <a:solidFill>
                  <a:schemeClr val="dk1"/>
                </a:solidFill>
                <a:latin typeface="Montserrat"/>
                <a:ea typeface="Montserrat"/>
                <a:cs typeface="Montserrat"/>
                <a:sym typeface="Montserrat"/>
              </a:rPr>
              <a:t> possibile replicare le variabili.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134" name="Google Shape;134;g3ddac08760b_0_46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ddac08760b_0_59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40" name="Google Shape;140;g3ddac08760b_0_59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 Replication</a:t>
            </a:r>
            <a:endParaRPr b="1" i="0" sz="1100" u="none" cap="none" strike="noStrike">
              <a:solidFill>
                <a:srgbClr val="FF0000"/>
              </a:solidFill>
              <a:latin typeface="Montserrat"/>
              <a:ea typeface="Montserrat"/>
              <a:cs typeface="Montserrat"/>
              <a:sym typeface="Montserrat"/>
            </a:endParaRPr>
          </a:p>
        </p:txBody>
      </p:sp>
      <p:sp>
        <p:nvSpPr>
          <p:cNvPr id="141" name="Google Shape;141;g3ddac08760b_0_59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142" name="Google Shape;142;g3ddac08760b_0_595"/>
          <p:cNvPicPr preferRelativeResize="0"/>
          <p:nvPr/>
        </p:nvPicPr>
        <p:blipFill>
          <a:blip r:embed="rId4">
            <a:alphaModFix/>
          </a:blip>
          <a:stretch>
            <a:fillRect/>
          </a:stretch>
        </p:blipFill>
        <p:spPr>
          <a:xfrm>
            <a:off x="2190125" y="1291280"/>
            <a:ext cx="3162300" cy="1627460"/>
          </a:xfrm>
          <a:prstGeom prst="rect">
            <a:avLst/>
          </a:prstGeom>
          <a:noFill/>
          <a:ln>
            <a:noFill/>
          </a:ln>
        </p:spPr>
      </p:pic>
      <p:pic>
        <p:nvPicPr>
          <p:cNvPr id="143" name="Google Shape;143;g3ddac08760b_0_595"/>
          <p:cNvPicPr preferRelativeResize="0"/>
          <p:nvPr/>
        </p:nvPicPr>
        <p:blipFill>
          <a:blip r:embed="rId5">
            <a:alphaModFix/>
          </a:blip>
          <a:stretch>
            <a:fillRect/>
          </a:stretch>
        </p:blipFill>
        <p:spPr>
          <a:xfrm>
            <a:off x="7293250" y="1398053"/>
            <a:ext cx="4016500" cy="1076700"/>
          </a:xfrm>
          <a:prstGeom prst="rect">
            <a:avLst/>
          </a:prstGeom>
          <a:noFill/>
          <a:ln>
            <a:noFill/>
          </a:ln>
        </p:spPr>
      </p:pic>
      <p:pic>
        <p:nvPicPr>
          <p:cNvPr id="144" name="Google Shape;144;g3ddac08760b_0_595"/>
          <p:cNvPicPr preferRelativeResize="0"/>
          <p:nvPr/>
        </p:nvPicPr>
        <p:blipFill>
          <a:blip r:embed="rId6">
            <a:alphaModFix/>
          </a:blip>
          <a:stretch>
            <a:fillRect/>
          </a:stretch>
        </p:blipFill>
        <p:spPr>
          <a:xfrm>
            <a:off x="1726966" y="3566550"/>
            <a:ext cx="4088625" cy="2410150"/>
          </a:xfrm>
          <a:prstGeom prst="rect">
            <a:avLst/>
          </a:prstGeom>
          <a:noFill/>
          <a:ln>
            <a:noFill/>
          </a:ln>
        </p:spPr>
      </p:pic>
      <p:pic>
        <p:nvPicPr>
          <p:cNvPr id="145" name="Google Shape;145;g3ddac08760b_0_595"/>
          <p:cNvPicPr preferRelativeResize="0"/>
          <p:nvPr/>
        </p:nvPicPr>
        <p:blipFill>
          <a:blip r:embed="rId7">
            <a:alphaModFix/>
          </a:blip>
          <a:stretch>
            <a:fillRect/>
          </a:stretch>
        </p:blipFill>
        <p:spPr>
          <a:xfrm>
            <a:off x="7734800" y="3605075"/>
            <a:ext cx="3133388" cy="2333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g3ddac08760b_0_5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51" name="Google Shape;151;g3ddac08760b_0_5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 </a:t>
            </a:r>
            <a:r>
              <a:rPr b="1" lang="en-GB" sz="4000">
                <a:solidFill>
                  <a:schemeClr val="dk1"/>
                </a:solidFill>
                <a:latin typeface="Montserrat"/>
                <a:ea typeface="Montserrat"/>
                <a:cs typeface="Montserrat"/>
                <a:sym typeface="Montserrat"/>
              </a:rPr>
              <a:t>Replication - Lifetime</a:t>
            </a:r>
            <a:endParaRPr b="1" i="0" sz="1100" u="none" cap="none" strike="noStrike">
              <a:solidFill>
                <a:srgbClr val="FF0000"/>
              </a:solidFill>
              <a:latin typeface="Montserrat"/>
              <a:ea typeface="Montserrat"/>
              <a:cs typeface="Montserrat"/>
              <a:sym typeface="Montserrat"/>
            </a:endParaRPr>
          </a:p>
        </p:txBody>
      </p:sp>
      <p:sp>
        <p:nvSpPr>
          <p:cNvPr id="152" name="Google Shape;152;g3ddac08760b_0_5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53" name="Google Shape;153;g3ddac08760b_0_56"/>
          <p:cNvSpPr/>
          <p:nvPr/>
        </p:nvSpPr>
        <p:spPr>
          <a:xfrm>
            <a:off x="9379474" y="131516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4" name="Google Shape;154;g3ddac08760b_0_56"/>
          <p:cNvSpPr/>
          <p:nvPr/>
        </p:nvSpPr>
        <p:spPr>
          <a:xfrm>
            <a:off x="6653901" y="1305464"/>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5" name="Google Shape;155;g3ddac08760b_0_56"/>
          <p:cNvSpPr/>
          <p:nvPr/>
        </p:nvSpPr>
        <p:spPr>
          <a:xfrm>
            <a:off x="3752277" y="130543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56" name="Google Shape;156;g3ddac08760b_0_56"/>
          <p:cNvPicPr preferRelativeResize="0"/>
          <p:nvPr/>
        </p:nvPicPr>
        <p:blipFill rotWithShape="1">
          <a:blip r:embed="rId4">
            <a:alphaModFix/>
          </a:blip>
          <a:srcRect b="0" l="0" r="0" t="0"/>
          <a:stretch/>
        </p:blipFill>
        <p:spPr>
          <a:xfrm>
            <a:off x="1989205" y="1673496"/>
            <a:ext cx="890108" cy="890103"/>
          </a:xfrm>
          <a:prstGeom prst="rect">
            <a:avLst/>
          </a:prstGeom>
          <a:noFill/>
          <a:ln>
            <a:noFill/>
          </a:ln>
        </p:spPr>
      </p:pic>
      <p:pic>
        <p:nvPicPr>
          <p:cNvPr id="157" name="Google Shape;157;g3ddac08760b_0_56"/>
          <p:cNvPicPr preferRelativeResize="0"/>
          <p:nvPr/>
        </p:nvPicPr>
        <p:blipFill rotWithShape="1">
          <a:blip r:embed="rId5">
            <a:alphaModFix/>
          </a:blip>
          <a:srcRect b="15027" l="0" r="0" t="21754"/>
          <a:stretch/>
        </p:blipFill>
        <p:spPr>
          <a:xfrm>
            <a:off x="1865415" y="4449341"/>
            <a:ext cx="1137654" cy="719196"/>
          </a:xfrm>
          <a:prstGeom prst="rect">
            <a:avLst/>
          </a:prstGeom>
          <a:noFill/>
          <a:ln>
            <a:noFill/>
          </a:ln>
        </p:spPr>
      </p:pic>
      <p:cxnSp>
        <p:nvCxnSpPr>
          <p:cNvPr id="158" name="Google Shape;158;g3ddac08760b_0_56"/>
          <p:cNvCxnSpPr>
            <a:stCxn id="156" idx="2"/>
            <a:endCxn id="157" idx="0"/>
          </p:cNvCxnSpPr>
          <p:nvPr/>
        </p:nvCxnSpPr>
        <p:spPr>
          <a:xfrm>
            <a:off x="2434259" y="2563599"/>
            <a:ext cx="0" cy="1885800"/>
          </a:xfrm>
          <a:prstGeom prst="straightConnector1">
            <a:avLst/>
          </a:prstGeom>
          <a:noFill/>
          <a:ln cap="flat" cmpd="sng" w="38100">
            <a:solidFill>
              <a:schemeClr val="dk2"/>
            </a:solidFill>
            <a:prstDash val="solid"/>
            <a:round/>
            <a:headEnd len="sm" w="sm" type="none"/>
            <a:tailEnd len="sm" w="sm" type="none"/>
          </a:ln>
        </p:spPr>
      </p:cxnSp>
      <p:sp>
        <p:nvSpPr>
          <p:cNvPr id="159" name="Google Shape;159;g3ddac08760b_0_56"/>
          <p:cNvSpPr txBox="1"/>
          <p:nvPr/>
        </p:nvSpPr>
        <p:spPr>
          <a:xfrm>
            <a:off x="1865210" y="1268329"/>
            <a:ext cx="1137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Montserrat"/>
                <a:ea typeface="Montserrat"/>
                <a:cs typeface="Montserrat"/>
                <a:sym typeface="Montserrat"/>
              </a:rPr>
              <a:t>Server</a:t>
            </a:r>
            <a:endParaRPr b="0" i="0" sz="1600" u="none" cap="none" strike="noStrike">
              <a:solidFill>
                <a:srgbClr val="FFFFFF"/>
              </a:solidFill>
              <a:latin typeface="Montserrat"/>
              <a:ea typeface="Montserrat"/>
              <a:cs typeface="Montserrat"/>
              <a:sym typeface="Montserrat"/>
            </a:endParaRPr>
          </a:p>
        </p:txBody>
      </p:sp>
      <p:sp>
        <p:nvSpPr>
          <p:cNvPr id="160" name="Google Shape;160;g3ddac08760b_0_56"/>
          <p:cNvSpPr txBox="1"/>
          <p:nvPr/>
        </p:nvSpPr>
        <p:spPr>
          <a:xfrm>
            <a:off x="1930779" y="516859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0" i="0" lang="en-GB" sz="1600" u="none" cap="none" strike="noStrike">
                <a:solidFill>
                  <a:srgbClr val="FFFFFF"/>
                </a:solidFill>
                <a:latin typeface="Montserrat"/>
                <a:ea typeface="Montserrat"/>
                <a:cs typeface="Montserrat"/>
                <a:sym typeface="Montserrat"/>
              </a:rPr>
              <a:t>Client</a:t>
            </a:r>
            <a:endParaRPr b="0" i="0" sz="1600" u="none" cap="none" strike="noStrike">
              <a:solidFill>
                <a:srgbClr val="FFFFFF"/>
              </a:solidFill>
              <a:latin typeface="Montserrat"/>
              <a:ea typeface="Montserrat"/>
              <a:cs typeface="Montserrat"/>
              <a:sym typeface="Montserrat"/>
            </a:endParaRPr>
          </a:p>
        </p:txBody>
      </p:sp>
      <p:pic>
        <p:nvPicPr>
          <p:cNvPr id="161" name="Google Shape;161;g3ddac08760b_0_56"/>
          <p:cNvPicPr preferRelativeResize="0"/>
          <p:nvPr/>
        </p:nvPicPr>
        <p:blipFill rotWithShape="1">
          <a:blip r:embed="rId4">
            <a:alphaModFix/>
          </a:blip>
          <a:srcRect b="0" l="0" r="0" t="0"/>
          <a:stretch/>
        </p:blipFill>
        <p:spPr>
          <a:xfrm>
            <a:off x="3924270" y="1729942"/>
            <a:ext cx="890108" cy="890103"/>
          </a:xfrm>
          <a:prstGeom prst="rect">
            <a:avLst/>
          </a:prstGeom>
          <a:noFill/>
          <a:ln>
            <a:noFill/>
          </a:ln>
        </p:spPr>
      </p:pic>
      <p:pic>
        <p:nvPicPr>
          <p:cNvPr id="162" name="Google Shape;162;g3ddac08760b_0_56"/>
          <p:cNvPicPr preferRelativeResize="0"/>
          <p:nvPr/>
        </p:nvPicPr>
        <p:blipFill rotWithShape="1">
          <a:blip r:embed="rId5">
            <a:alphaModFix/>
          </a:blip>
          <a:srcRect b="15027" l="0" r="0" t="21754"/>
          <a:stretch/>
        </p:blipFill>
        <p:spPr>
          <a:xfrm>
            <a:off x="3800480" y="4505788"/>
            <a:ext cx="1137654" cy="719196"/>
          </a:xfrm>
          <a:prstGeom prst="rect">
            <a:avLst/>
          </a:prstGeom>
          <a:noFill/>
          <a:ln>
            <a:noFill/>
          </a:ln>
        </p:spPr>
      </p:pic>
      <p:cxnSp>
        <p:nvCxnSpPr>
          <p:cNvPr id="163" name="Google Shape;163;g3ddac08760b_0_56"/>
          <p:cNvCxnSpPr>
            <a:stCxn id="161" idx="2"/>
            <a:endCxn id="162" idx="0"/>
          </p:cNvCxnSpPr>
          <p:nvPr/>
        </p:nvCxnSpPr>
        <p:spPr>
          <a:xfrm>
            <a:off x="4369324" y="2620046"/>
            <a:ext cx="0" cy="1885800"/>
          </a:xfrm>
          <a:prstGeom prst="straightConnector1">
            <a:avLst/>
          </a:prstGeom>
          <a:noFill/>
          <a:ln cap="flat" cmpd="sng" w="38100">
            <a:solidFill>
              <a:schemeClr val="dk2"/>
            </a:solidFill>
            <a:prstDash val="solid"/>
            <a:round/>
            <a:headEnd len="sm" w="sm" type="none"/>
            <a:tailEnd len="sm" w="sm" type="none"/>
          </a:ln>
        </p:spPr>
      </p:cxnSp>
      <p:sp>
        <p:nvSpPr>
          <p:cNvPr id="164" name="Google Shape;164;g3ddac08760b_0_56"/>
          <p:cNvSpPr txBox="1"/>
          <p:nvPr/>
        </p:nvSpPr>
        <p:spPr>
          <a:xfrm>
            <a:off x="3865845" y="1324763"/>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165" name="Google Shape;165;g3ddac08760b_0_56"/>
          <p:cNvSpPr txBox="1"/>
          <p:nvPr/>
        </p:nvSpPr>
        <p:spPr>
          <a:xfrm>
            <a:off x="3838846" y="5225029"/>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166" name="Google Shape;166;g3ddac08760b_0_56"/>
          <p:cNvSpPr/>
          <p:nvPr/>
        </p:nvSpPr>
        <p:spPr>
          <a:xfrm>
            <a:off x="5148806" y="182604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7" name="Google Shape;167;g3ddac08760b_0_56"/>
          <p:cNvSpPr txBox="1"/>
          <p:nvPr/>
        </p:nvSpPr>
        <p:spPr>
          <a:xfrm>
            <a:off x="4750138" y="2450511"/>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168" name="Google Shape;168;g3ddac08760b_0_56"/>
          <p:cNvSpPr txBox="1"/>
          <p:nvPr/>
        </p:nvSpPr>
        <p:spPr>
          <a:xfrm>
            <a:off x="4750138" y="1471115"/>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0000"/>
                </a:solidFill>
                <a:latin typeface="Montserrat"/>
                <a:ea typeface="Montserrat"/>
                <a:cs typeface="Montserrat"/>
                <a:sym typeface="Montserrat"/>
              </a:rPr>
              <a:t>Actor Spawn</a:t>
            </a:r>
            <a:endParaRPr b="1" i="0" sz="1200" u="none" cap="none" strike="noStrike">
              <a:solidFill>
                <a:srgbClr val="FF0000"/>
              </a:solidFill>
              <a:latin typeface="Montserrat"/>
              <a:ea typeface="Montserrat"/>
              <a:cs typeface="Montserrat"/>
              <a:sym typeface="Montserrat"/>
            </a:endParaRPr>
          </a:p>
        </p:txBody>
      </p:sp>
      <p:pic>
        <p:nvPicPr>
          <p:cNvPr id="169" name="Google Shape;169;g3ddac08760b_0_56"/>
          <p:cNvPicPr preferRelativeResize="0"/>
          <p:nvPr/>
        </p:nvPicPr>
        <p:blipFill rotWithShape="1">
          <a:blip r:embed="rId4">
            <a:alphaModFix/>
          </a:blip>
          <a:srcRect b="0" l="0" r="0" t="0"/>
          <a:stretch/>
        </p:blipFill>
        <p:spPr>
          <a:xfrm>
            <a:off x="6825894" y="1729973"/>
            <a:ext cx="890108" cy="890103"/>
          </a:xfrm>
          <a:prstGeom prst="rect">
            <a:avLst/>
          </a:prstGeom>
          <a:noFill/>
          <a:ln>
            <a:noFill/>
          </a:ln>
        </p:spPr>
      </p:pic>
      <p:pic>
        <p:nvPicPr>
          <p:cNvPr id="170" name="Google Shape;170;g3ddac08760b_0_56"/>
          <p:cNvPicPr preferRelativeResize="0"/>
          <p:nvPr/>
        </p:nvPicPr>
        <p:blipFill rotWithShape="1">
          <a:blip r:embed="rId5">
            <a:alphaModFix/>
          </a:blip>
          <a:srcRect b="15027" l="0" r="0" t="21754"/>
          <a:stretch/>
        </p:blipFill>
        <p:spPr>
          <a:xfrm>
            <a:off x="6702105" y="4505817"/>
            <a:ext cx="1137654" cy="719196"/>
          </a:xfrm>
          <a:prstGeom prst="rect">
            <a:avLst/>
          </a:prstGeom>
          <a:noFill/>
          <a:ln>
            <a:noFill/>
          </a:ln>
        </p:spPr>
      </p:pic>
      <p:cxnSp>
        <p:nvCxnSpPr>
          <p:cNvPr id="171" name="Google Shape;171;g3ddac08760b_0_56"/>
          <p:cNvCxnSpPr>
            <a:stCxn id="169" idx="2"/>
            <a:endCxn id="170" idx="0"/>
          </p:cNvCxnSpPr>
          <p:nvPr/>
        </p:nvCxnSpPr>
        <p:spPr>
          <a:xfrm>
            <a:off x="7270948" y="2620076"/>
            <a:ext cx="0" cy="1885800"/>
          </a:xfrm>
          <a:prstGeom prst="straightConnector1">
            <a:avLst/>
          </a:prstGeom>
          <a:noFill/>
          <a:ln cap="flat" cmpd="sng" w="38100">
            <a:solidFill>
              <a:schemeClr val="dk2"/>
            </a:solidFill>
            <a:prstDash val="solid"/>
            <a:round/>
            <a:headEnd len="sm" w="sm" type="none"/>
            <a:tailEnd len="sm" w="sm" type="none"/>
          </a:ln>
        </p:spPr>
      </p:cxnSp>
      <p:sp>
        <p:nvSpPr>
          <p:cNvPr id="172" name="Google Shape;172;g3ddac08760b_0_56"/>
          <p:cNvSpPr txBox="1"/>
          <p:nvPr/>
        </p:nvSpPr>
        <p:spPr>
          <a:xfrm>
            <a:off x="6740480" y="1324796"/>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173" name="Google Shape;173;g3ddac08760b_0_56"/>
          <p:cNvSpPr txBox="1"/>
          <p:nvPr/>
        </p:nvSpPr>
        <p:spPr>
          <a:xfrm>
            <a:off x="6686567" y="5225063"/>
            <a:ext cx="1168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174" name="Google Shape;174;g3ddac08760b_0_56"/>
          <p:cNvSpPr txBox="1"/>
          <p:nvPr/>
        </p:nvSpPr>
        <p:spPr>
          <a:xfrm>
            <a:off x="7651762" y="245054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175" name="Google Shape;175;g3ddac08760b_0_56"/>
          <p:cNvSpPr/>
          <p:nvPr/>
        </p:nvSpPr>
        <p:spPr>
          <a:xfrm>
            <a:off x="7997227" y="182610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76" name="Google Shape;176;g3ddac08760b_0_56"/>
          <p:cNvCxnSpPr/>
          <p:nvPr/>
        </p:nvCxnSpPr>
        <p:spPr>
          <a:xfrm>
            <a:off x="7486319" y="2748203"/>
            <a:ext cx="0" cy="1701300"/>
          </a:xfrm>
          <a:prstGeom prst="straightConnector1">
            <a:avLst/>
          </a:prstGeom>
          <a:noFill/>
          <a:ln cap="flat" cmpd="sng" w="25400">
            <a:solidFill>
              <a:srgbClr val="FF0000"/>
            </a:solidFill>
            <a:prstDash val="solid"/>
            <a:round/>
            <a:headEnd len="sm" w="sm" type="none"/>
            <a:tailEnd len="med" w="med" type="triangle"/>
          </a:ln>
        </p:spPr>
      </p:cxnSp>
      <p:sp>
        <p:nvSpPr>
          <p:cNvPr id="177" name="Google Shape;177;g3ddac08760b_0_56"/>
          <p:cNvSpPr txBox="1"/>
          <p:nvPr/>
        </p:nvSpPr>
        <p:spPr>
          <a:xfrm>
            <a:off x="7570750" y="3037025"/>
            <a:ext cx="1359600" cy="12306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100" u="none" cap="none" strike="noStrike">
                <a:solidFill>
                  <a:schemeClr val="dk1"/>
                </a:solidFill>
                <a:latin typeface="Montserrat"/>
                <a:ea typeface="Montserrat"/>
                <a:cs typeface="Montserrat"/>
                <a:sym typeface="Montserrat"/>
              </a:rPr>
              <a:t>L’informazione viene inviata al Client. </a:t>
            </a:r>
            <a:br>
              <a:rPr b="0" i="0" lang="en-GB" sz="1100" u="none" cap="none" strike="noStrike">
                <a:solidFill>
                  <a:schemeClr val="dk1"/>
                </a:solidFill>
                <a:latin typeface="Montserrat"/>
                <a:ea typeface="Montserrat"/>
                <a:cs typeface="Montserrat"/>
                <a:sym typeface="Montserrat"/>
              </a:rPr>
            </a:br>
            <a:r>
              <a:rPr b="0" i="0" lang="en-GB" sz="1100" u="none" cap="none" strike="noStrike">
                <a:solidFill>
                  <a:schemeClr val="dk1"/>
                </a:solidFill>
                <a:latin typeface="Montserrat"/>
                <a:ea typeface="Montserrat"/>
                <a:cs typeface="Montserrat"/>
                <a:sym typeface="Montserrat"/>
              </a:rPr>
              <a:t>Uno UActorChannel viene creato.</a:t>
            </a:r>
            <a:endParaRPr b="0" i="0" sz="1100" u="none" cap="none" strike="noStrike">
              <a:solidFill>
                <a:schemeClr val="dk1"/>
              </a:solidFill>
              <a:latin typeface="Montserrat"/>
              <a:ea typeface="Montserrat"/>
              <a:cs typeface="Montserrat"/>
              <a:sym typeface="Montserrat"/>
            </a:endParaRPr>
          </a:p>
        </p:txBody>
      </p:sp>
      <p:pic>
        <p:nvPicPr>
          <p:cNvPr id="178" name="Google Shape;178;g3ddac08760b_0_56"/>
          <p:cNvPicPr preferRelativeResize="0"/>
          <p:nvPr/>
        </p:nvPicPr>
        <p:blipFill rotWithShape="1">
          <a:blip r:embed="rId4">
            <a:alphaModFix/>
          </a:blip>
          <a:srcRect b="0" l="0" r="0" t="0"/>
          <a:stretch/>
        </p:blipFill>
        <p:spPr>
          <a:xfrm>
            <a:off x="9551467" y="1739673"/>
            <a:ext cx="890108" cy="890103"/>
          </a:xfrm>
          <a:prstGeom prst="rect">
            <a:avLst/>
          </a:prstGeom>
          <a:noFill/>
          <a:ln>
            <a:noFill/>
          </a:ln>
        </p:spPr>
      </p:pic>
      <p:pic>
        <p:nvPicPr>
          <p:cNvPr id="179" name="Google Shape;179;g3ddac08760b_0_56"/>
          <p:cNvPicPr preferRelativeResize="0"/>
          <p:nvPr/>
        </p:nvPicPr>
        <p:blipFill rotWithShape="1">
          <a:blip r:embed="rId5">
            <a:alphaModFix/>
          </a:blip>
          <a:srcRect b="15027" l="0" r="0" t="21754"/>
          <a:stretch/>
        </p:blipFill>
        <p:spPr>
          <a:xfrm>
            <a:off x="9427678" y="4515517"/>
            <a:ext cx="1137654" cy="719196"/>
          </a:xfrm>
          <a:prstGeom prst="rect">
            <a:avLst/>
          </a:prstGeom>
          <a:noFill/>
          <a:ln>
            <a:noFill/>
          </a:ln>
        </p:spPr>
      </p:pic>
      <p:cxnSp>
        <p:nvCxnSpPr>
          <p:cNvPr id="180" name="Google Shape;180;g3ddac08760b_0_56"/>
          <p:cNvCxnSpPr>
            <a:stCxn id="178" idx="2"/>
            <a:endCxn id="179" idx="0"/>
          </p:cNvCxnSpPr>
          <p:nvPr/>
        </p:nvCxnSpPr>
        <p:spPr>
          <a:xfrm>
            <a:off x="9996521" y="2629776"/>
            <a:ext cx="0" cy="1885800"/>
          </a:xfrm>
          <a:prstGeom prst="straightConnector1">
            <a:avLst/>
          </a:prstGeom>
          <a:noFill/>
          <a:ln cap="flat" cmpd="sng" w="38100">
            <a:solidFill>
              <a:schemeClr val="dk2"/>
            </a:solidFill>
            <a:prstDash val="solid"/>
            <a:round/>
            <a:headEnd len="sm" w="sm" type="none"/>
            <a:tailEnd len="sm" w="sm" type="none"/>
          </a:ln>
        </p:spPr>
      </p:cxnSp>
      <p:sp>
        <p:nvSpPr>
          <p:cNvPr id="181" name="Google Shape;181;g3ddac08760b_0_56"/>
          <p:cNvSpPr txBox="1"/>
          <p:nvPr/>
        </p:nvSpPr>
        <p:spPr>
          <a:xfrm>
            <a:off x="9493013" y="133449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182" name="Google Shape;182;g3ddac08760b_0_56"/>
          <p:cNvSpPr txBox="1"/>
          <p:nvPr/>
        </p:nvSpPr>
        <p:spPr>
          <a:xfrm>
            <a:off x="9466047" y="5234763"/>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183" name="Google Shape;183;g3ddac08760b_0_56"/>
          <p:cNvSpPr txBox="1"/>
          <p:nvPr/>
        </p:nvSpPr>
        <p:spPr>
          <a:xfrm>
            <a:off x="10377335" y="246024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184" name="Google Shape;184;g3ddac08760b_0_56"/>
          <p:cNvSpPr/>
          <p:nvPr/>
        </p:nvSpPr>
        <p:spPr>
          <a:xfrm>
            <a:off x="10722801" y="183580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5" name="Google Shape;185;g3ddac08760b_0_56"/>
          <p:cNvSpPr txBox="1"/>
          <p:nvPr/>
        </p:nvSpPr>
        <p:spPr>
          <a:xfrm>
            <a:off x="10377335" y="516859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186" name="Google Shape;186;g3ddac08760b_0_56"/>
          <p:cNvSpPr/>
          <p:nvPr/>
        </p:nvSpPr>
        <p:spPr>
          <a:xfrm>
            <a:off x="10722801" y="4544159"/>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7" name="Google Shape;187;g3ddac08760b_0_56"/>
          <p:cNvSpPr/>
          <p:nvPr/>
        </p:nvSpPr>
        <p:spPr>
          <a:xfrm>
            <a:off x="1764603" y="1305495"/>
            <a:ext cx="13596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88" name="Google Shape;188;g3ddac08760b_0_56"/>
          <p:cNvSpPr txBox="1"/>
          <p:nvPr/>
        </p:nvSpPr>
        <p:spPr>
          <a:xfrm>
            <a:off x="1854572" y="1334492"/>
            <a:ext cx="1137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189" name="Google Shape;189;g3ddac08760b_0_56"/>
          <p:cNvSpPr txBox="1"/>
          <p:nvPr/>
        </p:nvSpPr>
        <p:spPr>
          <a:xfrm>
            <a:off x="1920117" y="5168608"/>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190" name="Google Shape;190;g3ddac08760b_0_56"/>
          <p:cNvSpPr txBox="1"/>
          <p:nvPr/>
        </p:nvSpPr>
        <p:spPr>
          <a:xfrm>
            <a:off x="1398500" y="5842950"/>
            <a:ext cx="10689000" cy="70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GB" sz="1600">
                <a:solidFill>
                  <a:schemeClr val="dk1"/>
                </a:solidFill>
                <a:latin typeface="Montserrat"/>
                <a:ea typeface="Montserrat"/>
                <a:cs typeface="Montserrat"/>
                <a:sym typeface="Montserrat"/>
              </a:rPr>
              <a:t>Un Actor che contrassegnato come Replicato,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Spawnato automaticamente nelle sessioni dei Client nel momento in cui viene Spawnato sul Server.</a:t>
            </a:r>
            <a:endParaRPr sz="16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g3ddac08760b_0_35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196" name="Google Shape;196;g3ddac08760b_0_35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 </a:t>
            </a:r>
            <a:r>
              <a:rPr b="1" lang="en-GB" sz="4000">
                <a:solidFill>
                  <a:schemeClr val="dk1"/>
                </a:solidFill>
                <a:latin typeface="Montserrat"/>
                <a:ea typeface="Montserrat"/>
                <a:cs typeface="Montserrat"/>
                <a:sym typeface="Montserrat"/>
              </a:rPr>
              <a:t>Replication - Lifetime</a:t>
            </a:r>
            <a:endParaRPr b="1" i="0" sz="1100" u="none" cap="none" strike="noStrike">
              <a:solidFill>
                <a:srgbClr val="FF0000"/>
              </a:solidFill>
              <a:latin typeface="Montserrat"/>
              <a:ea typeface="Montserrat"/>
              <a:cs typeface="Montserrat"/>
              <a:sym typeface="Montserrat"/>
            </a:endParaRPr>
          </a:p>
        </p:txBody>
      </p:sp>
      <p:sp>
        <p:nvSpPr>
          <p:cNvPr id="197" name="Google Shape;197;g3ddac08760b_0_35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98" name="Google Shape;198;g3ddac08760b_0_350"/>
          <p:cNvSpPr/>
          <p:nvPr/>
        </p:nvSpPr>
        <p:spPr>
          <a:xfrm>
            <a:off x="9859136" y="129661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9" name="Google Shape;199;g3ddac08760b_0_350"/>
          <p:cNvSpPr/>
          <p:nvPr/>
        </p:nvSpPr>
        <p:spPr>
          <a:xfrm>
            <a:off x="7133563" y="1286914"/>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0" name="Google Shape;200;g3ddac08760b_0_350"/>
          <p:cNvSpPr/>
          <p:nvPr/>
        </p:nvSpPr>
        <p:spPr>
          <a:xfrm>
            <a:off x="4231939" y="128688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201" name="Google Shape;201;g3ddac08760b_0_350"/>
          <p:cNvPicPr preferRelativeResize="0"/>
          <p:nvPr/>
        </p:nvPicPr>
        <p:blipFill rotWithShape="1">
          <a:blip r:embed="rId4">
            <a:alphaModFix/>
          </a:blip>
          <a:srcRect b="0" l="0" r="0" t="0"/>
          <a:stretch/>
        </p:blipFill>
        <p:spPr>
          <a:xfrm>
            <a:off x="4403932" y="1711392"/>
            <a:ext cx="890108" cy="890103"/>
          </a:xfrm>
          <a:prstGeom prst="rect">
            <a:avLst/>
          </a:prstGeom>
          <a:noFill/>
          <a:ln>
            <a:noFill/>
          </a:ln>
        </p:spPr>
      </p:pic>
      <p:pic>
        <p:nvPicPr>
          <p:cNvPr id="202" name="Google Shape;202;g3ddac08760b_0_350"/>
          <p:cNvPicPr preferRelativeResize="0"/>
          <p:nvPr/>
        </p:nvPicPr>
        <p:blipFill rotWithShape="1">
          <a:blip r:embed="rId5">
            <a:alphaModFix/>
          </a:blip>
          <a:srcRect b="15027" l="0" r="0" t="21754"/>
          <a:stretch/>
        </p:blipFill>
        <p:spPr>
          <a:xfrm>
            <a:off x="4280143" y="4487238"/>
            <a:ext cx="1137654" cy="719196"/>
          </a:xfrm>
          <a:prstGeom prst="rect">
            <a:avLst/>
          </a:prstGeom>
          <a:noFill/>
          <a:ln>
            <a:noFill/>
          </a:ln>
        </p:spPr>
      </p:pic>
      <p:cxnSp>
        <p:nvCxnSpPr>
          <p:cNvPr id="203" name="Google Shape;203;g3ddac08760b_0_350"/>
          <p:cNvCxnSpPr>
            <a:stCxn id="201" idx="2"/>
            <a:endCxn id="202" idx="0"/>
          </p:cNvCxnSpPr>
          <p:nvPr/>
        </p:nvCxnSpPr>
        <p:spPr>
          <a:xfrm>
            <a:off x="4848986" y="2601496"/>
            <a:ext cx="0" cy="1885800"/>
          </a:xfrm>
          <a:prstGeom prst="straightConnector1">
            <a:avLst/>
          </a:prstGeom>
          <a:noFill/>
          <a:ln cap="flat" cmpd="sng" w="38100">
            <a:solidFill>
              <a:schemeClr val="dk2"/>
            </a:solidFill>
            <a:prstDash val="solid"/>
            <a:round/>
            <a:headEnd len="sm" w="sm" type="none"/>
            <a:tailEnd len="sm" w="sm" type="none"/>
          </a:ln>
        </p:spPr>
      </p:cxnSp>
      <p:sp>
        <p:nvSpPr>
          <p:cNvPr id="204" name="Google Shape;204;g3ddac08760b_0_350"/>
          <p:cNvSpPr txBox="1"/>
          <p:nvPr/>
        </p:nvSpPr>
        <p:spPr>
          <a:xfrm>
            <a:off x="4345507" y="1306213"/>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205" name="Google Shape;205;g3ddac08760b_0_350"/>
          <p:cNvSpPr txBox="1"/>
          <p:nvPr/>
        </p:nvSpPr>
        <p:spPr>
          <a:xfrm>
            <a:off x="4318508" y="5206479"/>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206" name="Google Shape;206;g3ddac08760b_0_350"/>
          <p:cNvSpPr/>
          <p:nvPr/>
        </p:nvSpPr>
        <p:spPr>
          <a:xfrm>
            <a:off x="5628468" y="180749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7" name="Google Shape;207;g3ddac08760b_0_350"/>
          <p:cNvSpPr txBox="1"/>
          <p:nvPr/>
        </p:nvSpPr>
        <p:spPr>
          <a:xfrm>
            <a:off x="5229800" y="2431961"/>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08" name="Google Shape;208;g3ddac08760b_0_350"/>
          <p:cNvSpPr txBox="1"/>
          <p:nvPr/>
        </p:nvSpPr>
        <p:spPr>
          <a:xfrm>
            <a:off x="5164400" y="1412850"/>
            <a:ext cx="14067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1" lang="en-GB" sz="1200">
                <a:solidFill>
                  <a:srgbClr val="FF0000"/>
                </a:solidFill>
                <a:latin typeface="Montserrat"/>
                <a:ea typeface="Montserrat"/>
                <a:cs typeface="Montserrat"/>
                <a:sym typeface="Montserrat"/>
              </a:rPr>
              <a:t>Destroy </a:t>
            </a:r>
            <a:r>
              <a:rPr b="1" i="0" lang="en-GB" sz="1200" u="none" cap="none" strike="noStrike">
                <a:solidFill>
                  <a:srgbClr val="FF0000"/>
                </a:solidFill>
                <a:latin typeface="Montserrat"/>
                <a:ea typeface="Montserrat"/>
                <a:cs typeface="Montserrat"/>
                <a:sym typeface="Montserrat"/>
              </a:rPr>
              <a:t>Actor</a:t>
            </a:r>
            <a:endParaRPr b="1" i="0" sz="1200" u="none" cap="none" strike="noStrike">
              <a:solidFill>
                <a:srgbClr val="FF0000"/>
              </a:solidFill>
              <a:latin typeface="Montserrat"/>
              <a:ea typeface="Montserrat"/>
              <a:cs typeface="Montserrat"/>
              <a:sym typeface="Montserrat"/>
            </a:endParaRPr>
          </a:p>
        </p:txBody>
      </p:sp>
      <p:pic>
        <p:nvPicPr>
          <p:cNvPr id="209" name="Google Shape;209;g3ddac08760b_0_350"/>
          <p:cNvPicPr preferRelativeResize="0"/>
          <p:nvPr/>
        </p:nvPicPr>
        <p:blipFill rotWithShape="1">
          <a:blip r:embed="rId4">
            <a:alphaModFix/>
          </a:blip>
          <a:srcRect b="0" l="0" r="0" t="0"/>
          <a:stretch/>
        </p:blipFill>
        <p:spPr>
          <a:xfrm>
            <a:off x="7305556" y="1711423"/>
            <a:ext cx="890108" cy="890103"/>
          </a:xfrm>
          <a:prstGeom prst="rect">
            <a:avLst/>
          </a:prstGeom>
          <a:noFill/>
          <a:ln>
            <a:noFill/>
          </a:ln>
        </p:spPr>
      </p:pic>
      <p:pic>
        <p:nvPicPr>
          <p:cNvPr id="210" name="Google Shape;210;g3ddac08760b_0_350"/>
          <p:cNvPicPr preferRelativeResize="0"/>
          <p:nvPr/>
        </p:nvPicPr>
        <p:blipFill rotWithShape="1">
          <a:blip r:embed="rId5">
            <a:alphaModFix/>
          </a:blip>
          <a:srcRect b="15027" l="0" r="0" t="21754"/>
          <a:stretch/>
        </p:blipFill>
        <p:spPr>
          <a:xfrm>
            <a:off x="7181767" y="4487267"/>
            <a:ext cx="1137654" cy="719196"/>
          </a:xfrm>
          <a:prstGeom prst="rect">
            <a:avLst/>
          </a:prstGeom>
          <a:noFill/>
          <a:ln>
            <a:noFill/>
          </a:ln>
        </p:spPr>
      </p:pic>
      <p:cxnSp>
        <p:nvCxnSpPr>
          <p:cNvPr id="211" name="Google Shape;211;g3ddac08760b_0_350"/>
          <p:cNvCxnSpPr>
            <a:stCxn id="209" idx="2"/>
            <a:endCxn id="210" idx="0"/>
          </p:cNvCxnSpPr>
          <p:nvPr/>
        </p:nvCxnSpPr>
        <p:spPr>
          <a:xfrm>
            <a:off x="7750610" y="2601526"/>
            <a:ext cx="0" cy="1885800"/>
          </a:xfrm>
          <a:prstGeom prst="straightConnector1">
            <a:avLst/>
          </a:prstGeom>
          <a:noFill/>
          <a:ln cap="flat" cmpd="sng" w="38100">
            <a:solidFill>
              <a:schemeClr val="dk2"/>
            </a:solidFill>
            <a:prstDash val="solid"/>
            <a:round/>
            <a:headEnd len="sm" w="sm" type="none"/>
            <a:tailEnd len="sm" w="sm" type="none"/>
          </a:ln>
        </p:spPr>
      </p:cxnSp>
      <p:sp>
        <p:nvSpPr>
          <p:cNvPr id="212" name="Google Shape;212;g3ddac08760b_0_350"/>
          <p:cNvSpPr txBox="1"/>
          <p:nvPr/>
        </p:nvSpPr>
        <p:spPr>
          <a:xfrm>
            <a:off x="7220143" y="1306246"/>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213" name="Google Shape;213;g3ddac08760b_0_350"/>
          <p:cNvSpPr txBox="1"/>
          <p:nvPr/>
        </p:nvSpPr>
        <p:spPr>
          <a:xfrm>
            <a:off x="7166230" y="5206513"/>
            <a:ext cx="1168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214" name="Google Shape;214;g3ddac08760b_0_350"/>
          <p:cNvSpPr txBox="1"/>
          <p:nvPr/>
        </p:nvSpPr>
        <p:spPr>
          <a:xfrm>
            <a:off x="8131424" y="243199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15" name="Google Shape;215;g3ddac08760b_0_350"/>
          <p:cNvSpPr/>
          <p:nvPr/>
        </p:nvSpPr>
        <p:spPr>
          <a:xfrm>
            <a:off x="8476890" y="180755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216" name="Google Shape;216;g3ddac08760b_0_350"/>
          <p:cNvCxnSpPr/>
          <p:nvPr/>
        </p:nvCxnSpPr>
        <p:spPr>
          <a:xfrm>
            <a:off x="7965982" y="2729653"/>
            <a:ext cx="0" cy="1701300"/>
          </a:xfrm>
          <a:prstGeom prst="straightConnector1">
            <a:avLst/>
          </a:prstGeom>
          <a:noFill/>
          <a:ln cap="flat" cmpd="sng" w="25400">
            <a:solidFill>
              <a:srgbClr val="FF0000"/>
            </a:solidFill>
            <a:prstDash val="solid"/>
            <a:round/>
            <a:headEnd len="sm" w="sm" type="none"/>
            <a:tailEnd len="med" w="med" type="triangle"/>
          </a:ln>
        </p:spPr>
      </p:cxnSp>
      <p:sp>
        <p:nvSpPr>
          <p:cNvPr id="217" name="Google Shape;217;g3ddac08760b_0_350"/>
          <p:cNvSpPr txBox="1"/>
          <p:nvPr/>
        </p:nvSpPr>
        <p:spPr>
          <a:xfrm>
            <a:off x="8050413" y="3018475"/>
            <a:ext cx="1359600" cy="12306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100" u="none" cap="none" strike="noStrike">
                <a:solidFill>
                  <a:schemeClr val="dk1"/>
                </a:solidFill>
                <a:latin typeface="Montserrat"/>
                <a:ea typeface="Montserrat"/>
                <a:cs typeface="Montserrat"/>
                <a:sym typeface="Montserrat"/>
              </a:rPr>
              <a:t>L’informazione viene inviata al Client. </a:t>
            </a:r>
            <a:br>
              <a:rPr b="0" i="0" lang="en-GB" sz="1100" u="none" cap="none" strike="noStrike">
                <a:solidFill>
                  <a:schemeClr val="dk1"/>
                </a:solidFill>
                <a:latin typeface="Montserrat"/>
                <a:ea typeface="Montserrat"/>
                <a:cs typeface="Montserrat"/>
                <a:sym typeface="Montserrat"/>
              </a:rPr>
            </a:br>
            <a:r>
              <a:rPr lang="en-GB" sz="1100">
                <a:solidFill>
                  <a:schemeClr val="dk1"/>
                </a:solidFill>
                <a:latin typeface="Montserrat"/>
                <a:ea typeface="Montserrat"/>
                <a:cs typeface="Montserrat"/>
                <a:sym typeface="Montserrat"/>
              </a:rPr>
              <a:t>Lo UActorChannel viene distrutto.</a:t>
            </a:r>
            <a:endParaRPr b="0" i="0" sz="1100" u="none" cap="none" strike="noStrike">
              <a:solidFill>
                <a:schemeClr val="dk1"/>
              </a:solidFill>
              <a:latin typeface="Montserrat"/>
              <a:ea typeface="Montserrat"/>
              <a:cs typeface="Montserrat"/>
              <a:sym typeface="Montserrat"/>
            </a:endParaRPr>
          </a:p>
        </p:txBody>
      </p:sp>
      <p:pic>
        <p:nvPicPr>
          <p:cNvPr id="218" name="Google Shape;218;g3ddac08760b_0_350"/>
          <p:cNvPicPr preferRelativeResize="0"/>
          <p:nvPr/>
        </p:nvPicPr>
        <p:blipFill rotWithShape="1">
          <a:blip r:embed="rId4">
            <a:alphaModFix/>
          </a:blip>
          <a:srcRect b="0" l="0" r="0" t="0"/>
          <a:stretch/>
        </p:blipFill>
        <p:spPr>
          <a:xfrm>
            <a:off x="10031130" y="1721123"/>
            <a:ext cx="890108" cy="890103"/>
          </a:xfrm>
          <a:prstGeom prst="rect">
            <a:avLst/>
          </a:prstGeom>
          <a:noFill/>
          <a:ln>
            <a:noFill/>
          </a:ln>
        </p:spPr>
      </p:pic>
      <p:pic>
        <p:nvPicPr>
          <p:cNvPr id="219" name="Google Shape;219;g3ddac08760b_0_350"/>
          <p:cNvPicPr preferRelativeResize="0"/>
          <p:nvPr/>
        </p:nvPicPr>
        <p:blipFill rotWithShape="1">
          <a:blip r:embed="rId5">
            <a:alphaModFix/>
          </a:blip>
          <a:srcRect b="15027" l="0" r="0" t="21754"/>
          <a:stretch/>
        </p:blipFill>
        <p:spPr>
          <a:xfrm>
            <a:off x="9907340" y="4496967"/>
            <a:ext cx="1137654" cy="719196"/>
          </a:xfrm>
          <a:prstGeom prst="rect">
            <a:avLst/>
          </a:prstGeom>
          <a:noFill/>
          <a:ln>
            <a:noFill/>
          </a:ln>
        </p:spPr>
      </p:pic>
      <p:cxnSp>
        <p:nvCxnSpPr>
          <p:cNvPr id="220" name="Google Shape;220;g3ddac08760b_0_350"/>
          <p:cNvCxnSpPr>
            <a:stCxn id="218" idx="2"/>
            <a:endCxn id="219" idx="0"/>
          </p:cNvCxnSpPr>
          <p:nvPr/>
        </p:nvCxnSpPr>
        <p:spPr>
          <a:xfrm>
            <a:off x="10476184" y="2611226"/>
            <a:ext cx="0" cy="1885800"/>
          </a:xfrm>
          <a:prstGeom prst="straightConnector1">
            <a:avLst/>
          </a:prstGeom>
          <a:noFill/>
          <a:ln cap="flat" cmpd="sng" w="38100">
            <a:solidFill>
              <a:schemeClr val="dk2"/>
            </a:solidFill>
            <a:prstDash val="solid"/>
            <a:round/>
            <a:headEnd len="sm" w="sm" type="none"/>
            <a:tailEnd len="sm" w="sm" type="none"/>
          </a:ln>
        </p:spPr>
      </p:cxnSp>
      <p:sp>
        <p:nvSpPr>
          <p:cNvPr id="221" name="Google Shape;221;g3ddac08760b_0_350"/>
          <p:cNvSpPr txBox="1"/>
          <p:nvPr/>
        </p:nvSpPr>
        <p:spPr>
          <a:xfrm>
            <a:off x="9972675" y="131594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222" name="Google Shape;222;g3ddac08760b_0_350"/>
          <p:cNvSpPr txBox="1"/>
          <p:nvPr/>
        </p:nvSpPr>
        <p:spPr>
          <a:xfrm>
            <a:off x="9945710" y="5216213"/>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223" name="Google Shape;223;g3ddac08760b_0_350"/>
          <p:cNvSpPr txBox="1"/>
          <p:nvPr/>
        </p:nvSpPr>
        <p:spPr>
          <a:xfrm>
            <a:off x="10856998" y="244169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24" name="Google Shape;224;g3ddac08760b_0_350"/>
          <p:cNvSpPr/>
          <p:nvPr/>
        </p:nvSpPr>
        <p:spPr>
          <a:xfrm>
            <a:off x="11202463" y="181725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5" name="Google Shape;225;g3ddac08760b_0_350"/>
          <p:cNvSpPr txBox="1"/>
          <p:nvPr/>
        </p:nvSpPr>
        <p:spPr>
          <a:xfrm>
            <a:off x="10856998" y="515004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26" name="Google Shape;226;g3ddac08760b_0_350"/>
          <p:cNvSpPr/>
          <p:nvPr/>
        </p:nvSpPr>
        <p:spPr>
          <a:xfrm>
            <a:off x="11202463" y="4525609"/>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7" name="Google Shape;227;g3ddac08760b_0_350"/>
          <p:cNvSpPr/>
          <p:nvPr/>
        </p:nvSpPr>
        <p:spPr>
          <a:xfrm>
            <a:off x="1284961" y="129656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228" name="Google Shape;228;g3ddac08760b_0_350"/>
          <p:cNvPicPr preferRelativeResize="0"/>
          <p:nvPr/>
        </p:nvPicPr>
        <p:blipFill rotWithShape="1">
          <a:blip r:embed="rId4">
            <a:alphaModFix/>
          </a:blip>
          <a:srcRect b="0" l="0" r="0" t="0"/>
          <a:stretch/>
        </p:blipFill>
        <p:spPr>
          <a:xfrm>
            <a:off x="1456955" y="1721073"/>
            <a:ext cx="890108" cy="890103"/>
          </a:xfrm>
          <a:prstGeom prst="rect">
            <a:avLst/>
          </a:prstGeom>
          <a:noFill/>
          <a:ln>
            <a:noFill/>
          </a:ln>
        </p:spPr>
      </p:pic>
      <p:pic>
        <p:nvPicPr>
          <p:cNvPr id="229" name="Google Shape;229;g3ddac08760b_0_350"/>
          <p:cNvPicPr preferRelativeResize="0"/>
          <p:nvPr/>
        </p:nvPicPr>
        <p:blipFill rotWithShape="1">
          <a:blip r:embed="rId5">
            <a:alphaModFix/>
          </a:blip>
          <a:srcRect b="15027" l="0" r="0" t="21754"/>
          <a:stretch/>
        </p:blipFill>
        <p:spPr>
          <a:xfrm>
            <a:off x="1333165" y="4496917"/>
            <a:ext cx="1137654" cy="719196"/>
          </a:xfrm>
          <a:prstGeom prst="rect">
            <a:avLst/>
          </a:prstGeom>
          <a:noFill/>
          <a:ln>
            <a:noFill/>
          </a:ln>
        </p:spPr>
      </p:pic>
      <p:cxnSp>
        <p:nvCxnSpPr>
          <p:cNvPr id="230" name="Google Shape;230;g3ddac08760b_0_350"/>
          <p:cNvCxnSpPr>
            <a:stCxn id="228" idx="2"/>
            <a:endCxn id="229" idx="0"/>
          </p:cNvCxnSpPr>
          <p:nvPr/>
        </p:nvCxnSpPr>
        <p:spPr>
          <a:xfrm>
            <a:off x="1902009" y="2611176"/>
            <a:ext cx="0" cy="1885800"/>
          </a:xfrm>
          <a:prstGeom prst="straightConnector1">
            <a:avLst/>
          </a:prstGeom>
          <a:noFill/>
          <a:ln cap="flat" cmpd="sng" w="38100">
            <a:solidFill>
              <a:schemeClr val="dk2"/>
            </a:solidFill>
            <a:prstDash val="solid"/>
            <a:round/>
            <a:headEnd len="sm" w="sm" type="none"/>
            <a:tailEnd len="sm" w="sm" type="none"/>
          </a:ln>
        </p:spPr>
      </p:cxnSp>
      <p:sp>
        <p:nvSpPr>
          <p:cNvPr id="231" name="Google Shape;231;g3ddac08760b_0_350"/>
          <p:cNvSpPr txBox="1"/>
          <p:nvPr/>
        </p:nvSpPr>
        <p:spPr>
          <a:xfrm>
            <a:off x="1398500" y="131589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232" name="Google Shape;232;g3ddac08760b_0_350"/>
          <p:cNvSpPr txBox="1"/>
          <p:nvPr/>
        </p:nvSpPr>
        <p:spPr>
          <a:xfrm>
            <a:off x="1371535" y="5216163"/>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233" name="Google Shape;233;g3ddac08760b_0_350"/>
          <p:cNvSpPr txBox="1"/>
          <p:nvPr/>
        </p:nvSpPr>
        <p:spPr>
          <a:xfrm>
            <a:off x="2282823" y="244164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34" name="Google Shape;234;g3ddac08760b_0_350"/>
          <p:cNvSpPr/>
          <p:nvPr/>
        </p:nvSpPr>
        <p:spPr>
          <a:xfrm>
            <a:off x="2628288" y="181720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5" name="Google Shape;235;g3ddac08760b_0_350"/>
          <p:cNvSpPr txBox="1"/>
          <p:nvPr/>
        </p:nvSpPr>
        <p:spPr>
          <a:xfrm>
            <a:off x="2282823" y="514999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36" name="Google Shape;236;g3ddac08760b_0_350"/>
          <p:cNvSpPr/>
          <p:nvPr/>
        </p:nvSpPr>
        <p:spPr>
          <a:xfrm>
            <a:off x="2628288" y="4525559"/>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7" name="Google Shape;237;g3ddac08760b_0_350"/>
          <p:cNvSpPr/>
          <p:nvPr/>
        </p:nvSpPr>
        <p:spPr>
          <a:xfrm>
            <a:off x="5200762" y="1484550"/>
            <a:ext cx="1359600" cy="1230600"/>
          </a:xfrm>
          <a:prstGeom prst="mathMultiply">
            <a:avLst>
              <a:gd fmla="val 2861"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ddac08760b_0_350"/>
          <p:cNvSpPr/>
          <p:nvPr/>
        </p:nvSpPr>
        <p:spPr>
          <a:xfrm>
            <a:off x="8125074" y="1484550"/>
            <a:ext cx="1359600" cy="1230600"/>
          </a:xfrm>
          <a:prstGeom prst="mathMultiply">
            <a:avLst>
              <a:gd fmla="val 2861"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3ddac08760b_0_350"/>
          <p:cNvSpPr/>
          <p:nvPr/>
        </p:nvSpPr>
        <p:spPr>
          <a:xfrm>
            <a:off x="10815162" y="1484550"/>
            <a:ext cx="1359600" cy="1230600"/>
          </a:xfrm>
          <a:prstGeom prst="mathMultiply">
            <a:avLst>
              <a:gd fmla="val 2861"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ddac08760b_0_350"/>
          <p:cNvSpPr/>
          <p:nvPr/>
        </p:nvSpPr>
        <p:spPr>
          <a:xfrm>
            <a:off x="10815162" y="4202600"/>
            <a:ext cx="1359600" cy="1230600"/>
          </a:xfrm>
          <a:prstGeom prst="mathMultiply">
            <a:avLst>
              <a:gd fmla="val 2861" name="adj1"/>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ddac08760b_0_350"/>
          <p:cNvSpPr txBox="1"/>
          <p:nvPr/>
        </p:nvSpPr>
        <p:spPr>
          <a:xfrm>
            <a:off x="1398500" y="5842950"/>
            <a:ext cx="10689000" cy="70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600" u="none" cap="none" strike="noStrike">
                <a:solidFill>
                  <a:schemeClr val="dk1"/>
                </a:solidFill>
                <a:latin typeface="Montserrat"/>
                <a:ea typeface="Montserrat"/>
                <a:cs typeface="Montserrat"/>
                <a:sym typeface="Montserrat"/>
              </a:rPr>
              <a:t>Allo stesso modo, un Actor contrassegnato come Replicato </a:t>
            </a:r>
            <a:r>
              <a:rPr lang="en-GB" sz="1600">
                <a:solidFill>
                  <a:schemeClr val="dk1"/>
                </a:solidFill>
                <a:latin typeface="Montserrat"/>
                <a:ea typeface="Montserrat"/>
                <a:cs typeface="Montserrat"/>
                <a:sym typeface="Montserrat"/>
              </a:rPr>
              <a:t>verrà</a:t>
            </a:r>
            <a:r>
              <a:rPr b="0" i="0" lang="en-GB" sz="1600" u="none" cap="none" strike="noStrike">
                <a:solidFill>
                  <a:schemeClr val="dk1"/>
                </a:solidFill>
                <a:latin typeface="Montserrat"/>
                <a:ea typeface="Montserrat"/>
                <a:cs typeface="Montserrat"/>
                <a:sym typeface="Montserrat"/>
              </a:rPr>
              <a:t> automaticamente distrutto nelle sessioni dei Client quando viene distrutto sul Server.</a:t>
            </a:r>
            <a:endParaRPr b="0" i="0" sz="1600" u="none" cap="none" strike="noStrike">
              <a:solidFill>
                <a:schemeClr val="dk1"/>
              </a:solidFill>
              <a:latin typeface="Montserrat"/>
              <a:ea typeface="Montserrat"/>
              <a:cs typeface="Montserrat"/>
              <a:sym typeface="Montserrat"/>
            </a:endParaRPr>
          </a:p>
        </p:txBody>
      </p:sp>
      <p:sp>
        <p:nvSpPr>
          <p:cNvPr id="242" name="Google Shape;242;g3ddac08760b_0_350"/>
          <p:cNvSpPr txBox="1"/>
          <p:nvPr/>
        </p:nvSpPr>
        <p:spPr>
          <a:xfrm>
            <a:off x="5184373" y="518079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43" name="Google Shape;243;g3ddac08760b_0_350"/>
          <p:cNvSpPr/>
          <p:nvPr/>
        </p:nvSpPr>
        <p:spPr>
          <a:xfrm>
            <a:off x="5529838" y="4556359"/>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4" name="Google Shape;244;g3ddac08760b_0_350"/>
          <p:cNvSpPr txBox="1"/>
          <p:nvPr/>
        </p:nvSpPr>
        <p:spPr>
          <a:xfrm>
            <a:off x="8131298" y="5180785"/>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245" name="Google Shape;245;g3ddac08760b_0_350"/>
          <p:cNvSpPr/>
          <p:nvPr/>
        </p:nvSpPr>
        <p:spPr>
          <a:xfrm>
            <a:off x="8476763" y="4556346"/>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g3ddac08760b_0_479"/>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51" name="Google Shape;251;g3ddac08760b_0_479"/>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ActorComponent Replication</a:t>
            </a:r>
            <a:endParaRPr b="1" i="0" sz="1100" u="none" cap="none" strike="noStrike">
              <a:solidFill>
                <a:srgbClr val="FF0000"/>
              </a:solidFill>
              <a:latin typeface="Montserrat"/>
              <a:ea typeface="Montserrat"/>
              <a:cs typeface="Montserrat"/>
              <a:sym typeface="Montserrat"/>
            </a:endParaRPr>
          </a:p>
        </p:txBody>
      </p:sp>
      <p:sp>
        <p:nvSpPr>
          <p:cNvPr id="252" name="Google Shape;252;g3ddac08760b_0_479"/>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Un Actor Component non viene replicato di default, ma è possibile configurare qualsiasi Component in modo che si replichi come parte dell'Actor proprietario.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Gli Actor Component possono replicare le proprie variabili e i propri oggetti secondari, nonché chiamare RPC definite dallo stesso Actor Component esattamente come farebbe un Actor.</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 replicare un Actor </a:t>
            </a:r>
            <a:r>
              <a:rPr lang="en-GB" sz="1600">
                <a:solidFill>
                  <a:schemeClr val="dk1"/>
                </a:solidFill>
                <a:latin typeface="Montserrat"/>
                <a:ea typeface="Montserrat"/>
                <a:cs typeface="Montserrat"/>
                <a:sym typeface="Montserrat"/>
              </a:rPr>
              <a:t>Component bisogna </a:t>
            </a:r>
            <a:r>
              <a:rPr lang="en-GB" sz="1600">
                <a:solidFill>
                  <a:schemeClr val="dk1"/>
                </a:solidFill>
                <a:latin typeface="Montserrat"/>
                <a:ea typeface="Montserrat"/>
                <a:cs typeface="Montserrat"/>
                <a:sym typeface="Montserrat"/>
              </a:rPr>
              <a:t>assicurarsi che: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L'Actor che possiede il tuo Component è impostato per replicarsi.</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Il </a:t>
            </a:r>
            <a:r>
              <a:rPr lang="en-GB" sz="1600">
                <a:solidFill>
                  <a:schemeClr val="dk1"/>
                </a:solidFill>
                <a:latin typeface="Montserrat"/>
                <a:ea typeface="Montserrat"/>
                <a:cs typeface="Montserrat"/>
                <a:sym typeface="Montserrat"/>
              </a:rPr>
              <a:t>Component </a:t>
            </a:r>
            <a:r>
              <a:rPr lang="en-GB" sz="1600">
                <a:solidFill>
                  <a:schemeClr val="dk1"/>
                </a:solidFill>
                <a:latin typeface="Montserrat"/>
                <a:ea typeface="Montserrat"/>
                <a:cs typeface="Montserrat"/>
                <a:sym typeface="Montserrat"/>
              </a:rPr>
              <a:t>è impostato per replicarsi.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 quanto riguarda gli Static Component (quelli creati usando CreateDefaultSubobject nel Constructor), e’ sufficiente crearli e accertarsi che siano replicati.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È possibile abilitare la replicazione di default o abilitarla a Runtime in base alle necessita’.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 i Dynamic Component (quelli creati a Runtime usando NewObject), bisogna assicurarsi di impostare la replicazione chiamando “SetIsReplicated”.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Anche qui, è possibile abilitare\disabilitare la replicazione in qualunque momento.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253" name="Google Shape;253;g3ddac08760b_0_479"/>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g3ddac08760b_0_49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59" name="Google Shape;259;g3ddac08760b_0_49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ActorComponent Replication - Static</a:t>
            </a:r>
            <a:endParaRPr b="1" i="0" sz="1100" u="none" cap="none" strike="noStrike">
              <a:solidFill>
                <a:srgbClr val="FF0000"/>
              </a:solidFill>
              <a:latin typeface="Montserrat"/>
              <a:ea typeface="Montserrat"/>
              <a:cs typeface="Montserrat"/>
              <a:sym typeface="Montserrat"/>
            </a:endParaRPr>
          </a:p>
        </p:txBody>
      </p:sp>
      <p:sp>
        <p:nvSpPr>
          <p:cNvPr id="260" name="Google Shape;260;g3ddac08760b_0_49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61" name="Google Shape;261;g3ddac08760b_0_493"/>
          <p:cNvPicPr preferRelativeResize="0"/>
          <p:nvPr/>
        </p:nvPicPr>
        <p:blipFill rotWithShape="1">
          <a:blip r:embed="rId4">
            <a:alphaModFix/>
          </a:blip>
          <a:srcRect b="0" l="0" r="0" t="0"/>
          <a:stretch/>
        </p:blipFill>
        <p:spPr>
          <a:xfrm>
            <a:off x="3098516" y="1245900"/>
            <a:ext cx="7220816" cy="1549149"/>
          </a:xfrm>
          <a:prstGeom prst="rect">
            <a:avLst/>
          </a:prstGeom>
          <a:noFill/>
          <a:ln cap="flat" cmpd="sng" w="9525">
            <a:solidFill>
              <a:srgbClr val="595959"/>
            </a:solidFill>
            <a:prstDash val="solid"/>
            <a:round/>
            <a:headEnd len="sm" w="sm" type="none"/>
            <a:tailEnd len="sm" w="sm" type="none"/>
          </a:ln>
        </p:spPr>
      </p:pic>
      <p:pic>
        <p:nvPicPr>
          <p:cNvPr id="262" name="Google Shape;262;g3ddac08760b_0_493"/>
          <p:cNvPicPr preferRelativeResize="0"/>
          <p:nvPr/>
        </p:nvPicPr>
        <p:blipFill rotWithShape="1">
          <a:blip r:embed="rId5">
            <a:alphaModFix/>
          </a:blip>
          <a:srcRect b="0" l="0" r="0" t="0"/>
          <a:stretch/>
        </p:blipFill>
        <p:spPr>
          <a:xfrm>
            <a:off x="4478448" y="2904888"/>
            <a:ext cx="4460949" cy="1332375"/>
          </a:xfrm>
          <a:prstGeom prst="rect">
            <a:avLst/>
          </a:prstGeom>
          <a:noFill/>
          <a:ln cap="flat" cmpd="sng" w="9525">
            <a:solidFill>
              <a:srgbClr val="595959"/>
            </a:solidFill>
            <a:prstDash val="solid"/>
            <a:round/>
            <a:headEnd len="sm" w="sm" type="none"/>
            <a:tailEnd len="sm" w="sm" type="none"/>
          </a:ln>
        </p:spPr>
      </p:pic>
      <p:pic>
        <p:nvPicPr>
          <p:cNvPr id="263" name="Google Shape;263;g3ddac08760b_0_493"/>
          <p:cNvPicPr preferRelativeResize="0"/>
          <p:nvPr/>
        </p:nvPicPr>
        <p:blipFill rotWithShape="1">
          <a:blip r:embed="rId6">
            <a:alphaModFix/>
          </a:blip>
          <a:srcRect b="0" l="0" r="0" t="0"/>
          <a:stretch/>
        </p:blipFill>
        <p:spPr>
          <a:xfrm>
            <a:off x="4666013" y="4347100"/>
            <a:ext cx="4085825" cy="1860775"/>
          </a:xfrm>
          <a:prstGeom prst="rect">
            <a:avLst/>
          </a:prstGeom>
          <a:noFill/>
          <a:ln cap="flat" cmpd="sng" w="9525">
            <a:solidFill>
              <a:srgbClr val="595959"/>
            </a:solidFill>
            <a:prstDash val="solid"/>
            <a:round/>
            <a:headEnd len="sm" w="sm" type="none"/>
            <a:tailEnd len="sm" w="sm" type="none"/>
          </a:ln>
        </p:spPr>
      </p:pic>
      <p:sp>
        <p:nvSpPr>
          <p:cNvPr id="264" name="Google Shape;264;g3ddac08760b_0_493"/>
          <p:cNvSpPr/>
          <p:nvPr/>
        </p:nvSpPr>
        <p:spPr>
          <a:xfrm>
            <a:off x="4924875" y="2395021"/>
            <a:ext cx="1841100" cy="264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3ddac08760b_0_493"/>
          <p:cNvSpPr/>
          <p:nvPr/>
        </p:nvSpPr>
        <p:spPr>
          <a:xfrm>
            <a:off x="4924872" y="3647403"/>
            <a:ext cx="3936000" cy="264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g3ddac08760b_0_50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71" name="Google Shape;271;g3ddac08760b_0_50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ActorComponent Replication - Dynamic</a:t>
            </a:r>
            <a:endParaRPr b="1" i="0" sz="1100" u="none" cap="none" strike="noStrike">
              <a:solidFill>
                <a:srgbClr val="FF0000"/>
              </a:solidFill>
              <a:latin typeface="Montserrat"/>
              <a:ea typeface="Montserrat"/>
              <a:cs typeface="Montserrat"/>
              <a:sym typeface="Montserrat"/>
            </a:endParaRPr>
          </a:p>
        </p:txBody>
      </p:sp>
      <p:sp>
        <p:nvSpPr>
          <p:cNvPr id="272" name="Google Shape;272;g3ddac08760b_0_50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73" name="Google Shape;273;g3ddac08760b_0_506"/>
          <p:cNvPicPr preferRelativeResize="0"/>
          <p:nvPr/>
        </p:nvPicPr>
        <p:blipFill rotWithShape="1">
          <a:blip r:embed="rId4">
            <a:alphaModFix/>
          </a:blip>
          <a:srcRect b="0" l="0" r="0" t="0"/>
          <a:stretch/>
        </p:blipFill>
        <p:spPr>
          <a:xfrm>
            <a:off x="1262438" y="1660350"/>
            <a:ext cx="10892976" cy="1716225"/>
          </a:xfrm>
          <a:prstGeom prst="rect">
            <a:avLst/>
          </a:prstGeom>
          <a:noFill/>
          <a:ln cap="flat" cmpd="sng" w="9525">
            <a:solidFill>
              <a:srgbClr val="595959"/>
            </a:solidFill>
            <a:prstDash val="solid"/>
            <a:round/>
            <a:headEnd len="sm" w="sm" type="none"/>
            <a:tailEnd len="sm" w="sm" type="none"/>
          </a:ln>
        </p:spPr>
      </p:pic>
      <p:pic>
        <p:nvPicPr>
          <p:cNvPr id="274" name="Google Shape;274;g3ddac08760b_0_506"/>
          <p:cNvPicPr preferRelativeResize="0"/>
          <p:nvPr/>
        </p:nvPicPr>
        <p:blipFill rotWithShape="1">
          <a:blip r:embed="rId5">
            <a:alphaModFix/>
          </a:blip>
          <a:srcRect b="0" l="0" r="0" t="0"/>
          <a:stretch/>
        </p:blipFill>
        <p:spPr>
          <a:xfrm>
            <a:off x="3612962" y="3791027"/>
            <a:ext cx="6191924" cy="2324125"/>
          </a:xfrm>
          <a:prstGeom prst="rect">
            <a:avLst/>
          </a:prstGeom>
          <a:noFill/>
          <a:ln cap="flat" cmpd="sng" w="9525">
            <a:solidFill>
              <a:srgbClr val="595959"/>
            </a:solidFill>
            <a:prstDash val="solid"/>
            <a:round/>
            <a:headEnd len="sm" w="sm" type="none"/>
            <a:tailEnd len="sm" w="sm" type="none"/>
          </a:ln>
        </p:spPr>
      </p:pic>
      <p:sp>
        <p:nvSpPr>
          <p:cNvPr id="275" name="Google Shape;275;g3ddac08760b_0_506"/>
          <p:cNvSpPr/>
          <p:nvPr/>
        </p:nvSpPr>
        <p:spPr>
          <a:xfrm>
            <a:off x="3060303" y="2554477"/>
            <a:ext cx="935100" cy="297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ddac08760b_0_506"/>
          <p:cNvSpPr/>
          <p:nvPr/>
        </p:nvSpPr>
        <p:spPr>
          <a:xfrm>
            <a:off x="3170783" y="3000501"/>
            <a:ext cx="1663500" cy="253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g3ddac08760b_0_521"/>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82" name="Google Shape;282;g3ddac08760b_0_521"/>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Property </a:t>
            </a:r>
            <a:r>
              <a:rPr b="1" lang="en-GB" sz="4000">
                <a:solidFill>
                  <a:schemeClr val="dk1"/>
                </a:solidFill>
                <a:latin typeface="Montserrat"/>
                <a:ea typeface="Montserrat"/>
                <a:cs typeface="Montserrat"/>
                <a:sym typeface="Montserrat"/>
              </a:rPr>
              <a:t>Replication</a:t>
            </a:r>
            <a:endParaRPr b="1" i="0" sz="1100" u="none" cap="none" strike="noStrike">
              <a:solidFill>
                <a:srgbClr val="FF0000"/>
              </a:solidFill>
              <a:latin typeface="Montserrat"/>
              <a:ea typeface="Montserrat"/>
              <a:cs typeface="Montserrat"/>
              <a:sym typeface="Montserrat"/>
            </a:endParaRPr>
          </a:p>
        </p:txBody>
      </p:sp>
      <p:sp>
        <p:nvSpPr>
          <p:cNvPr id="283" name="Google Shape;283;g3ddac08760b_0_521"/>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Quando un Actor o un Component ha la replicazione abilitata, possiamo replicare le sue property.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In Blueprint, possiamo selezionare una variabile e selezionare “Replicated” alla voce “Replication”.</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Da adesso, ogni getter o setter che fa riferimento a quella variabile avra’ un’icona con due sfere bianche in alto a destra.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Quel simbolo indica che la variabile e’ replicata.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A questo punto possiamo vedere che la voce “Replication Condition” diventa editabile.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 condizione di replicazione e’ qualcosa che possiamo specificare per avere maggiore controllo su COME la variabile viene replicata</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possiamo replicarla solo una volta (utile per valore che non cambiano una volta inizializzati)</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possiamo replicarla solo all’Owner (utile per informazioni che vogliamo rendere note solo fra Server e un Client specifico)</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svariate altre condizioni.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284" name="Google Shape;284;g3ddac08760b_0_521"/>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g3ddac08760b_0_62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90" name="Google Shape;290;g3ddac08760b_0_62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Property Replication</a:t>
            </a:r>
            <a:endParaRPr b="1" i="0" sz="1100" u="none" cap="none" strike="noStrike">
              <a:solidFill>
                <a:srgbClr val="FF0000"/>
              </a:solidFill>
              <a:latin typeface="Montserrat"/>
              <a:ea typeface="Montserrat"/>
              <a:cs typeface="Montserrat"/>
              <a:sym typeface="Montserrat"/>
            </a:endParaRPr>
          </a:p>
        </p:txBody>
      </p:sp>
      <p:sp>
        <p:nvSpPr>
          <p:cNvPr id="291" name="Google Shape;291;g3ddac08760b_0_62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92" name="Google Shape;292;g3ddac08760b_0_622"/>
          <p:cNvPicPr preferRelativeResize="0"/>
          <p:nvPr/>
        </p:nvPicPr>
        <p:blipFill rotWithShape="1">
          <a:blip r:embed="rId4">
            <a:alphaModFix/>
          </a:blip>
          <a:srcRect b="0" l="0" r="0" t="0"/>
          <a:stretch/>
        </p:blipFill>
        <p:spPr>
          <a:xfrm>
            <a:off x="1114900" y="2263150"/>
            <a:ext cx="11077100" cy="2601608"/>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g3ddac08760b_0_54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298" name="Google Shape;298;g3ddac08760b_0_54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Property</a:t>
            </a:r>
            <a:r>
              <a:rPr b="1" lang="en-GB" sz="4000">
                <a:solidFill>
                  <a:schemeClr val="dk1"/>
                </a:solidFill>
                <a:latin typeface="Montserrat"/>
                <a:ea typeface="Montserrat"/>
                <a:cs typeface="Montserrat"/>
                <a:sym typeface="Montserrat"/>
              </a:rPr>
              <a:t> Replication - Blueprint</a:t>
            </a:r>
            <a:endParaRPr b="1" i="0" sz="1100" u="none" cap="none" strike="noStrike">
              <a:solidFill>
                <a:srgbClr val="FF0000"/>
              </a:solidFill>
              <a:latin typeface="Montserrat"/>
              <a:ea typeface="Montserrat"/>
              <a:cs typeface="Montserrat"/>
              <a:sym typeface="Montserrat"/>
            </a:endParaRPr>
          </a:p>
        </p:txBody>
      </p:sp>
      <p:sp>
        <p:nvSpPr>
          <p:cNvPr id="299" name="Google Shape;299;g3ddac08760b_0_54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300" name="Google Shape;300;g3ddac08760b_0_542"/>
          <p:cNvPicPr preferRelativeResize="0"/>
          <p:nvPr/>
        </p:nvPicPr>
        <p:blipFill rotWithShape="1">
          <a:blip r:embed="rId4">
            <a:alphaModFix/>
          </a:blip>
          <a:srcRect b="0" l="0" r="0" t="0"/>
          <a:stretch/>
        </p:blipFill>
        <p:spPr>
          <a:xfrm>
            <a:off x="3876092" y="1428300"/>
            <a:ext cx="3808282" cy="4001398"/>
          </a:xfrm>
          <a:prstGeom prst="rect">
            <a:avLst/>
          </a:prstGeom>
          <a:noFill/>
          <a:ln cap="flat" cmpd="sng" w="13150">
            <a:solidFill>
              <a:srgbClr val="595959"/>
            </a:solidFill>
            <a:prstDash val="solid"/>
            <a:round/>
            <a:headEnd len="sm" w="sm" type="none"/>
            <a:tailEnd len="sm" w="sm" type="none"/>
          </a:ln>
        </p:spPr>
      </p:pic>
      <p:pic>
        <p:nvPicPr>
          <p:cNvPr id="301" name="Google Shape;301;g3ddac08760b_0_542"/>
          <p:cNvPicPr preferRelativeResize="0"/>
          <p:nvPr/>
        </p:nvPicPr>
        <p:blipFill rotWithShape="1">
          <a:blip r:embed="rId5">
            <a:alphaModFix/>
          </a:blip>
          <a:srcRect b="0" l="0" r="0" t="0"/>
          <a:stretch/>
        </p:blipFill>
        <p:spPr>
          <a:xfrm>
            <a:off x="1301002" y="2665016"/>
            <a:ext cx="2299931" cy="1380955"/>
          </a:xfrm>
          <a:prstGeom prst="rect">
            <a:avLst/>
          </a:prstGeom>
          <a:noFill/>
          <a:ln cap="flat" cmpd="sng" w="13150">
            <a:solidFill>
              <a:srgbClr val="595959"/>
            </a:solidFill>
            <a:prstDash val="solid"/>
            <a:round/>
            <a:headEnd len="sm" w="sm" type="none"/>
            <a:tailEnd len="sm" w="sm" type="none"/>
          </a:ln>
        </p:spPr>
      </p:pic>
      <p:sp>
        <p:nvSpPr>
          <p:cNvPr id="302" name="Google Shape;302;g3ddac08760b_0_542"/>
          <p:cNvSpPr/>
          <p:nvPr/>
        </p:nvSpPr>
        <p:spPr>
          <a:xfrm>
            <a:off x="2568070" y="2665016"/>
            <a:ext cx="338100" cy="229500"/>
          </a:xfrm>
          <a:prstGeom prst="rect">
            <a:avLst/>
          </a:prstGeom>
          <a:noFill/>
          <a:ln cap="flat" cmpd="sng" w="26325">
            <a:solidFill>
              <a:srgbClr val="FF0000"/>
            </a:solidFill>
            <a:prstDash val="solid"/>
            <a:round/>
            <a:headEnd len="sm" w="sm" type="none"/>
            <a:tailEnd len="sm" w="sm" type="none"/>
          </a:ln>
        </p:spPr>
        <p:txBody>
          <a:bodyPr anchorCtr="0" anchor="ctr" bIns="126300" lIns="126300" spcFirstLastPara="1" rIns="126300" wrap="square" tIns="126300">
            <a:noAutofit/>
          </a:bodyPr>
          <a:lstStyle/>
          <a:p>
            <a:pPr indent="0" lvl="0" marL="0" marR="0" rtl="0" algn="ctr">
              <a:lnSpc>
                <a:spcPct val="100000"/>
              </a:lnSpc>
              <a:spcBef>
                <a:spcPts val="0"/>
              </a:spcBef>
              <a:spcAft>
                <a:spcPts val="0"/>
              </a:spcAft>
              <a:buClr>
                <a:srgbClr val="000000"/>
              </a:buClr>
              <a:buSzPts val="1934"/>
              <a:buFont typeface="Arial"/>
              <a:buNone/>
            </a:pPr>
            <a:r>
              <a:t/>
            </a:r>
            <a:endParaRPr b="0" i="0" sz="1934" u="none" cap="none" strike="noStrike">
              <a:solidFill>
                <a:srgbClr val="000000"/>
              </a:solidFill>
              <a:latin typeface="Arial"/>
              <a:ea typeface="Arial"/>
              <a:cs typeface="Arial"/>
              <a:sym typeface="Arial"/>
            </a:endParaRPr>
          </a:p>
        </p:txBody>
      </p:sp>
      <p:sp>
        <p:nvSpPr>
          <p:cNvPr id="303" name="Google Shape;303;g3ddac08760b_0_542"/>
          <p:cNvSpPr/>
          <p:nvPr/>
        </p:nvSpPr>
        <p:spPr>
          <a:xfrm>
            <a:off x="3157301" y="3076768"/>
            <a:ext cx="338100" cy="229500"/>
          </a:xfrm>
          <a:prstGeom prst="rect">
            <a:avLst/>
          </a:prstGeom>
          <a:noFill/>
          <a:ln cap="flat" cmpd="sng" w="26325">
            <a:solidFill>
              <a:srgbClr val="FF0000"/>
            </a:solidFill>
            <a:prstDash val="solid"/>
            <a:round/>
            <a:headEnd len="sm" w="sm" type="none"/>
            <a:tailEnd len="sm" w="sm" type="none"/>
          </a:ln>
        </p:spPr>
        <p:txBody>
          <a:bodyPr anchorCtr="0" anchor="ctr" bIns="126300" lIns="126300" spcFirstLastPara="1" rIns="126300" wrap="square" tIns="126300">
            <a:noAutofit/>
          </a:bodyPr>
          <a:lstStyle/>
          <a:p>
            <a:pPr indent="0" lvl="0" marL="0" marR="0" rtl="0" algn="ctr">
              <a:lnSpc>
                <a:spcPct val="100000"/>
              </a:lnSpc>
              <a:spcBef>
                <a:spcPts val="0"/>
              </a:spcBef>
              <a:spcAft>
                <a:spcPts val="0"/>
              </a:spcAft>
              <a:buClr>
                <a:srgbClr val="000000"/>
              </a:buClr>
              <a:buSzPts val="1934"/>
              <a:buFont typeface="Arial"/>
              <a:buNone/>
            </a:pPr>
            <a:r>
              <a:t/>
            </a:r>
            <a:endParaRPr b="0" i="0" sz="1934" u="none" cap="none" strike="noStrike">
              <a:solidFill>
                <a:srgbClr val="000000"/>
              </a:solidFill>
              <a:latin typeface="Arial"/>
              <a:ea typeface="Arial"/>
              <a:cs typeface="Arial"/>
              <a:sym typeface="Arial"/>
            </a:endParaRPr>
          </a:p>
        </p:txBody>
      </p:sp>
      <p:sp>
        <p:nvSpPr>
          <p:cNvPr id="304" name="Google Shape;304;g3ddac08760b_0_542"/>
          <p:cNvSpPr/>
          <p:nvPr/>
        </p:nvSpPr>
        <p:spPr>
          <a:xfrm>
            <a:off x="5813352" y="4373765"/>
            <a:ext cx="1016100" cy="229500"/>
          </a:xfrm>
          <a:prstGeom prst="rect">
            <a:avLst/>
          </a:prstGeom>
          <a:noFill/>
          <a:ln cap="flat" cmpd="sng" w="26325">
            <a:solidFill>
              <a:srgbClr val="FF0000"/>
            </a:solidFill>
            <a:prstDash val="solid"/>
            <a:round/>
            <a:headEnd len="sm" w="sm" type="none"/>
            <a:tailEnd len="sm" w="sm" type="none"/>
          </a:ln>
        </p:spPr>
        <p:txBody>
          <a:bodyPr anchorCtr="0" anchor="ctr" bIns="126300" lIns="126300" spcFirstLastPara="1" rIns="126300" wrap="square" tIns="126300">
            <a:noAutofit/>
          </a:bodyPr>
          <a:lstStyle/>
          <a:p>
            <a:pPr indent="0" lvl="0" marL="0" marR="0" rtl="0" algn="ctr">
              <a:lnSpc>
                <a:spcPct val="100000"/>
              </a:lnSpc>
              <a:spcBef>
                <a:spcPts val="0"/>
              </a:spcBef>
              <a:spcAft>
                <a:spcPts val="0"/>
              </a:spcAft>
              <a:buClr>
                <a:srgbClr val="000000"/>
              </a:buClr>
              <a:buSzPts val="1934"/>
              <a:buFont typeface="Arial"/>
              <a:buNone/>
            </a:pPr>
            <a:r>
              <a:t/>
            </a:r>
            <a:endParaRPr b="0" i="0" sz="1934" u="none" cap="none" strike="noStrike">
              <a:solidFill>
                <a:srgbClr val="000000"/>
              </a:solidFill>
              <a:latin typeface="Arial"/>
              <a:ea typeface="Arial"/>
              <a:cs typeface="Arial"/>
              <a:sym typeface="Arial"/>
            </a:endParaRPr>
          </a:p>
        </p:txBody>
      </p:sp>
      <p:pic>
        <p:nvPicPr>
          <p:cNvPr id="305" name="Google Shape;305;g3ddac08760b_0_542"/>
          <p:cNvPicPr preferRelativeResize="0"/>
          <p:nvPr/>
        </p:nvPicPr>
        <p:blipFill rotWithShape="1">
          <a:blip r:embed="rId6">
            <a:alphaModFix/>
          </a:blip>
          <a:srcRect b="0" l="0" r="0" t="0"/>
          <a:stretch/>
        </p:blipFill>
        <p:spPr>
          <a:xfrm>
            <a:off x="7959520" y="1780237"/>
            <a:ext cx="4157323" cy="3150523"/>
          </a:xfrm>
          <a:prstGeom prst="rect">
            <a:avLst/>
          </a:prstGeom>
          <a:noFill/>
          <a:ln cap="flat" cmpd="sng" w="13150">
            <a:solidFill>
              <a:srgbClr val="595959"/>
            </a:solidFill>
            <a:prstDash val="solid"/>
            <a:round/>
            <a:headEnd len="sm" w="sm" type="none"/>
            <a:tailEnd len="sm" w="sm" type="none"/>
          </a:ln>
        </p:spPr>
      </p:pic>
      <p:cxnSp>
        <p:nvCxnSpPr>
          <p:cNvPr id="306" name="Google Shape;306;g3ddac08760b_0_542"/>
          <p:cNvCxnSpPr/>
          <p:nvPr/>
        </p:nvCxnSpPr>
        <p:spPr>
          <a:xfrm flipH="1" rot="10800000">
            <a:off x="6825765" y="2223618"/>
            <a:ext cx="1220100" cy="2512800"/>
          </a:xfrm>
          <a:prstGeom prst="straightConnector1">
            <a:avLst/>
          </a:prstGeom>
          <a:noFill/>
          <a:ln cap="flat" cmpd="sng" w="13150">
            <a:solidFill>
              <a:srgbClr val="FF0000"/>
            </a:solidFill>
            <a:prstDash val="solid"/>
            <a:round/>
            <a:headEnd len="sm" w="sm" type="none"/>
            <a:tailEnd len="med" w="med" type="triangle"/>
          </a:ln>
        </p:spPr>
      </p:cxnSp>
      <p:sp>
        <p:nvSpPr>
          <p:cNvPr id="307" name="Google Shape;307;g3ddac08760b_0_542"/>
          <p:cNvSpPr/>
          <p:nvPr/>
        </p:nvSpPr>
        <p:spPr>
          <a:xfrm>
            <a:off x="10332735" y="2435480"/>
            <a:ext cx="1784100" cy="2495400"/>
          </a:xfrm>
          <a:prstGeom prst="rect">
            <a:avLst/>
          </a:prstGeom>
          <a:noFill/>
          <a:ln cap="flat" cmpd="sng" w="26325">
            <a:solidFill>
              <a:srgbClr val="FF0000"/>
            </a:solidFill>
            <a:prstDash val="solid"/>
            <a:round/>
            <a:headEnd len="sm" w="sm" type="none"/>
            <a:tailEnd len="sm" w="sm" type="none"/>
          </a:ln>
        </p:spPr>
        <p:txBody>
          <a:bodyPr anchorCtr="0" anchor="ctr" bIns="126300" lIns="126300" spcFirstLastPara="1" rIns="126300" wrap="square" tIns="126300">
            <a:noAutofit/>
          </a:bodyPr>
          <a:lstStyle/>
          <a:p>
            <a:pPr indent="0" lvl="0" marL="0" marR="0" rtl="0" algn="ctr">
              <a:lnSpc>
                <a:spcPct val="100000"/>
              </a:lnSpc>
              <a:spcBef>
                <a:spcPts val="0"/>
              </a:spcBef>
              <a:spcAft>
                <a:spcPts val="0"/>
              </a:spcAft>
              <a:buClr>
                <a:srgbClr val="000000"/>
              </a:buClr>
              <a:buSzPts val="1934"/>
              <a:buFont typeface="Arial"/>
              <a:buNone/>
            </a:pPr>
            <a:r>
              <a:t/>
            </a:r>
            <a:endParaRPr b="0" i="0" sz="1934"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g3ddac08760b_0_56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313" name="Google Shape;313;g3ddac08760b_0_56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Property Replication</a:t>
            </a:r>
            <a:endParaRPr b="1" i="0" sz="1100" u="none" cap="none" strike="noStrike">
              <a:solidFill>
                <a:srgbClr val="FF0000"/>
              </a:solidFill>
              <a:latin typeface="Montserrat"/>
              <a:ea typeface="Montserrat"/>
              <a:cs typeface="Montserrat"/>
              <a:sym typeface="Montserrat"/>
            </a:endParaRPr>
          </a:p>
        </p:txBody>
      </p:sp>
      <p:sp>
        <p:nvSpPr>
          <p:cNvPr id="314" name="Google Shape;314;g3ddac08760b_0_56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In C++ abilitare la replicazione di una variabile e’ leggermente piu’ complicato.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Dopo esserci assicurati che la replicazione e’ abilitata nell’Actor, dobbiamo usare lo specifier “</a:t>
            </a:r>
            <a:r>
              <a:rPr b="1" lang="en-GB" sz="1600">
                <a:solidFill>
                  <a:schemeClr val="dk1"/>
                </a:solidFill>
                <a:latin typeface="Montserrat"/>
                <a:ea typeface="Montserrat"/>
                <a:cs typeface="Montserrat"/>
                <a:sym typeface="Montserrat"/>
              </a:rPr>
              <a:t>Replicated</a:t>
            </a:r>
            <a:r>
              <a:rPr lang="en-GB" sz="1600">
                <a:solidFill>
                  <a:schemeClr val="dk1"/>
                </a:solidFill>
                <a:latin typeface="Montserrat"/>
                <a:ea typeface="Montserrat"/>
                <a:cs typeface="Montserrat"/>
                <a:sym typeface="Montserrat"/>
              </a:rPr>
              <a:t>” nelle UPROPERTY della variabile.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Questo </a:t>
            </a:r>
            <a:r>
              <a:rPr lang="en-GB" sz="1600">
                <a:solidFill>
                  <a:schemeClr val="dk1"/>
                </a:solidFill>
                <a:latin typeface="Montserrat"/>
                <a:ea typeface="Montserrat"/>
                <a:cs typeface="Montserrat"/>
                <a:sym typeface="Montserrat"/>
              </a:rPr>
              <a:t>indicherà</a:t>
            </a:r>
            <a:r>
              <a:rPr lang="en-GB" sz="1600">
                <a:solidFill>
                  <a:schemeClr val="dk1"/>
                </a:solidFill>
                <a:latin typeface="Montserrat"/>
                <a:ea typeface="Montserrat"/>
                <a:cs typeface="Montserrat"/>
                <a:sym typeface="Montserrat"/>
              </a:rPr>
              <a:t> all’engine che la variabile e’ replicabile, ma non basta.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È necessario registrare la variabile nella lista dei valori replicabili.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Per farlo, la class AActor possiede una funzione chiamata “</a:t>
            </a:r>
            <a:r>
              <a:rPr b="1" lang="en-GB" sz="1600">
                <a:solidFill>
                  <a:schemeClr val="dk1"/>
                </a:solidFill>
                <a:latin typeface="Montserrat"/>
                <a:ea typeface="Montserrat"/>
                <a:cs typeface="Montserrat"/>
                <a:sym typeface="Montserrat"/>
              </a:rPr>
              <a:t>GetLifetimeReplicatedProps</a:t>
            </a:r>
            <a:r>
              <a:rPr lang="en-GB" sz="1600">
                <a:solidFill>
                  <a:schemeClr val="dk1"/>
                </a:solidFill>
                <a:latin typeface="Montserrat"/>
                <a:ea typeface="Montserrat"/>
                <a:cs typeface="Montserrat"/>
                <a:sym typeface="Montserrat"/>
              </a:rPr>
              <a:t>” di cui dobbiamo fare l’Override.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Al suo interno possiamo usare la Macro “</a:t>
            </a:r>
            <a:r>
              <a:rPr b="1" lang="en-GB" sz="1600">
                <a:solidFill>
                  <a:schemeClr val="dk1"/>
                </a:solidFill>
                <a:latin typeface="Montserrat"/>
                <a:ea typeface="Montserrat"/>
                <a:cs typeface="Montserrat"/>
                <a:sym typeface="Montserrat"/>
              </a:rPr>
              <a:t>DOREPLIFETIME</a:t>
            </a:r>
            <a:r>
              <a:rPr lang="en-GB" sz="1600">
                <a:solidFill>
                  <a:schemeClr val="dk1"/>
                </a:solidFill>
                <a:latin typeface="Montserrat"/>
                <a:ea typeface="Montserrat"/>
                <a:cs typeface="Montserrat"/>
                <a:sym typeface="Montserrat"/>
              </a:rPr>
              <a:t>” e passargli come parametro la variabile che vogliamo registrare.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Nel caso volessimo specificare una condizione di replicazione, possiamo usare </a:t>
            </a:r>
            <a:r>
              <a:rPr b="1" lang="en-GB" sz="1600">
                <a:solidFill>
                  <a:schemeClr val="dk1"/>
                </a:solidFill>
                <a:latin typeface="Montserrat"/>
                <a:ea typeface="Montserrat"/>
                <a:cs typeface="Montserrat"/>
                <a:sym typeface="Montserrat"/>
              </a:rPr>
              <a:t>DOREPLIFETIME_CONDITION </a:t>
            </a:r>
            <a:r>
              <a:rPr lang="en-GB" sz="1600">
                <a:solidFill>
                  <a:schemeClr val="dk1"/>
                </a:solidFill>
                <a:latin typeface="Montserrat"/>
                <a:ea typeface="Montserrat"/>
                <a:cs typeface="Montserrat"/>
                <a:sym typeface="Montserrat"/>
              </a:rPr>
              <a:t>invece. </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b="1" lang="en-GB" sz="1600">
                <a:solidFill>
                  <a:schemeClr val="dk1"/>
                </a:solidFill>
                <a:latin typeface="Montserrat"/>
                <a:ea typeface="Montserrat"/>
                <a:cs typeface="Montserrat"/>
                <a:sym typeface="Montserrat"/>
              </a:rPr>
              <a:t>Questo processo va eseguito per ogni singola variabile che vogliamo replicare.</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315" name="Google Shape;315;g3ddac08760b_0_56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g3ddac08760b_0_567"/>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321" name="Google Shape;321;g3ddac08760b_0_567"/>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Property Replication - C++</a:t>
            </a:r>
            <a:endParaRPr b="1" i="0" sz="1100" u="none" cap="none" strike="noStrike">
              <a:solidFill>
                <a:srgbClr val="FF0000"/>
              </a:solidFill>
              <a:latin typeface="Montserrat"/>
              <a:ea typeface="Montserrat"/>
              <a:cs typeface="Montserrat"/>
              <a:sym typeface="Montserrat"/>
            </a:endParaRPr>
          </a:p>
        </p:txBody>
      </p:sp>
      <p:sp>
        <p:nvSpPr>
          <p:cNvPr id="322" name="Google Shape;322;g3ddac08760b_0_567"/>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323" name="Google Shape;323;g3ddac08760b_0_567"/>
          <p:cNvPicPr preferRelativeResize="0"/>
          <p:nvPr/>
        </p:nvPicPr>
        <p:blipFill rotWithShape="1">
          <a:blip r:embed="rId4">
            <a:alphaModFix/>
          </a:blip>
          <a:srcRect b="0" l="0" r="0" t="0"/>
          <a:stretch/>
        </p:blipFill>
        <p:spPr>
          <a:xfrm>
            <a:off x="1437260" y="3167845"/>
            <a:ext cx="5560890" cy="2463255"/>
          </a:xfrm>
          <a:prstGeom prst="rect">
            <a:avLst/>
          </a:prstGeom>
          <a:noFill/>
          <a:ln cap="flat" cmpd="sng" w="12900">
            <a:solidFill>
              <a:srgbClr val="595959"/>
            </a:solidFill>
            <a:prstDash val="solid"/>
            <a:round/>
            <a:headEnd len="sm" w="sm" type="none"/>
            <a:tailEnd len="sm" w="sm" type="none"/>
          </a:ln>
        </p:spPr>
      </p:pic>
      <p:sp>
        <p:nvSpPr>
          <p:cNvPr id="324" name="Google Shape;324;g3ddac08760b_0_567"/>
          <p:cNvSpPr/>
          <p:nvPr/>
        </p:nvSpPr>
        <p:spPr>
          <a:xfrm>
            <a:off x="2979608" y="1843092"/>
            <a:ext cx="826200" cy="222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25" name="Google Shape;325;g3ddac08760b_0_567"/>
          <p:cNvSpPr/>
          <p:nvPr/>
        </p:nvSpPr>
        <p:spPr>
          <a:xfrm>
            <a:off x="1805172" y="2532140"/>
            <a:ext cx="1854300" cy="222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pic>
        <p:nvPicPr>
          <p:cNvPr id="326" name="Google Shape;326;g3ddac08760b_0_567"/>
          <p:cNvPicPr preferRelativeResize="0"/>
          <p:nvPr/>
        </p:nvPicPr>
        <p:blipFill rotWithShape="1">
          <a:blip r:embed="rId5">
            <a:alphaModFix/>
          </a:blip>
          <a:srcRect b="0" l="0" r="0" t="0"/>
          <a:stretch/>
        </p:blipFill>
        <p:spPr>
          <a:xfrm>
            <a:off x="1437336" y="1811025"/>
            <a:ext cx="5560890" cy="1328640"/>
          </a:xfrm>
          <a:prstGeom prst="rect">
            <a:avLst/>
          </a:prstGeom>
          <a:noFill/>
          <a:ln cap="flat" cmpd="sng" w="12900">
            <a:solidFill>
              <a:srgbClr val="595959"/>
            </a:solidFill>
            <a:prstDash val="solid"/>
            <a:round/>
            <a:headEnd len="sm" w="sm" type="none"/>
            <a:tailEnd len="sm" w="sm" type="none"/>
          </a:ln>
        </p:spPr>
      </p:pic>
      <p:sp>
        <p:nvSpPr>
          <p:cNvPr id="327" name="Google Shape;327;g3ddac08760b_0_567"/>
          <p:cNvSpPr txBox="1"/>
          <p:nvPr/>
        </p:nvSpPr>
        <p:spPr>
          <a:xfrm>
            <a:off x="5804964" y="3608579"/>
            <a:ext cx="1193100" cy="446400"/>
          </a:xfrm>
          <a:prstGeom prst="rect">
            <a:avLst/>
          </a:prstGeom>
          <a:noFill/>
          <a:ln>
            <a:noFill/>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626"/>
              <a:buFont typeface="Arial"/>
              <a:buNone/>
            </a:pPr>
            <a:r>
              <a:rPr b="0" i="0" lang="en-GB" sz="1626" u="none" cap="none" strike="noStrike">
                <a:solidFill>
                  <a:srgbClr val="FFFFFF"/>
                </a:solidFill>
                <a:latin typeface="Montserrat"/>
                <a:ea typeface="Montserrat"/>
                <a:cs typeface="Montserrat"/>
                <a:sym typeface="Montserrat"/>
              </a:rPr>
              <a:t>Source</a:t>
            </a:r>
            <a:endParaRPr b="0" i="0" sz="1626" u="none" cap="none" strike="noStrike">
              <a:solidFill>
                <a:srgbClr val="FFFFFF"/>
              </a:solidFill>
              <a:latin typeface="Montserrat"/>
              <a:ea typeface="Montserrat"/>
              <a:cs typeface="Montserrat"/>
              <a:sym typeface="Montserrat"/>
            </a:endParaRPr>
          </a:p>
        </p:txBody>
      </p:sp>
      <p:sp>
        <p:nvSpPr>
          <p:cNvPr id="328" name="Google Shape;328;g3ddac08760b_0_567"/>
          <p:cNvSpPr txBox="1"/>
          <p:nvPr/>
        </p:nvSpPr>
        <p:spPr>
          <a:xfrm>
            <a:off x="5896558" y="1811025"/>
            <a:ext cx="1101600" cy="446400"/>
          </a:xfrm>
          <a:prstGeom prst="rect">
            <a:avLst/>
          </a:prstGeom>
          <a:noFill/>
          <a:ln>
            <a:noFill/>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626"/>
              <a:buFont typeface="Arial"/>
              <a:buNone/>
            </a:pPr>
            <a:r>
              <a:rPr b="0" i="0" lang="en-GB" sz="1626" u="none" cap="none" strike="noStrike">
                <a:solidFill>
                  <a:srgbClr val="FFFFFF"/>
                </a:solidFill>
                <a:latin typeface="Montserrat"/>
                <a:ea typeface="Montserrat"/>
                <a:cs typeface="Montserrat"/>
                <a:sym typeface="Montserrat"/>
              </a:rPr>
              <a:t>Header</a:t>
            </a:r>
            <a:endParaRPr b="0" i="0" sz="1626" u="none" cap="none" strike="noStrike">
              <a:solidFill>
                <a:srgbClr val="FFFFFF"/>
              </a:solidFill>
              <a:latin typeface="Montserrat"/>
              <a:ea typeface="Montserrat"/>
              <a:cs typeface="Montserrat"/>
              <a:sym typeface="Montserrat"/>
            </a:endParaRPr>
          </a:p>
        </p:txBody>
      </p:sp>
      <p:sp>
        <p:nvSpPr>
          <p:cNvPr id="329" name="Google Shape;329;g3ddac08760b_0_567"/>
          <p:cNvSpPr/>
          <p:nvPr/>
        </p:nvSpPr>
        <p:spPr>
          <a:xfrm>
            <a:off x="3245759" y="2257476"/>
            <a:ext cx="651600" cy="147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30" name="Google Shape;330;g3ddac08760b_0_567"/>
          <p:cNvSpPr/>
          <p:nvPr/>
        </p:nvSpPr>
        <p:spPr>
          <a:xfrm>
            <a:off x="2370629" y="2805082"/>
            <a:ext cx="1410600" cy="147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31" name="Google Shape;331;g3ddac08760b_0_567"/>
          <p:cNvSpPr/>
          <p:nvPr/>
        </p:nvSpPr>
        <p:spPr>
          <a:xfrm>
            <a:off x="2025183" y="3355620"/>
            <a:ext cx="1289400" cy="147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32" name="Google Shape;332;g3ddac08760b_0_567"/>
          <p:cNvSpPr/>
          <p:nvPr/>
        </p:nvSpPr>
        <p:spPr>
          <a:xfrm>
            <a:off x="1712076" y="4249397"/>
            <a:ext cx="1163400" cy="147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33" name="Google Shape;333;g3ddac08760b_0_567"/>
          <p:cNvSpPr/>
          <p:nvPr/>
        </p:nvSpPr>
        <p:spPr>
          <a:xfrm>
            <a:off x="1692038" y="4959420"/>
            <a:ext cx="3854400" cy="519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pic>
        <p:nvPicPr>
          <p:cNvPr id="334" name="Google Shape;334;g3ddac08760b_0_567"/>
          <p:cNvPicPr preferRelativeResize="0"/>
          <p:nvPr/>
        </p:nvPicPr>
        <p:blipFill rotWithShape="1">
          <a:blip r:embed="rId6">
            <a:alphaModFix/>
          </a:blip>
          <a:srcRect b="0" l="0" r="0" t="0"/>
          <a:stretch/>
        </p:blipFill>
        <p:spPr>
          <a:xfrm>
            <a:off x="7140050" y="2346950"/>
            <a:ext cx="4840531" cy="2574753"/>
          </a:xfrm>
          <a:prstGeom prst="rect">
            <a:avLst/>
          </a:prstGeom>
          <a:noFill/>
          <a:ln cap="flat" cmpd="sng" w="12900">
            <a:solidFill>
              <a:srgbClr val="595959"/>
            </a:solidFill>
            <a:prstDash val="solid"/>
            <a:round/>
            <a:headEnd len="sm" w="sm" type="none"/>
            <a:tailEnd len="sm" w="sm" type="none"/>
          </a:ln>
        </p:spPr>
      </p:pic>
      <p:sp>
        <p:nvSpPr>
          <p:cNvPr id="335" name="Google Shape;335;g3ddac08760b_0_567"/>
          <p:cNvSpPr/>
          <p:nvPr/>
        </p:nvSpPr>
        <p:spPr>
          <a:xfrm>
            <a:off x="7200828" y="2375405"/>
            <a:ext cx="2445300" cy="4554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
        <p:nvSpPr>
          <p:cNvPr id="336" name="Google Shape;336;g3ddac08760b_0_567"/>
          <p:cNvSpPr/>
          <p:nvPr/>
        </p:nvSpPr>
        <p:spPr>
          <a:xfrm>
            <a:off x="7200828" y="3872912"/>
            <a:ext cx="3134100" cy="276900"/>
          </a:xfrm>
          <a:prstGeom prst="rect">
            <a:avLst/>
          </a:prstGeom>
          <a:noFill/>
          <a:ln cap="flat" cmpd="sng" w="25825">
            <a:solidFill>
              <a:srgbClr val="FF0000"/>
            </a:solidFill>
            <a:prstDash val="solid"/>
            <a:round/>
            <a:headEnd len="sm" w="sm" type="none"/>
            <a:tailEnd len="sm" w="sm" type="none"/>
          </a:ln>
        </p:spPr>
        <p:txBody>
          <a:bodyPr anchorCtr="0" anchor="ctr" bIns="123900" lIns="123900" spcFirstLastPara="1" rIns="123900" wrap="square" tIns="123900">
            <a:noAutofit/>
          </a:bodyPr>
          <a:lstStyle/>
          <a:p>
            <a:pPr indent="0" lvl="0" marL="0" marR="0" rtl="0" algn="ctr">
              <a:lnSpc>
                <a:spcPct val="100000"/>
              </a:lnSpc>
              <a:spcBef>
                <a:spcPts val="0"/>
              </a:spcBef>
              <a:spcAft>
                <a:spcPts val="0"/>
              </a:spcAft>
              <a:buClr>
                <a:srgbClr val="000000"/>
              </a:buClr>
              <a:buSzPts val="1897"/>
              <a:buFont typeface="Arial"/>
              <a:buNone/>
            </a:pPr>
            <a:r>
              <a:t/>
            </a:r>
            <a:endParaRPr b="0" i="0" sz="1897"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g3ddac08760b_0_41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342" name="Google Shape;342;g3ddac08760b_0_41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Properties Replication</a:t>
            </a:r>
            <a:endParaRPr b="1" i="0" sz="1100" u="none" cap="none" strike="noStrike">
              <a:solidFill>
                <a:srgbClr val="FF0000"/>
              </a:solidFill>
              <a:latin typeface="Montserrat"/>
              <a:ea typeface="Montserrat"/>
              <a:cs typeface="Montserrat"/>
              <a:sym typeface="Montserrat"/>
            </a:endParaRPr>
          </a:p>
        </p:txBody>
      </p:sp>
      <p:sp>
        <p:nvSpPr>
          <p:cNvPr id="343" name="Google Shape;343;g3ddac08760b_0_41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4" name="Google Shape;344;g3ddac08760b_0_410"/>
          <p:cNvSpPr/>
          <p:nvPr/>
        </p:nvSpPr>
        <p:spPr>
          <a:xfrm>
            <a:off x="9859136" y="129661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5" name="Google Shape;345;g3ddac08760b_0_410"/>
          <p:cNvSpPr/>
          <p:nvPr/>
        </p:nvSpPr>
        <p:spPr>
          <a:xfrm>
            <a:off x="7133563" y="1286914"/>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6" name="Google Shape;346;g3ddac08760b_0_410"/>
          <p:cNvSpPr/>
          <p:nvPr/>
        </p:nvSpPr>
        <p:spPr>
          <a:xfrm>
            <a:off x="4231939" y="128688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347" name="Google Shape;347;g3ddac08760b_0_410"/>
          <p:cNvPicPr preferRelativeResize="0"/>
          <p:nvPr/>
        </p:nvPicPr>
        <p:blipFill rotWithShape="1">
          <a:blip r:embed="rId4">
            <a:alphaModFix/>
          </a:blip>
          <a:srcRect b="0" l="0" r="0" t="0"/>
          <a:stretch/>
        </p:blipFill>
        <p:spPr>
          <a:xfrm>
            <a:off x="4403932" y="1711392"/>
            <a:ext cx="890108" cy="890103"/>
          </a:xfrm>
          <a:prstGeom prst="rect">
            <a:avLst/>
          </a:prstGeom>
          <a:noFill/>
          <a:ln>
            <a:noFill/>
          </a:ln>
        </p:spPr>
      </p:pic>
      <p:pic>
        <p:nvPicPr>
          <p:cNvPr id="348" name="Google Shape;348;g3ddac08760b_0_410"/>
          <p:cNvPicPr preferRelativeResize="0"/>
          <p:nvPr/>
        </p:nvPicPr>
        <p:blipFill rotWithShape="1">
          <a:blip r:embed="rId5">
            <a:alphaModFix/>
          </a:blip>
          <a:srcRect b="15027" l="0" r="0" t="21754"/>
          <a:stretch/>
        </p:blipFill>
        <p:spPr>
          <a:xfrm>
            <a:off x="4280143" y="4487238"/>
            <a:ext cx="1137654" cy="719196"/>
          </a:xfrm>
          <a:prstGeom prst="rect">
            <a:avLst/>
          </a:prstGeom>
          <a:noFill/>
          <a:ln>
            <a:noFill/>
          </a:ln>
        </p:spPr>
      </p:pic>
      <p:cxnSp>
        <p:nvCxnSpPr>
          <p:cNvPr id="349" name="Google Shape;349;g3ddac08760b_0_410"/>
          <p:cNvCxnSpPr>
            <a:stCxn id="347" idx="2"/>
            <a:endCxn id="348" idx="0"/>
          </p:cNvCxnSpPr>
          <p:nvPr/>
        </p:nvCxnSpPr>
        <p:spPr>
          <a:xfrm>
            <a:off x="4848986" y="2601496"/>
            <a:ext cx="0" cy="1885800"/>
          </a:xfrm>
          <a:prstGeom prst="straightConnector1">
            <a:avLst/>
          </a:prstGeom>
          <a:noFill/>
          <a:ln cap="flat" cmpd="sng" w="38100">
            <a:solidFill>
              <a:schemeClr val="dk2"/>
            </a:solidFill>
            <a:prstDash val="solid"/>
            <a:round/>
            <a:headEnd len="sm" w="sm" type="none"/>
            <a:tailEnd len="sm" w="sm" type="none"/>
          </a:ln>
        </p:spPr>
      </p:cxnSp>
      <p:sp>
        <p:nvSpPr>
          <p:cNvPr id="350" name="Google Shape;350;g3ddac08760b_0_410"/>
          <p:cNvSpPr txBox="1"/>
          <p:nvPr/>
        </p:nvSpPr>
        <p:spPr>
          <a:xfrm>
            <a:off x="4345507" y="1306213"/>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351" name="Google Shape;351;g3ddac08760b_0_410"/>
          <p:cNvSpPr txBox="1"/>
          <p:nvPr/>
        </p:nvSpPr>
        <p:spPr>
          <a:xfrm>
            <a:off x="4318508" y="5206479"/>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352" name="Google Shape;352;g3ddac08760b_0_410"/>
          <p:cNvSpPr/>
          <p:nvPr/>
        </p:nvSpPr>
        <p:spPr>
          <a:xfrm>
            <a:off x="5628468" y="1807491"/>
            <a:ext cx="584700" cy="584700"/>
          </a:xfrm>
          <a:prstGeom prst="cube">
            <a:avLst>
              <a:gd fmla="val 25000" name="adj"/>
            </a:avLst>
          </a:prstGeom>
          <a:solidFill>
            <a:srgbClr val="0000FF"/>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53" name="Google Shape;353;g3ddac08760b_0_410"/>
          <p:cNvSpPr txBox="1"/>
          <p:nvPr/>
        </p:nvSpPr>
        <p:spPr>
          <a:xfrm>
            <a:off x="5229800" y="2431961"/>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54" name="Google Shape;354;g3ddac08760b_0_410"/>
          <p:cNvSpPr txBox="1"/>
          <p:nvPr/>
        </p:nvSpPr>
        <p:spPr>
          <a:xfrm>
            <a:off x="5164400" y="1412850"/>
            <a:ext cx="14067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1" lang="en-GB" sz="1200">
                <a:solidFill>
                  <a:srgbClr val="FF0000"/>
                </a:solidFill>
                <a:latin typeface="Montserrat"/>
                <a:ea typeface="Montserrat"/>
                <a:cs typeface="Montserrat"/>
                <a:sym typeface="Montserrat"/>
              </a:rPr>
              <a:t>Color = blue</a:t>
            </a:r>
            <a:endParaRPr b="1" i="0" sz="1200" u="none" cap="none" strike="noStrike">
              <a:solidFill>
                <a:srgbClr val="FF0000"/>
              </a:solidFill>
              <a:latin typeface="Montserrat"/>
              <a:ea typeface="Montserrat"/>
              <a:cs typeface="Montserrat"/>
              <a:sym typeface="Montserrat"/>
            </a:endParaRPr>
          </a:p>
        </p:txBody>
      </p:sp>
      <p:pic>
        <p:nvPicPr>
          <p:cNvPr id="355" name="Google Shape;355;g3ddac08760b_0_410"/>
          <p:cNvPicPr preferRelativeResize="0"/>
          <p:nvPr/>
        </p:nvPicPr>
        <p:blipFill rotWithShape="1">
          <a:blip r:embed="rId4">
            <a:alphaModFix/>
          </a:blip>
          <a:srcRect b="0" l="0" r="0" t="0"/>
          <a:stretch/>
        </p:blipFill>
        <p:spPr>
          <a:xfrm>
            <a:off x="7305556" y="1711423"/>
            <a:ext cx="890108" cy="890103"/>
          </a:xfrm>
          <a:prstGeom prst="rect">
            <a:avLst/>
          </a:prstGeom>
          <a:noFill/>
          <a:ln>
            <a:noFill/>
          </a:ln>
        </p:spPr>
      </p:pic>
      <p:pic>
        <p:nvPicPr>
          <p:cNvPr id="356" name="Google Shape;356;g3ddac08760b_0_410"/>
          <p:cNvPicPr preferRelativeResize="0"/>
          <p:nvPr/>
        </p:nvPicPr>
        <p:blipFill rotWithShape="1">
          <a:blip r:embed="rId5">
            <a:alphaModFix/>
          </a:blip>
          <a:srcRect b="15027" l="0" r="0" t="21754"/>
          <a:stretch/>
        </p:blipFill>
        <p:spPr>
          <a:xfrm>
            <a:off x="7181767" y="4487267"/>
            <a:ext cx="1137654" cy="719196"/>
          </a:xfrm>
          <a:prstGeom prst="rect">
            <a:avLst/>
          </a:prstGeom>
          <a:noFill/>
          <a:ln>
            <a:noFill/>
          </a:ln>
        </p:spPr>
      </p:pic>
      <p:cxnSp>
        <p:nvCxnSpPr>
          <p:cNvPr id="357" name="Google Shape;357;g3ddac08760b_0_410"/>
          <p:cNvCxnSpPr>
            <a:stCxn id="355" idx="2"/>
            <a:endCxn id="356" idx="0"/>
          </p:cNvCxnSpPr>
          <p:nvPr/>
        </p:nvCxnSpPr>
        <p:spPr>
          <a:xfrm>
            <a:off x="7750610" y="2601526"/>
            <a:ext cx="0" cy="1885800"/>
          </a:xfrm>
          <a:prstGeom prst="straightConnector1">
            <a:avLst/>
          </a:prstGeom>
          <a:noFill/>
          <a:ln cap="flat" cmpd="sng" w="38100">
            <a:solidFill>
              <a:schemeClr val="dk2"/>
            </a:solidFill>
            <a:prstDash val="solid"/>
            <a:round/>
            <a:headEnd len="sm" w="sm" type="none"/>
            <a:tailEnd len="sm" w="sm" type="none"/>
          </a:ln>
        </p:spPr>
      </p:cxnSp>
      <p:sp>
        <p:nvSpPr>
          <p:cNvPr id="358" name="Google Shape;358;g3ddac08760b_0_410"/>
          <p:cNvSpPr txBox="1"/>
          <p:nvPr/>
        </p:nvSpPr>
        <p:spPr>
          <a:xfrm>
            <a:off x="7220143" y="1306246"/>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359" name="Google Shape;359;g3ddac08760b_0_410"/>
          <p:cNvSpPr txBox="1"/>
          <p:nvPr/>
        </p:nvSpPr>
        <p:spPr>
          <a:xfrm>
            <a:off x="7166230" y="5206513"/>
            <a:ext cx="1168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360" name="Google Shape;360;g3ddac08760b_0_410"/>
          <p:cNvSpPr txBox="1"/>
          <p:nvPr/>
        </p:nvSpPr>
        <p:spPr>
          <a:xfrm>
            <a:off x="8131424" y="243199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61" name="Google Shape;361;g3ddac08760b_0_410"/>
          <p:cNvSpPr/>
          <p:nvPr/>
        </p:nvSpPr>
        <p:spPr>
          <a:xfrm>
            <a:off x="8476890" y="1807551"/>
            <a:ext cx="584700" cy="584700"/>
          </a:xfrm>
          <a:prstGeom prst="cube">
            <a:avLst>
              <a:gd fmla="val 25000" name="adj"/>
            </a:avLst>
          </a:prstGeom>
          <a:solidFill>
            <a:srgbClr val="0000FF"/>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362" name="Google Shape;362;g3ddac08760b_0_410"/>
          <p:cNvCxnSpPr/>
          <p:nvPr/>
        </p:nvCxnSpPr>
        <p:spPr>
          <a:xfrm>
            <a:off x="7965982" y="2729653"/>
            <a:ext cx="0" cy="1701300"/>
          </a:xfrm>
          <a:prstGeom prst="straightConnector1">
            <a:avLst/>
          </a:prstGeom>
          <a:noFill/>
          <a:ln cap="flat" cmpd="sng" w="25400">
            <a:solidFill>
              <a:srgbClr val="FF0000"/>
            </a:solidFill>
            <a:prstDash val="solid"/>
            <a:round/>
            <a:headEnd len="sm" w="sm" type="none"/>
            <a:tailEnd len="med" w="med" type="triangle"/>
          </a:ln>
        </p:spPr>
      </p:cxnSp>
      <p:sp>
        <p:nvSpPr>
          <p:cNvPr id="363" name="Google Shape;363;g3ddac08760b_0_410"/>
          <p:cNvSpPr txBox="1"/>
          <p:nvPr/>
        </p:nvSpPr>
        <p:spPr>
          <a:xfrm>
            <a:off x="8050413" y="3018475"/>
            <a:ext cx="1359600" cy="12306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lang="en-GB" sz="1100">
                <a:solidFill>
                  <a:schemeClr val="dk1"/>
                </a:solidFill>
                <a:latin typeface="Montserrat"/>
                <a:ea typeface="Montserrat"/>
                <a:cs typeface="Montserrat"/>
                <a:sym typeface="Montserrat"/>
              </a:rPr>
              <a:t>L’informazione viene inviata al Client attraverso lo UActorChannel.</a:t>
            </a:r>
            <a:endParaRPr sz="1100">
              <a:solidFill>
                <a:schemeClr val="dk1"/>
              </a:solidFill>
              <a:latin typeface="Montserrat"/>
              <a:ea typeface="Montserrat"/>
              <a:cs typeface="Montserrat"/>
              <a:sym typeface="Montserrat"/>
            </a:endParaRPr>
          </a:p>
        </p:txBody>
      </p:sp>
      <p:pic>
        <p:nvPicPr>
          <p:cNvPr id="364" name="Google Shape;364;g3ddac08760b_0_410"/>
          <p:cNvPicPr preferRelativeResize="0"/>
          <p:nvPr/>
        </p:nvPicPr>
        <p:blipFill rotWithShape="1">
          <a:blip r:embed="rId4">
            <a:alphaModFix/>
          </a:blip>
          <a:srcRect b="0" l="0" r="0" t="0"/>
          <a:stretch/>
        </p:blipFill>
        <p:spPr>
          <a:xfrm>
            <a:off x="10031130" y="1721123"/>
            <a:ext cx="890108" cy="890103"/>
          </a:xfrm>
          <a:prstGeom prst="rect">
            <a:avLst/>
          </a:prstGeom>
          <a:noFill/>
          <a:ln>
            <a:noFill/>
          </a:ln>
        </p:spPr>
      </p:pic>
      <p:pic>
        <p:nvPicPr>
          <p:cNvPr id="365" name="Google Shape;365;g3ddac08760b_0_410"/>
          <p:cNvPicPr preferRelativeResize="0"/>
          <p:nvPr/>
        </p:nvPicPr>
        <p:blipFill rotWithShape="1">
          <a:blip r:embed="rId5">
            <a:alphaModFix/>
          </a:blip>
          <a:srcRect b="15027" l="0" r="0" t="21754"/>
          <a:stretch/>
        </p:blipFill>
        <p:spPr>
          <a:xfrm>
            <a:off x="9907340" y="4496967"/>
            <a:ext cx="1137654" cy="719196"/>
          </a:xfrm>
          <a:prstGeom prst="rect">
            <a:avLst/>
          </a:prstGeom>
          <a:noFill/>
          <a:ln>
            <a:noFill/>
          </a:ln>
        </p:spPr>
      </p:pic>
      <p:cxnSp>
        <p:nvCxnSpPr>
          <p:cNvPr id="366" name="Google Shape;366;g3ddac08760b_0_410"/>
          <p:cNvCxnSpPr>
            <a:stCxn id="364" idx="2"/>
            <a:endCxn id="365" idx="0"/>
          </p:cNvCxnSpPr>
          <p:nvPr/>
        </p:nvCxnSpPr>
        <p:spPr>
          <a:xfrm>
            <a:off x="10476184" y="2611226"/>
            <a:ext cx="0" cy="1885800"/>
          </a:xfrm>
          <a:prstGeom prst="straightConnector1">
            <a:avLst/>
          </a:prstGeom>
          <a:noFill/>
          <a:ln cap="flat" cmpd="sng" w="38100">
            <a:solidFill>
              <a:schemeClr val="dk2"/>
            </a:solidFill>
            <a:prstDash val="solid"/>
            <a:round/>
            <a:headEnd len="sm" w="sm" type="none"/>
            <a:tailEnd len="sm" w="sm" type="none"/>
          </a:ln>
        </p:spPr>
      </p:cxnSp>
      <p:sp>
        <p:nvSpPr>
          <p:cNvPr id="367" name="Google Shape;367;g3ddac08760b_0_410"/>
          <p:cNvSpPr txBox="1"/>
          <p:nvPr/>
        </p:nvSpPr>
        <p:spPr>
          <a:xfrm>
            <a:off x="9972675" y="131594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368" name="Google Shape;368;g3ddac08760b_0_410"/>
          <p:cNvSpPr txBox="1"/>
          <p:nvPr/>
        </p:nvSpPr>
        <p:spPr>
          <a:xfrm>
            <a:off x="9945710" y="5216213"/>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369" name="Google Shape;369;g3ddac08760b_0_410"/>
          <p:cNvSpPr txBox="1"/>
          <p:nvPr/>
        </p:nvSpPr>
        <p:spPr>
          <a:xfrm>
            <a:off x="10856998" y="244169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70" name="Google Shape;370;g3ddac08760b_0_410"/>
          <p:cNvSpPr/>
          <p:nvPr/>
        </p:nvSpPr>
        <p:spPr>
          <a:xfrm>
            <a:off x="11202463" y="1817251"/>
            <a:ext cx="584700" cy="584700"/>
          </a:xfrm>
          <a:prstGeom prst="cube">
            <a:avLst>
              <a:gd fmla="val 25000" name="adj"/>
            </a:avLst>
          </a:prstGeom>
          <a:solidFill>
            <a:srgbClr val="0000FF"/>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1" name="Google Shape;371;g3ddac08760b_0_410"/>
          <p:cNvSpPr txBox="1"/>
          <p:nvPr/>
        </p:nvSpPr>
        <p:spPr>
          <a:xfrm>
            <a:off x="10856998" y="515004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72" name="Google Shape;372;g3ddac08760b_0_410"/>
          <p:cNvSpPr/>
          <p:nvPr/>
        </p:nvSpPr>
        <p:spPr>
          <a:xfrm>
            <a:off x="11202463" y="4525609"/>
            <a:ext cx="584700" cy="584700"/>
          </a:xfrm>
          <a:prstGeom prst="cube">
            <a:avLst>
              <a:gd fmla="val 25000" name="adj"/>
            </a:avLst>
          </a:prstGeom>
          <a:solidFill>
            <a:srgbClr val="0000FF"/>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3" name="Google Shape;373;g3ddac08760b_0_410"/>
          <p:cNvSpPr/>
          <p:nvPr/>
        </p:nvSpPr>
        <p:spPr>
          <a:xfrm>
            <a:off x="1284961" y="1296565"/>
            <a:ext cx="2228400" cy="4274400"/>
          </a:xfrm>
          <a:prstGeom prst="rect">
            <a:avLst/>
          </a:prstGeom>
          <a:no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374" name="Google Shape;374;g3ddac08760b_0_410"/>
          <p:cNvPicPr preferRelativeResize="0"/>
          <p:nvPr/>
        </p:nvPicPr>
        <p:blipFill rotWithShape="1">
          <a:blip r:embed="rId4">
            <a:alphaModFix/>
          </a:blip>
          <a:srcRect b="0" l="0" r="0" t="0"/>
          <a:stretch/>
        </p:blipFill>
        <p:spPr>
          <a:xfrm>
            <a:off x="1456955" y="1721073"/>
            <a:ext cx="890108" cy="890103"/>
          </a:xfrm>
          <a:prstGeom prst="rect">
            <a:avLst/>
          </a:prstGeom>
          <a:noFill/>
          <a:ln>
            <a:noFill/>
          </a:ln>
        </p:spPr>
      </p:pic>
      <p:pic>
        <p:nvPicPr>
          <p:cNvPr id="375" name="Google Shape;375;g3ddac08760b_0_410"/>
          <p:cNvPicPr preferRelativeResize="0"/>
          <p:nvPr/>
        </p:nvPicPr>
        <p:blipFill rotWithShape="1">
          <a:blip r:embed="rId5">
            <a:alphaModFix/>
          </a:blip>
          <a:srcRect b="15027" l="0" r="0" t="21754"/>
          <a:stretch/>
        </p:blipFill>
        <p:spPr>
          <a:xfrm>
            <a:off x="1333165" y="4496917"/>
            <a:ext cx="1137654" cy="719196"/>
          </a:xfrm>
          <a:prstGeom prst="rect">
            <a:avLst/>
          </a:prstGeom>
          <a:noFill/>
          <a:ln>
            <a:noFill/>
          </a:ln>
        </p:spPr>
      </p:pic>
      <p:cxnSp>
        <p:nvCxnSpPr>
          <p:cNvPr id="376" name="Google Shape;376;g3ddac08760b_0_410"/>
          <p:cNvCxnSpPr>
            <a:stCxn id="374" idx="2"/>
            <a:endCxn id="375" idx="0"/>
          </p:cNvCxnSpPr>
          <p:nvPr/>
        </p:nvCxnSpPr>
        <p:spPr>
          <a:xfrm>
            <a:off x="1902009" y="2611176"/>
            <a:ext cx="0" cy="1885800"/>
          </a:xfrm>
          <a:prstGeom prst="straightConnector1">
            <a:avLst/>
          </a:prstGeom>
          <a:noFill/>
          <a:ln cap="flat" cmpd="sng" w="38100">
            <a:solidFill>
              <a:schemeClr val="dk2"/>
            </a:solidFill>
            <a:prstDash val="solid"/>
            <a:round/>
            <a:headEnd len="sm" w="sm" type="none"/>
            <a:tailEnd len="sm" w="sm" type="none"/>
          </a:ln>
        </p:spPr>
      </p:cxnSp>
      <p:sp>
        <p:nvSpPr>
          <p:cNvPr id="377" name="Google Shape;377;g3ddac08760b_0_410"/>
          <p:cNvSpPr txBox="1"/>
          <p:nvPr/>
        </p:nvSpPr>
        <p:spPr>
          <a:xfrm>
            <a:off x="1398500" y="1315896"/>
            <a:ext cx="1006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Server</a:t>
            </a:r>
            <a:endParaRPr b="1" i="0" sz="1600" u="none" cap="none" strike="noStrike">
              <a:solidFill>
                <a:schemeClr val="dk1"/>
              </a:solidFill>
              <a:latin typeface="Montserrat"/>
              <a:ea typeface="Montserrat"/>
              <a:cs typeface="Montserrat"/>
              <a:sym typeface="Montserrat"/>
            </a:endParaRPr>
          </a:p>
        </p:txBody>
      </p:sp>
      <p:sp>
        <p:nvSpPr>
          <p:cNvPr id="378" name="Google Shape;378;g3ddac08760b_0_410"/>
          <p:cNvSpPr txBox="1"/>
          <p:nvPr/>
        </p:nvSpPr>
        <p:spPr>
          <a:xfrm>
            <a:off x="1371535" y="5216163"/>
            <a:ext cx="10608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chemeClr val="dk1"/>
                </a:solidFill>
                <a:latin typeface="Montserrat"/>
                <a:ea typeface="Montserrat"/>
                <a:cs typeface="Montserrat"/>
                <a:sym typeface="Montserrat"/>
              </a:rPr>
              <a:t>Client</a:t>
            </a:r>
            <a:endParaRPr b="1" i="0" sz="1600" u="none" cap="none" strike="noStrike">
              <a:solidFill>
                <a:schemeClr val="dk1"/>
              </a:solidFill>
              <a:latin typeface="Montserrat"/>
              <a:ea typeface="Montserrat"/>
              <a:cs typeface="Montserrat"/>
              <a:sym typeface="Montserrat"/>
            </a:endParaRPr>
          </a:p>
        </p:txBody>
      </p:sp>
      <p:sp>
        <p:nvSpPr>
          <p:cNvPr id="379" name="Google Shape;379;g3ddac08760b_0_410"/>
          <p:cNvSpPr txBox="1"/>
          <p:nvPr/>
        </p:nvSpPr>
        <p:spPr>
          <a:xfrm>
            <a:off x="2282823" y="2441640"/>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80" name="Google Shape;380;g3ddac08760b_0_410"/>
          <p:cNvSpPr/>
          <p:nvPr/>
        </p:nvSpPr>
        <p:spPr>
          <a:xfrm>
            <a:off x="2628288" y="1817201"/>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1" name="Google Shape;381;g3ddac08760b_0_410"/>
          <p:cNvSpPr txBox="1"/>
          <p:nvPr/>
        </p:nvSpPr>
        <p:spPr>
          <a:xfrm>
            <a:off x="2282823" y="5149997"/>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82" name="Google Shape;382;g3ddac08760b_0_410"/>
          <p:cNvSpPr/>
          <p:nvPr/>
        </p:nvSpPr>
        <p:spPr>
          <a:xfrm>
            <a:off x="2628288" y="4525559"/>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3" name="Google Shape;383;g3ddac08760b_0_410"/>
          <p:cNvSpPr txBox="1"/>
          <p:nvPr/>
        </p:nvSpPr>
        <p:spPr>
          <a:xfrm>
            <a:off x="1398500" y="5788400"/>
            <a:ext cx="10689000" cy="944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GB" sz="1600">
                <a:solidFill>
                  <a:schemeClr val="dk1"/>
                </a:solidFill>
                <a:latin typeface="Montserrat"/>
                <a:ea typeface="Montserrat"/>
                <a:cs typeface="Montserrat"/>
                <a:sym typeface="Montserrat"/>
              </a:rPr>
              <a:t>Gli Actor possono contenere una serie di Properties (Variabili, Reference, etc…) che possono o essere replicate oppure no. Se contrassegniamo una Property come Replicata, nel momento in cui verra’ modificata sul Server, tale modifica verra’ propagata a tutti i Client.</a:t>
            </a:r>
            <a:endParaRPr sz="1600">
              <a:solidFill>
                <a:schemeClr val="dk1"/>
              </a:solidFill>
              <a:latin typeface="Montserrat"/>
              <a:ea typeface="Montserrat"/>
              <a:cs typeface="Montserrat"/>
              <a:sym typeface="Montserrat"/>
            </a:endParaRPr>
          </a:p>
        </p:txBody>
      </p:sp>
      <p:sp>
        <p:nvSpPr>
          <p:cNvPr id="384" name="Google Shape;384;g3ddac08760b_0_410"/>
          <p:cNvSpPr txBox="1"/>
          <p:nvPr/>
        </p:nvSpPr>
        <p:spPr>
          <a:xfrm>
            <a:off x="5164398" y="5216222"/>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85" name="Google Shape;385;g3ddac08760b_0_410"/>
          <p:cNvSpPr/>
          <p:nvPr/>
        </p:nvSpPr>
        <p:spPr>
          <a:xfrm>
            <a:off x="5509863" y="4591784"/>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6" name="Google Shape;386;g3ddac08760b_0_410"/>
          <p:cNvSpPr txBox="1"/>
          <p:nvPr/>
        </p:nvSpPr>
        <p:spPr>
          <a:xfrm>
            <a:off x="8091348" y="5180785"/>
            <a:ext cx="1275900" cy="354900"/>
          </a:xfrm>
          <a:prstGeom prst="rect">
            <a:avLst/>
          </a:prstGeom>
          <a:no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GB" sz="1000" u="none" cap="none" strike="noStrike">
                <a:solidFill>
                  <a:schemeClr val="dk1"/>
                </a:solidFill>
                <a:latin typeface="Montserrat"/>
                <a:ea typeface="Montserrat"/>
                <a:cs typeface="Montserrat"/>
                <a:sym typeface="Montserrat"/>
              </a:rPr>
              <a:t>bReplicates = true;</a:t>
            </a:r>
            <a:endParaRPr b="0" i="0" sz="1000" u="none" cap="none" strike="noStrike">
              <a:solidFill>
                <a:schemeClr val="dk1"/>
              </a:solidFill>
              <a:latin typeface="Montserrat"/>
              <a:ea typeface="Montserrat"/>
              <a:cs typeface="Montserrat"/>
              <a:sym typeface="Montserrat"/>
            </a:endParaRPr>
          </a:p>
        </p:txBody>
      </p:sp>
      <p:sp>
        <p:nvSpPr>
          <p:cNvPr id="387" name="Google Shape;387;g3ddac08760b_0_410"/>
          <p:cNvSpPr/>
          <p:nvPr/>
        </p:nvSpPr>
        <p:spPr>
          <a:xfrm>
            <a:off x="8436813" y="4556346"/>
            <a:ext cx="584700" cy="584700"/>
          </a:xfrm>
          <a:prstGeom prst="cube">
            <a:avLst>
              <a:gd fmla="val 25000" name="adj"/>
            </a:avLst>
          </a:prstGeom>
          <a:solidFill>
            <a:schemeClr val="lt2"/>
          </a:solidFill>
          <a:ln cap="flat" cmpd="sng" w="12700">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g3ddac08760b_0_60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393" name="Google Shape;393;g3ddac08760b_0_60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a:t>
            </a:r>
            <a:r>
              <a:rPr b="1" lang="en-GB" sz="4000">
                <a:solidFill>
                  <a:schemeClr val="dk1"/>
                </a:solidFill>
                <a:latin typeface="Montserrat"/>
                <a:ea typeface="Montserrat"/>
                <a:cs typeface="Montserrat"/>
                <a:sym typeface="Montserrat"/>
              </a:rPr>
              <a:t>Property</a:t>
            </a:r>
            <a:endParaRPr b="1" i="0" sz="1100" u="none" cap="none" strike="noStrike">
              <a:solidFill>
                <a:srgbClr val="FF0000"/>
              </a:solidFill>
              <a:latin typeface="Montserrat"/>
              <a:ea typeface="Montserrat"/>
              <a:cs typeface="Montserrat"/>
              <a:sym typeface="Montserrat"/>
            </a:endParaRPr>
          </a:p>
        </p:txBody>
      </p:sp>
      <p:sp>
        <p:nvSpPr>
          <p:cNvPr id="394" name="Google Shape;394;g3ddac08760b_0_606"/>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 replicazione non e’ un processo istantaneo.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Dal momento in cui un valore viene cambiato sul Server al momento in cui tale cambiamento viene replicato ad un Client, passa del tempo.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Questo e’ dovuto dalla natura stessa dei giochi Multiplayer Online: siccome le informazioni viaggiano attraverso la rete, e’ inevitabile che queste procedure non siano istantanee.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Potrebbe essere utile sapere esattamente quando il Client ha ricevuto la versione aggiornata di un valore, magari perche’ dobbiamo aggiornare un elemento della UI o far avvenire qualcosa in gioco.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La </a:t>
            </a:r>
            <a:r>
              <a:rPr lang="en-GB" sz="1600">
                <a:solidFill>
                  <a:schemeClr val="dk1"/>
                </a:solidFill>
                <a:latin typeface="Montserrat"/>
                <a:ea typeface="Montserrat"/>
                <a:cs typeface="Montserrat"/>
                <a:sym typeface="Montserrat"/>
              </a:rPr>
              <a:t>soluzione</a:t>
            </a:r>
            <a:r>
              <a:rPr lang="en-GB" sz="1600">
                <a:solidFill>
                  <a:schemeClr val="dk1"/>
                </a:solidFill>
                <a:latin typeface="Montserrat"/>
                <a:ea typeface="Montserrat"/>
                <a:cs typeface="Montserrat"/>
                <a:sym typeface="Montserrat"/>
              </a:rPr>
              <a:t> al problema è </a:t>
            </a:r>
            <a:r>
              <a:rPr b="1" lang="en-GB" sz="1600">
                <a:solidFill>
                  <a:schemeClr val="dk1"/>
                </a:solidFill>
                <a:latin typeface="Montserrat"/>
                <a:ea typeface="Montserrat"/>
                <a:cs typeface="Montserrat"/>
                <a:sym typeface="Montserrat"/>
              </a:rPr>
              <a:t>RepNotify</a:t>
            </a:r>
            <a:r>
              <a:rPr lang="en-GB" sz="1600">
                <a:solidFill>
                  <a:schemeClr val="dk1"/>
                </a:solidFill>
                <a:latin typeface="Montserrat"/>
                <a:ea typeface="Montserrat"/>
                <a:cs typeface="Montserrat"/>
                <a:sym typeface="Montserrat"/>
              </a:rPr>
              <a:t>.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Quando noi specifichiamo che una variabile </a:t>
            </a:r>
            <a:r>
              <a:rPr lang="en-GB" sz="1600">
                <a:solidFill>
                  <a:schemeClr val="dk1"/>
                </a:solidFill>
                <a:latin typeface="Montserrat"/>
                <a:ea typeface="Montserrat"/>
                <a:cs typeface="Montserrat"/>
                <a:sym typeface="Montserrat"/>
              </a:rPr>
              <a:t>può</a:t>
            </a:r>
            <a:r>
              <a:rPr lang="en-GB" sz="1600">
                <a:solidFill>
                  <a:schemeClr val="dk1"/>
                </a:solidFill>
                <a:latin typeface="Montserrat"/>
                <a:ea typeface="Montserrat"/>
                <a:cs typeface="Montserrat"/>
                <a:sym typeface="Montserrat"/>
              </a:rPr>
              <a:t> essere replicata, possiamo dichiararla semplicemente come replicata, oppure possiamo dichiararla come </a:t>
            </a:r>
            <a:r>
              <a:rPr b="1" lang="en-GB" sz="1600">
                <a:solidFill>
                  <a:schemeClr val="dk1"/>
                </a:solidFill>
                <a:latin typeface="Montserrat"/>
                <a:ea typeface="Montserrat"/>
                <a:cs typeface="Montserrat"/>
                <a:sym typeface="Montserrat"/>
              </a:rPr>
              <a:t>RepNotify</a:t>
            </a:r>
            <a:r>
              <a:rPr lang="en-GB" sz="1600">
                <a:solidFill>
                  <a:schemeClr val="dk1"/>
                </a:solidFill>
                <a:latin typeface="Montserrat"/>
                <a:ea typeface="Montserrat"/>
                <a:cs typeface="Montserrat"/>
                <a:sym typeface="Montserrat"/>
              </a:rPr>
              <a:t>.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395" name="Google Shape;395;g3ddac08760b_0_60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g3ddac08760b_0_61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01" name="Google Shape;401;g3ddac08760b_0_61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02" name="Google Shape;402;g3ddac08760b_0_61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In Blueprint,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creata automaticamente una funzione con il nome della variabile preceduto da “</a:t>
            </a:r>
            <a:r>
              <a:rPr b="1" lang="en-GB" sz="1600">
                <a:solidFill>
                  <a:schemeClr val="dk1"/>
                </a:solidFill>
                <a:latin typeface="Montserrat"/>
                <a:ea typeface="Montserrat"/>
                <a:cs typeface="Montserrat"/>
                <a:sym typeface="Montserrat"/>
              </a:rPr>
              <a:t>OnRep_</a:t>
            </a:r>
            <a:r>
              <a:rPr lang="en-GB" sz="1600">
                <a:solidFill>
                  <a:schemeClr val="dk1"/>
                </a:solidFill>
                <a:latin typeface="Montserrat"/>
                <a:ea typeface="Montserrat"/>
                <a:cs typeface="Montserrat"/>
                <a:sym typeface="Montserrat"/>
              </a:rPr>
              <a:t>”.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Questa funziona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chiamata automaticamente su tutti i Client (incluso l’Host) nel momento in cui il valore di quella variabile viene replicato.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03" name="Google Shape;403;g3ddac08760b_0_61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04" name="Google Shape;404;g3ddac08760b_0_613"/>
          <p:cNvPicPr preferRelativeResize="0"/>
          <p:nvPr/>
        </p:nvPicPr>
        <p:blipFill rotWithShape="1">
          <a:blip r:embed="rId4">
            <a:alphaModFix/>
          </a:blip>
          <a:srcRect b="0" l="0" r="0" t="0"/>
          <a:stretch/>
        </p:blipFill>
        <p:spPr>
          <a:xfrm>
            <a:off x="2155500" y="2775300"/>
            <a:ext cx="4308298" cy="3498775"/>
          </a:xfrm>
          <a:prstGeom prst="rect">
            <a:avLst/>
          </a:prstGeom>
          <a:noFill/>
          <a:ln cap="flat" cmpd="sng" w="9525">
            <a:solidFill>
              <a:srgbClr val="595959"/>
            </a:solidFill>
            <a:prstDash val="solid"/>
            <a:round/>
            <a:headEnd len="sm" w="sm" type="none"/>
            <a:tailEnd len="sm" w="sm" type="none"/>
          </a:ln>
        </p:spPr>
      </p:pic>
      <p:pic>
        <p:nvPicPr>
          <p:cNvPr id="405" name="Google Shape;405;g3ddac08760b_0_613"/>
          <p:cNvPicPr preferRelativeResize="0"/>
          <p:nvPr/>
        </p:nvPicPr>
        <p:blipFill rotWithShape="1">
          <a:blip r:embed="rId5">
            <a:alphaModFix/>
          </a:blip>
          <a:srcRect b="0" l="0" r="0" t="0"/>
          <a:stretch/>
        </p:blipFill>
        <p:spPr>
          <a:xfrm>
            <a:off x="6726000" y="3913999"/>
            <a:ext cx="4484575" cy="122137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g3ddac08760b_0_63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11" name="Google Shape;411;g3ddac08760b_0_63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12" name="Google Shape;412;g3ddac08760b_0_63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In C++ il processo e’ manuale e bisogna usare lo Specifier “</a:t>
            </a:r>
            <a:r>
              <a:rPr b="1" lang="en-GB" sz="1600">
                <a:solidFill>
                  <a:schemeClr val="dk1"/>
                </a:solidFill>
                <a:latin typeface="Montserrat"/>
                <a:ea typeface="Montserrat"/>
                <a:cs typeface="Montserrat"/>
                <a:sym typeface="Montserrat"/>
              </a:rPr>
              <a:t>ReplicatedUsing</a:t>
            </a:r>
            <a:r>
              <a:rPr lang="en-GB" sz="1600">
                <a:solidFill>
                  <a:schemeClr val="dk1"/>
                </a:solidFill>
                <a:latin typeface="Montserrat"/>
                <a:ea typeface="Montserrat"/>
                <a:cs typeface="Montserrat"/>
                <a:sym typeface="Montserrat"/>
              </a:rPr>
              <a:t>” seguito dal nome della funzione che </a:t>
            </a:r>
            <a:r>
              <a:rPr lang="en-GB" sz="1600">
                <a:solidFill>
                  <a:schemeClr val="dk1"/>
                </a:solidFill>
                <a:latin typeface="Montserrat"/>
                <a:ea typeface="Montserrat"/>
                <a:cs typeface="Montserrat"/>
                <a:sym typeface="Montserrat"/>
              </a:rPr>
              <a:t>dovrà</a:t>
            </a:r>
            <a:r>
              <a:rPr lang="en-GB" sz="1600">
                <a:solidFill>
                  <a:schemeClr val="dk1"/>
                </a:solidFill>
                <a:latin typeface="Montserrat"/>
                <a:ea typeface="Montserrat"/>
                <a:cs typeface="Montserrat"/>
                <a:sym typeface="Montserrat"/>
              </a:rPr>
              <a:t> essere chiamata quando la variabile </a:t>
            </a:r>
            <a:r>
              <a:rPr lang="en-GB" sz="1600">
                <a:solidFill>
                  <a:schemeClr val="dk1"/>
                </a:solidFill>
                <a:latin typeface="Montserrat"/>
                <a:ea typeface="Montserrat"/>
                <a:cs typeface="Montserrat"/>
                <a:sym typeface="Montserrat"/>
              </a:rPr>
              <a:t>sarà</a:t>
            </a:r>
            <a:r>
              <a:rPr lang="en-GB" sz="1600">
                <a:solidFill>
                  <a:schemeClr val="dk1"/>
                </a:solidFill>
                <a:latin typeface="Montserrat"/>
                <a:ea typeface="Montserrat"/>
                <a:cs typeface="Montserrat"/>
                <a:sym typeface="Montserrat"/>
              </a:rPr>
              <a:t> replicata.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La Naming Convention vuole che anche in C++ le funzioni create, per essere usate come </a:t>
            </a:r>
            <a:r>
              <a:rPr b="1" lang="en-GB" sz="1600">
                <a:solidFill>
                  <a:schemeClr val="dk1"/>
                </a:solidFill>
                <a:latin typeface="Montserrat"/>
                <a:ea typeface="Montserrat"/>
                <a:cs typeface="Montserrat"/>
                <a:sym typeface="Montserrat"/>
              </a:rPr>
              <a:t>RepNotify, </a:t>
            </a:r>
            <a:r>
              <a:rPr lang="en-GB" sz="1600">
                <a:solidFill>
                  <a:schemeClr val="dk1"/>
                </a:solidFill>
                <a:latin typeface="Montserrat"/>
                <a:ea typeface="Montserrat"/>
                <a:cs typeface="Montserrat"/>
                <a:sym typeface="Montserrat"/>
              </a:rPr>
              <a:t>seguano</a:t>
            </a:r>
            <a:r>
              <a:rPr lang="en-GB" sz="1600">
                <a:solidFill>
                  <a:schemeClr val="dk1"/>
                </a:solidFill>
                <a:latin typeface="Montserrat"/>
                <a:ea typeface="Montserrat"/>
                <a:cs typeface="Montserrat"/>
                <a:sym typeface="Montserrat"/>
              </a:rPr>
              <a:t> la sintassi “</a:t>
            </a:r>
            <a:r>
              <a:rPr b="1" lang="en-GB" sz="1600">
                <a:solidFill>
                  <a:schemeClr val="dk1"/>
                </a:solidFill>
                <a:latin typeface="Montserrat"/>
                <a:ea typeface="Montserrat"/>
                <a:cs typeface="Montserrat"/>
                <a:sym typeface="Montserrat"/>
              </a:rPr>
              <a:t>OnRep_</a:t>
            </a:r>
            <a:r>
              <a:rPr lang="en-GB" sz="1600">
                <a:solidFill>
                  <a:schemeClr val="dk1"/>
                </a:solidFill>
                <a:latin typeface="Montserrat"/>
                <a:ea typeface="Montserrat"/>
                <a:cs typeface="Montserrat"/>
                <a:sym typeface="Montserrat"/>
              </a:rPr>
              <a:t>” seguito dal nome della variabile associata.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13" name="Google Shape;413;g3ddac08760b_0_63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14" name="Google Shape;414;g3ddac08760b_0_630"/>
          <p:cNvPicPr preferRelativeResize="0"/>
          <p:nvPr/>
        </p:nvPicPr>
        <p:blipFill rotWithShape="1">
          <a:blip r:embed="rId4">
            <a:alphaModFix/>
          </a:blip>
          <a:srcRect b="0" l="0" r="0" t="0"/>
          <a:stretch/>
        </p:blipFill>
        <p:spPr>
          <a:xfrm>
            <a:off x="2276627" y="3202700"/>
            <a:ext cx="8864576" cy="225202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g3ddac08760b_0_64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20" name="Google Shape;420;g3ddac08760b_0_64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21" name="Google Shape;421;g3ddac08760b_0_64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Tuttavia, c’e’ una differenza </a:t>
            </a:r>
            <a:r>
              <a:rPr b="1" lang="en-GB" sz="1600">
                <a:solidFill>
                  <a:schemeClr val="dk1"/>
                </a:solidFill>
                <a:latin typeface="Montserrat"/>
                <a:ea typeface="Montserrat"/>
                <a:cs typeface="Montserrat"/>
                <a:sym typeface="Montserrat"/>
              </a:rPr>
              <a:t>ESTREMAMENTE </a:t>
            </a:r>
            <a:r>
              <a:rPr lang="en-GB" sz="1600">
                <a:solidFill>
                  <a:schemeClr val="dk1"/>
                </a:solidFill>
                <a:latin typeface="Montserrat"/>
                <a:ea typeface="Montserrat"/>
                <a:cs typeface="Montserrat"/>
                <a:sym typeface="Montserrat"/>
              </a:rPr>
              <a:t>importante fra Blueprint e C++.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Mentre in Blueprint le funzioni </a:t>
            </a:r>
            <a:r>
              <a:rPr b="1" lang="en-GB" sz="1600">
                <a:solidFill>
                  <a:schemeClr val="dk1"/>
                </a:solidFill>
                <a:latin typeface="Montserrat"/>
                <a:ea typeface="Montserrat"/>
                <a:cs typeface="Montserrat"/>
                <a:sym typeface="Montserrat"/>
              </a:rPr>
              <a:t>RepNotify </a:t>
            </a:r>
            <a:r>
              <a:rPr lang="en-GB" sz="1600">
                <a:solidFill>
                  <a:schemeClr val="dk1"/>
                </a:solidFill>
                <a:latin typeface="Montserrat"/>
                <a:ea typeface="Montserrat"/>
                <a:cs typeface="Montserrat"/>
                <a:sym typeface="Montserrat"/>
              </a:rPr>
              <a:t>vengono eseguite sia sui Client che sul Server, in C++ invece vengono eseguite </a:t>
            </a:r>
            <a:r>
              <a:rPr b="1" lang="en-GB" sz="1600">
                <a:solidFill>
                  <a:schemeClr val="dk1"/>
                </a:solidFill>
                <a:latin typeface="Montserrat"/>
                <a:ea typeface="Montserrat"/>
                <a:cs typeface="Montserrat"/>
                <a:sym typeface="Montserrat"/>
              </a:rPr>
              <a:t>SOLO </a:t>
            </a:r>
            <a:r>
              <a:rPr lang="en-GB" sz="1600">
                <a:solidFill>
                  <a:schemeClr val="dk1"/>
                </a:solidFill>
                <a:latin typeface="Montserrat"/>
                <a:ea typeface="Montserrat"/>
                <a:cs typeface="Montserrat"/>
                <a:sym typeface="Montserrat"/>
              </a:rPr>
              <a:t>sui Client.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Perché in C++ funziona così?</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Il Server sa già subito che ha cambiato il valore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Non ha bisogno di “notificarsi da solo”</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 Client invece ricevono il cambiamento con ritardo, quindi hanno bisogno di OnRep</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Lato blueprint, la chiamata OnRep_ viene fatta automaticamente per semplificare i flussi.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600"/>
              <a:buFont typeface="Arial"/>
              <a:buNone/>
            </a:pPr>
            <a:r>
              <a:rPr b="1" lang="en-GB" sz="1800">
                <a:solidFill>
                  <a:schemeClr val="dk1"/>
                </a:solidFill>
                <a:latin typeface="Montserrat"/>
                <a:ea typeface="Montserrat"/>
                <a:cs typeface="Montserrat"/>
                <a:sym typeface="Montserrat"/>
              </a:rPr>
              <a:t>Ma quindi cosa succede se sono in </a:t>
            </a:r>
            <a:r>
              <a:rPr b="1" lang="en-GB" sz="1800">
                <a:solidFill>
                  <a:schemeClr val="dk1"/>
                </a:solidFill>
                <a:latin typeface="Montserrat"/>
                <a:ea typeface="Montserrat"/>
                <a:cs typeface="Montserrat"/>
                <a:sym typeface="Montserrat"/>
              </a:rPr>
              <a:t>un'architettura</a:t>
            </a:r>
            <a:r>
              <a:rPr b="1" lang="en-GB" sz="1800">
                <a:solidFill>
                  <a:schemeClr val="dk1"/>
                </a:solidFill>
                <a:latin typeface="Montserrat"/>
                <a:ea typeface="Montserrat"/>
                <a:cs typeface="Montserrat"/>
                <a:sym typeface="Montserrat"/>
              </a:rPr>
              <a:t> </a:t>
            </a:r>
            <a:r>
              <a:rPr b="1" lang="en-GB" sz="1800">
                <a:solidFill>
                  <a:schemeClr val="dk1"/>
                </a:solidFill>
                <a:latin typeface="Montserrat"/>
                <a:ea typeface="Montserrat"/>
                <a:cs typeface="Montserrat"/>
                <a:sym typeface="Montserrat"/>
              </a:rPr>
              <a:t>Client</a:t>
            </a:r>
            <a:r>
              <a:rPr b="1" lang="en-GB" sz="1800">
                <a:solidFill>
                  <a:schemeClr val="dk1"/>
                </a:solidFill>
                <a:latin typeface="Montserrat"/>
                <a:ea typeface="Montserrat"/>
                <a:cs typeface="Montserrat"/>
                <a:sym typeface="Montserrat"/>
              </a:rPr>
              <a:t>-Host dove un client è anche il server?</a:t>
            </a:r>
            <a:endParaRPr b="1" sz="18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22" name="Google Shape;422;g3ddac08760b_0_64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pic>
        <p:nvPicPr>
          <p:cNvPr id="427" name="Google Shape;427;g3ddac08760b_0_64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28" name="Google Shape;428;g3ddac08760b_0_64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29" name="Google Shape;429;g3ddac08760b_0_648"/>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Tuttavia, c’e’ una differenza </a:t>
            </a:r>
            <a:r>
              <a:rPr b="1" lang="en-GB" sz="1600">
                <a:solidFill>
                  <a:schemeClr val="dk1"/>
                </a:solidFill>
                <a:latin typeface="Montserrat"/>
                <a:ea typeface="Montserrat"/>
                <a:cs typeface="Montserrat"/>
                <a:sym typeface="Montserrat"/>
              </a:rPr>
              <a:t>ESTREMAMENTE </a:t>
            </a:r>
            <a:r>
              <a:rPr lang="en-GB" sz="1600">
                <a:solidFill>
                  <a:schemeClr val="dk1"/>
                </a:solidFill>
                <a:latin typeface="Montserrat"/>
                <a:ea typeface="Montserrat"/>
                <a:cs typeface="Montserrat"/>
                <a:sym typeface="Montserrat"/>
              </a:rPr>
              <a:t>importante fra Blueprint e C++.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Mentre in Blueprint le funzioni </a:t>
            </a:r>
            <a:r>
              <a:rPr b="1" lang="en-GB" sz="1600">
                <a:solidFill>
                  <a:schemeClr val="dk1"/>
                </a:solidFill>
                <a:latin typeface="Montserrat"/>
                <a:ea typeface="Montserrat"/>
                <a:cs typeface="Montserrat"/>
                <a:sym typeface="Montserrat"/>
              </a:rPr>
              <a:t>RepNotify </a:t>
            </a:r>
            <a:r>
              <a:rPr lang="en-GB" sz="1600">
                <a:solidFill>
                  <a:schemeClr val="dk1"/>
                </a:solidFill>
                <a:latin typeface="Montserrat"/>
                <a:ea typeface="Montserrat"/>
                <a:cs typeface="Montserrat"/>
                <a:sym typeface="Montserrat"/>
              </a:rPr>
              <a:t>vengono eseguite sia sui Client che sul Server, in C++ invece vengono eseguite </a:t>
            </a:r>
            <a:r>
              <a:rPr b="1" lang="en-GB" sz="1600">
                <a:solidFill>
                  <a:schemeClr val="dk1"/>
                </a:solidFill>
                <a:latin typeface="Montserrat"/>
                <a:ea typeface="Montserrat"/>
                <a:cs typeface="Montserrat"/>
                <a:sym typeface="Montserrat"/>
              </a:rPr>
              <a:t>SOLO </a:t>
            </a:r>
            <a:r>
              <a:rPr lang="en-GB" sz="1600">
                <a:solidFill>
                  <a:schemeClr val="dk1"/>
                </a:solidFill>
                <a:latin typeface="Montserrat"/>
                <a:ea typeface="Montserrat"/>
                <a:cs typeface="Montserrat"/>
                <a:sym typeface="Montserrat"/>
              </a:rPr>
              <a:t>sui Client.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Perché in C++ funziona così?</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Il Server sa già subito che ha cambiato il valore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Non ha bisogno di “notificarsi da solo”</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 Client invece ricevono il cambiamento con ritardo, quindi hanno bisogno di OnRep</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Lato blueprint, la chiamata OnRep_ viene fatta automaticamente per semplificare i flussi.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600"/>
              <a:buFont typeface="Arial"/>
              <a:buNone/>
            </a:pPr>
            <a:r>
              <a:rPr b="1" lang="en-GB" sz="1800">
                <a:solidFill>
                  <a:schemeClr val="dk1"/>
                </a:solidFill>
                <a:latin typeface="Montserrat"/>
                <a:ea typeface="Montserrat"/>
                <a:cs typeface="Montserrat"/>
                <a:sym typeface="Montserrat"/>
              </a:rPr>
              <a:t>Ma quindi cosa succede se sono in un'architettura Client-Host dove un client è anche il server?</a:t>
            </a:r>
            <a:endParaRPr b="1" sz="18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30" name="Google Shape;430;g3ddac08760b_0_64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g3ddac08760b_0_65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36" name="Google Shape;436;g3ddac08760b_0_65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37" name="Google Shape;437;g3ddac08760b_0_655"/>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Nel modello Client-Host (</a:t>
            </a:r>
            <a:r>
              <a:rPr lang="en-GB" sz="1600">
                <a:solidFill>
                  <a:schemeClr val="dk1"/>
                </a:solidFill>
                <a:latin typeface="Montserrat"/>
                <a:ea typeface="Montserrat"/>
                <a:cs typeface="Montserrat"/>
                <a:sym typeface="Montserrat"/>
              </a:rPr>
              <a:t>Listen</a:t>
            </a:r>
            <a:r>
              <a:rPr lang="en-GB" sz="1600">
                <a:solidFill>
                  <a:schemeClr val="dk1"/>
                </a:solidFill>
                <a:latin typeface="Montserrat"/>
                <a:ea typeface="Montserrat"/>
                <a:cs typeface="Montserrat"/>
                <a:sym typeface="Montserrat"/>
              </a:rPr>
              <a:t> Server), il giocatore che è anche Server non riceve questa chiamata automaticamente, perché per il Server il valore viene aggiornato localmente e non “replicato”.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1" lang="en-GB" sz="1600">
                <a:solidFill>
                  <a:schemeClr val="dk1"/>
                </a:solidFill>
                <a:latin typeface="Montserrat"/>
                <a:ea typeface="Montserrat"/>
                <a:cs typeface="Montserrat"/>
                <a:sym typeface="Montserrat"/>
              </a:rPr>
              <a:t>Risultato</a:t>
            </a:r>
            <a:r>
              <a:rPr lang="en-GB" sz="1600">
                <a:solidFill>
                  <a:schemeClr val="dk1"/>
                </a:solidFill>
                <a:latin typeface="Montserrat"/>
                <a:ea typeface="Montserrat"/>
                <a:cs typeface="Montserrat"/>
                <a:sym typeface="Montserrat"/>
              </a:rPr>
              <a:t>, il Client-Host non esegue la stessa logica degli altri Client.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br>
              <a:rPr lang="en-GB" sz="1600">
                <a:solidFill>
                  <a:schemeClr val="dk1"/>
                </a:solidFill>
                <a:latin typeface="Montserrat"/>
                <a:ea typeface="Montserrat"/>
                <a:cs typeface="Montserrat"/>
                <a:sym typeface="Montserrat"/>
              </a:rPr>
            </a:br>
            <a:r>
              <a:rPr b="1" lang="en-GB" sz="1600">
                <a:solidFill>
                  <a:schemeClr val="dk1"/>
                </a:solidFill>
                <a:latin typeface="Montserrat"/>
                <a:ea typeface="Montserrat"/>
                <a:cs typeface="Montserrat"/>
                <a:sym typeface="Montserrat"/>
              </a:rPr>
              <a:t>Soluzione</a:t>
            </a:r>
            <a:r>
              <a:rPr lang="en-GB" sz="1600">
                <a:solidFill>
                  <a:schemeClr val="dk1"/>
                </a:solidFill>
                <a:latin typeface="Montserrat"/>
                <a:ea typeface="Montserrat"/>
                <a:cs typeface="Montserrat"/>
                <a:sym typeface="Montserrat"/>
              </a:rPr>
              <a:t>,</a:t>
            </a:r>
            <a:r>
              <a:rPr lang="en-GB" sz="1600">
                <a:solidFill>
                  <a:schemeClr val="dk1"/>
                </a:solidFill>
                <a:latin typeface="Montserrat"/>
                <a:ea typeface="Montserrat"/>
                <a:cs typeface="Montserrat"/>
                <a:sym typeface="Montserrat"/>
              </a:rPr>
              <a:t> chiamare manualmente OnRep dopo la modifica della variabile sul Server.</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38" name="Google Shape;438;g3ddac08760b_0_65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39" name="Google Shape;439;g3ddac08760b_0_655"/>
          <p:cNvPicPr preferRelativeResize="0"/>
          <p:nvPr/>
        </p:nvPicPr>
        <p:blipFill rotWithShape="1">
          <a:blip r:embed="rId4">
            <a:alphaModFix/>
          </a:blip>
          <a:srcRect b="0" l="0" r="0" t="0"/>
          <a:stretch/>
        </p:blipFill>
        <p:spPr>
          <a:xfrm>
            <a:off x="4604348" y="3451350"/>
            <a:ext cx="4209159" cy="266545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g3ddac08760b_0_66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45" name="Google Shape;445;g3ddac08760b_0_66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46" name="Google Shape;446;g3ddac08760b_0_66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Inoltre, </a:t>
            </a:r>
            <a:r>
              <a:rPr lang="en-GB" sz="1600">
                <a:solidFill>
                  <a:schemeClr val="dk1"/>
                </a:solidFill>
                <a:latin typeface="Montserrat"/>
                <a:ea typeface="Montserrat"/>
                <a:cs typeface="Montserrat"/>
                <a:sym typeface="Montserrat"/>
              </a:rPr>
              <a:t>C++ offre un vantaggio che i Blueprint non hanno.</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Se dichiariamo un parametro dello stesso tipo della variabile al quale la funzione </a:t>
            </a:r>
            <a:r>
              <a:rPr b="1" lang="en-GB" sz="1600">
                <a:solidFill>
                  <a:schemeClr val="dk1"/>
                </a:solidFill>
                <a:latin typeface="Montserrat"/>
                <a:ea typeface="Montserrat"/>
                <a:cs typeface="Montserrat"/>
                <a:sym typeface="Montserrat"/>
              </a:rPr>
              <a:t>RepNotify </a:t>
            </a:r>
            <a:r>
              <a:rPr lang="en-GB" sz="1600">
                <a:solidFill>
                  <a:schemeClr val="dk1"/>
                </a:solidFill>
                <a:latin typeface="Montserrat"/>
                <a:ea typeface="Montserrat"/>
                <a:cs typeface="Montserrat"/>
                <a:sym typeface="Montserrat"/>
              </a:rPr>
              <a:t>e’ associata, quel parametro rappresenta il valore che quella variabile aveva </a:t>
            </a:r>
            <a:r>
              <a:rPr b="1" lang="en-GB" sz="1600">
                <a:solidFill>
                  <a:schemeClr val="dk1"/>
                </a:solidFill>
                <a:latin typeface="Montserrat"/>
                <a:ea typeface="Montserrat"/>
                <a:cs typeface="Montserrat"/>
                <a:sym typeface="Montserrat"/>
              </a:rPr>
              <a:t>PRIMA </a:t>
            </a:r>
            <a:r>
              <a:rPr lang="en-GB" sz="1600">
                <a:solidFill>
                  <a:schemeClr val="dk1"/>
                </a:solidFill>
                <a:latin typeface="Montserrat"/>
                <a:ea typeface="Montserrat"/>
                <a:cs typeface="Montserrat"/>
                <a:sym typeface="Montserrat"/>
              </a:rPr>
              <a:t>della replicazione.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Questo puo’ rivelarsi estremamente utile e ci permette di evitare, in alcune circostanze, di avere una variabile replicata che esiste solo per conservare il vecchio valore. </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47" name="Google Shape;447;g3ddac08760b_0_66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48" name="Google Shape;448;g3ddac08760b_0_663"/>
          <p:cNvPicPr preferRelativeResize="0"/>
          <p:nvPr/>
        </p:nvPicPr>
        <p:blipFill rotWithShape="1">
          <a:blip r:embed="rId4">
            <a:alphaModFix/>
          </a:blip>
          <a:srcRect b="0" l="0" r="0" t="0"/>
          <a:stretch/>
        </p:blipFill>
        <p:spPr>
          <a:xfrm>
            <a:off x="2955250" y="3710700"/>
            <a:ext cx="7507349" cy="1900025"/>
          </a:xfrm>
          <a:prstGeom prst="rect">
            <a:avLst/>
          </a:prstGeom>
          <a:noFill/>
          <a:ln cap="flat" cmpd="sng" w="9525">
            <a:solidFill>
              <a:srgbClr val="595959"/>
            </a:solidFill>
            <a:prstDash val="solid"/>
            <a:round/>
            <a:headEnd len="sm" w="sm" type="none"/>
            <a:tailEnd len="sm" w="sm" type="none"/>
          </a:ln>
        </p:spPr>
      </p:pic>
      <p:sp>
        <p:nvSpPr>
          <p:cNvPr id="449" name="Google Shape;449;g3ddac08760b_0_663"/>
          <p:cNvSpPr/>
          <p:nvPr/>
        </p:nvSpPr>
        <p:spPr>
          <a:xfrm>
            <a:off x="3544975" y="4111025"/>
            <a:ext cx="625800" cy="246900"/>
          </a:xfrm>
          <a:prstGeom prst="rect">
            <a:avLst/>
          </a:prstGeom>
          <a:noFill/>
          <a:ln cap="flat" cmpd="sng" w="1905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50" name="Google Shape;450;g3ddac08760b_0_663"/>
          <p:cNvCxnSpPr>
            <a:stCxn id="449" idx="2"/>
          </p:cNvCxnSpPr>
          <p:nvPr/>
        </p:nvCxnSpPr>
        <p:spPr>
          <a:xfrm>
            <a:off x="3857875" y="4357925"/>
            <a:ext cx="2347500" cy="914400"/>
          </a:xfrm>
          <a:prstGeom prst="straightConnector1">
            <a:avLst/>
          </a:prstGeom>
          <a:noFill/>
          <a:ln cap="flat" cmpd="sng" w="9525">
            <a:solidFill>
              <a:srgbClr val="00FF00"/>
            </a:solidFill>
            <a:prstDash val="solid"/>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g3ddac08760b_0_671"/>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56" name="Google Shape;456;g3ddac08760b_0_671"/>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57" name="Google Shape;457;g3ddac08760b_0_671"/>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Questo richiede una piccola accortezza da parte del programmatore.</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Da adesso in poi, prima di cambiare il valore della variabile, bisogna copiare il vecchio valore in una variabile locale, modificare la variabile replicata e poi chiamare “OnRep” passando la copia del vecchio valore come parametro.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58" name="Google Shape;458;g3ddac08760b_0_671"/>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59" name="Google Shape;459;g3ddac08760b_0_671"/>
          <p:cNvPicPr preferRelativeResize="0"/>
          <p:nvPr/>
        </p:nvPicPr>
        <p:blipFill rotWithShape="1">
          <a:blip r:embed="rId4">
            <a:alphaModFix/>
          </a:blip>
          <a:srcRect b="0" l="0" r="0" t="0"/>
          <a:stretch/>
        </p:blipFill>
        <p:spPr>
          <a:xfrm>
            <a:off x="3887050" y="2684900"/>
            <a:ext cx="4417899" cy="318737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id="464" name="Google Shape;464;g3ddac08760b_0_68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65" name="Google Shape;465;g3ddac08760b_0_68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RepNotify Property</a:t>
            </a:r>
            <a:endParaRPr b="1" i="0" sz="1100" u="none" cap="none" strike="noStrike">
              <a:solidFill>
                <a:srgbClr val="FF0000"/>
              </a:solidFill>
              <a:latin typeface="Montserrat"/>
              <a:ea typeface="Montserrat"/>
              <a:cs typeface="Montserrat"/>
              <a:sym typeface="Montserrat"/>
            </a:endParaRPr>
          </a:p>
        </p:txBody>
      </p:sp>
      <p:sp>
        <p:nvSpPr>
          <p:cNvPr id="466" name="Google Shape;466;g3ddac08760b_0_682"/>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Di norma, sia in Blueprint che in C++, le funzioni RepNotify vengono chiamate quando il valore della variabile </a:t>
            </a:r>
            <a:r>
              <a:rPr b="1" lang="en-GB" sz="1600">
                <a:solidFill>
                  <a:schemeClr val="dk1"/>
                </a:solidFill>
                <a:latin typeface="Montserrat"/>
                <a:ea typeface="Montserrat"/>
                <a:cs typeface="Montserrat"/>
                <a:sym typeface="Montserrat"/>
              </a:rPr>
              <a:t>CAMBIA</a:t>
            </a:r>
            <a:r>
              <a:rPr lang="en-GB" sz="1600">
                <a:solidFill>
                  <a:schemeClr val="dk1"/>
                </a:solidFill>
                <a:latin typeface="Montserrat"/>
                <a:ea typeface="Montserrat"/>
                <a:cs typeface="Montserrat"/>
                <a:sym typeface="Montserrat"/>
              </a:rPr>
              <a:t>.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Tuttavia, in C++, abbiamo a disposizione la </a:t>
            </a:r>
            <a:r>
              <a:rPr lang="en-GB" sz="1600">
                <a:solidFill>
                  <a:schemeClr val="dk1"/>
                </a:solidFill>
                <a:latin typeface="Montserrat"/>
                <a:ea typeface="Montserrat"/>
                <a:cs typeface="Montserrat"/>
                <a:sym typeface="Montserrat"/>
              </a:rPr>
              <a:t>possibilità</a:t>
            </a:r>
            <a:r>
              <a:rPr lang="en-GB" sz="1600">
                <a:solidFill>
                  <a:schemeClr val="dk1"/>
                </a:solidFill>
                <a:latin typeface="Montserrat"/>
                <a:ea typeface="Montserrat"/>
                <a:cs typeface="Montserrat"/>
                <a:sym typeface="Montserrat"/>
              </a:rPr>
              <a:t> di cambiare questo comportamento.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In alcune circostanze (ex. sync sicuro dopo eventi come respawn e reset), vogliamo che la funzione venga chiamata anche se il valore non cambia, e in questo caso possiamo usare “</a:t>
            </a:r>
            <a:r>
              <a:rPr b="1" lang="en-GB" sz="1600">
                <a:solidFill>
                  <a:schemeClr val="dk1"/>
                </a:solidFill>
                <a:latin typeface="Montserrat"/>
                <a:ea typeface="Montserrat"/>
                <a:cs typeface="Montserrat"/>
                <a:sym typeface="Montserrat"/>
              </a:rPr>
              <a:t>DOREPLIFETIME_CONDITION_NOTIFY</a:t>
            </a:r>
            <a:r>
              <a:rPr lang="en-GB" sz="1600">
                <a:solidFill>
                  <a:schemeClr val="dk1"/>
                </a:solidFill>
                <a:latin typeface="Montserrat"/>
                <a:ea typeface="Montserrat"/>
                <a:cs typeface="Montserrat"/>
                <a:sym typeface="Montserrat"/>
              </a:rPr>
              <a:t>” per farlo.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67" name="Google Shape;467;g3ddac08760b_0_68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68" name="Google Shape;468;g3ddac08760b_0_682"/>
          <p:cNvPicPr preferRelativeResize="0"/>
          <p:nvPr/>
        </p:nvPicPr>
        <p:blipFill rotWithShape="1">
          <a:blip r:embed="rId4">
            <a:alphaModFix/>
          </a:blip>
          <a:srcRect b="0" l="0" r="0" t="0"/>
          <a:stretch/>
        </p:blipFill>
        <p:spPr>
          <a:xfrm>
            <a:off x="2725800" y="3422675"/>
            <a:ext cx="7966274" cy="1443325"/>
          </a:xfrm>
          <a:prstGeom prst="rect">
            <a:avLst/>
          </a:prstGeom>
          <a:noFill/>
          <a:ln cap="flat" cmpd="sng" w="9525">
            <a:solidFill>
              <a:srgbClr val="595959"/>
            </a:solidFill>
            <a:prstDash val="solid"/>
            <a:round/>
            <a:headEnd len="sm" w="sm" type="none"/>
            <a:tailEnd len="sm" w="sm" type="none"/>
          </a:ln>
        </p:spPr>
      </p:pic>
      <p:pic>
        <p:nvPicPr>
          <p:cNvPr id="469" name="Google Shape;469;g3ddac08760b_0_682"/>
          <p:cNvPicPr preferRelativeResize="0"/>
          <p:nvPr/>
        </p:nvPicPr>
        <p:blipFill rotWithShape="1">
          <a:blip r:embed="rId5">
            <a:alphaModFix/>
          </a:blip>
          <a:srcRect b="0" l="0" r="0" t="0"/>
          <a:stretch/>
        </p:blipFill>
        <p:spPr>
          <a:xfrm>
            <a:off x="2725800" y="5281772"/>
            <a:ext cx="7966275" cy="992303"/>
          </a:xfrm>
          <a:prstGeom prst="rect">
            <a:avLst/>
          </a:prstGeom>
          <a:noFill/>
          <a:ln cap="flat" cmpd="sng" w="9525">
            <a:solidFill>
              <a:srgbClr val="595959"/>
            </a:solidFill>
            <a:prstDash val="solid"/>
            <a:round/>
            <a:headEnd len="sm" w="sm" type="none"/>
            <a:tailEnd len="sm" w="sm" type="none"/>
          </a:ln>
        </p:spPr>
      </p:pic>
      <p:cxnSp>
        <p:nvCxnSpPr>
          <p:cNvPr id="470" name="Google Shape;470;g3ddac08760b_0_682"/>
          <p:cNvCxnSpPr/>
          <p:nvPr/>
        </p:nvCxnSpPr>
        <p:spPr>
          <a:xfrm flipH="1" rot="10800000">
            <a:off x="4093505" y="4331676"/>
            <a:ext cx="4320000" cy="1012200"/>
          </a:xfrm>
          <a:prstGeom prst="straightConnector1">
            <a:avLst/>
          </a:prstGeom>
          <a:noFill/>
          <a:ln cap="flat" cmpd="sng" w="9525">
            <a:solidFill>
              <a:srgbClr val="00FF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pic>
        <p:nvPicPr>
          <p:cNvPr id="475" name="Google Shape;475;g3ddac08760b_0_69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76" name="Google Shape;476;g3ddac08760b_0_69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Comparazione</a:t>
            </a:r>
            <a:endParaRPr b="1" i="0" sz="1100" u="none" cap="none" strike="noStrike">
              <a:solidFill>
                <a:srgbClr val="FF0000"/>
              </a:solidFill>
              <a:latin typeface="Montserrat"/>
              <a:ea typeface="Montserrat"/>
              <a:cs typeface="Montserrat"/>
              <a:sym typeface="Montserrat"/>
            </a:endParaRPr>
          </a:p>
        </p:txBody>
      </p:sp>
      <p:sp>
        <p:nvSpPr>
          <p:cNvPr id="477" name="Google Shape;477;g3ddac08760b_0_69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È </a:t>
            </a:r>
            <a:r>
              <a:rPr lang="en-GB" sz="1600">
                <a:solidFill>
                  <a:schemeClr val="dk1"/>
                </a:solidFill>
                <a:latin typeface="Montserrat"/>
                <a:ea typeface="Montserrat"/>
                <a:cs typeface="Montserrat"/>
                <a:sym typeface="Montserrat"/>
              </a:rPr>
              <a:t>cruciale capire bene come funziona la replicazione ed evitare di cadere in alcuni tranelli, specialmente la comparazione.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Quando il server esegue il controllo, si preoccupa di vedere se il contenuto della variabile stessa e’ diverso dalla sua shadow copy.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Questo significa che se abbiamo un puntatore ad un oggetto e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lo stato interno di quest’ oggetto viene modificato, il server </a:t>
            </a:r>
            <a:r>
              <a:rPr b="1" lang="en-GB" sz="1600">
                <a:solidFill>
                  <a:schemeClr val="dk1"/>
                </a:solidFill>
                <a:latin typeface="Montserrat"/>
                <a:ea typeface="Montserrat"/>
                <a:cs typeface="Montserrat"/>
                <a:sym typeface="Montserrat"/>
              </a:rPr>
              <a:t>NON </a:t>
            </a:r>
            <a:r>
              <a:rPr lang="en-GB" sz="1600">
                <a:solidFill>
                  <a:schemeClr val="dk1"/>
                </a:solidFill>
                <a:latin typeface="Montserrat"/>
                <a:ea typeface="Montserrat"/>
                <a:cs typeface="Montserrat"/>
                <a:sym typeface="Montserrat"/>
              </a:rPr>
              <a:t>considera questo come un cambiamento rispetto alla shadow copy.</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Variabili semplici → Il server controlla il valore della variabile e se </a:t>
            </a:r>
            <a:r>
              <a:rPr lang="en-GB" sz="1600">
                <a:solidFill>
                  <a:schemeClr val="dk1"/>
                </a:solidFill>
                <a:latin typeface="Montserrat"/>
                <a:ea typeface="Montserrat"/>
                <a:cs typeface="Montserrat"/>
                <a:sym typeface="Montserrat"/>
              </a:rPr>
              <a:t>c'è</a:t>
            </a:r>
            <a:r>
              <a:rPr lang="en-GB" sz="1600">
                <a:solidFill>
                  <a:schemeClr val="dk1"/>
                </a:solidFill>
                <a:latin typeface="Montserrat"/>
                <a:ea typeface="Montserrat"/>
                <a:cs typeface="Montserrat"/>
                <a:sym typeface="Montserrat"/>
              </a:rPr>
              <a:t> qualcosa di diverso, la variabile va replicata.</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Struct → Il server controlla tutte le variabili al suo interno e se anche solo una è stata modificata, allora lo struct va replicata.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78" name="Google Shape;478;g3ddac08760b_0_69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g3ddac08760b_0_70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84" name="Google Shape;484;g3ddac08760b_0_70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Comparazione</a:t>
            </a:r>
            <a:endParaRPr b="1" i="0" sz="1100" u="none" cap="none" strike="noStrike">
              <a:solidFill>
                <a:srgbClr val="FF0000"/>
              </a:solidFill>
              <a:latin typeface="Montserrat"/>
              <a:ea typeface="Montserrat"/>
              <a:cs typeface="Montserrat"/>
              <a:sym typeface="Montserrat"/>
            </a:endParaRPr>
          </a:p>
        </p:txBody>
      </p:sp>
      <p:sp>
        <p:nvSpPr>
          <p:cNvPr id="485" name="Google Shape;485;g3ddac08760b_0_70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Che succede invece nel caso in cui dobbiamo comparare dei puntatori?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È importante ricordarsi che lo stato interno dell’oggetto a cui puntiamo non viene tenuto in considerazione. </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i="1" lang="en-GB" sz="1600">
                <a:solidFill>
                  <a:schemeClr val="dk1"/>
                </a:solidFill>
                <a:latin typeface="Montserrat"/>
                <a:ea typeface="Montserrat"/>
                <a:cs typeface="Montserrat"/>
                <a:sym typeface="Montserrat"/>
              </a:rPr>
              <a:t>Esempio:</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AutoNum type="arabicPeriod"/>
            </a:pPr>
            <a:r>
              <a:rPr i="1" lang="en-GB" sz="1600">
                <a:solidFill>
                  <a:schemeClr val="dk1"/>
                </a:solidFill>
                <a:latin typeface="Montserrat"/>
                <a:ea typeface="Montserrat"/>
                <a:cs typeface="Montserrat"/>
                <a:sym typeface="Montserrat"/>
              </a:rPr>
              <a:t>Prendiamo un Actor e un puntatore ad un oggetto di tipo Actor che comincia come nullptr. </a:t>
            </a:r>
            <a:endParaRPr i="1"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AutoNum type="arabicPeriod"/>
            </a:pPr>
            <a:r>
              <a:rPr i="1" lang="en-GB" sz="1600">
                <a:solidFill>
                  <a:schemeClr val="dk1"/>
                </a:solidFill>
                <a:latin typeface="Montserrat"/>
                <a:ea typeface="Montserrat"/>
                <a:cs typeface="Montserrat"/>
                <a:sym typeface="Montserrat"/>
              </a:rPr>
              <a:t>L’Actor contiene una FString per il nome e un float.</a:t>
            </a:r>
            <a:endParaRPr i="1"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AutoNum type="arabicPeriod"/>
            </a:pPr>
            <a:r>
              <a:rPr i="1" lang="en-GB" sz="1600">
                <a:solidFill>
                  <a:schemeClr val="dk1"/>
                </a:solidFill>
                <a:latin typeface="Montserrat"/>
                <a:ea typeface="Montserrat"/>
                <a:cs typeface="Montserrat"/>
                <a:sym typeface="Montserrat"/>
              </a:rPr>
              <a:t>Il Server assegna a questo puntatore l’Actor. </a:t>
            </a:r>
            <a:endParaRPr i="1"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AutoNum type="arabicPeriod"/>
            </a:pPr>
            <a:r>
              <a:rPr i="1" lang="en-GB" sz="1600">
                <a:solidFill>
                  <a:schemeClr val="dk1"/>
                </a:solidFill>
                <a:latin typeface="Montserrat"/>
                <a:ea typeface="Montserrat"/>
                <a:cs typeface="Montserrat"/>
                <a:sym typeface="Montserrat"/>
              </a:rPr>
              <a:t>Siccome la shadow copy era nullptr mentre ora invece non lo e’ piu’, il Server sa che deve replicare questa variabile.</a:t>
            </a:r>
            <a:endParaRPr i="1"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AutoNum type="arabicPeriod"/>
            </a:pPr>
            <a:r>
              <a:rPr i="1" lang="en-GB" sz="1600">
                <a:solidFill>
                  <a:schemeClr val="dk1"/>
                </a:solidFill>
                <a:latin typeface="Montserrat"/>
                <a:ea typeface="Montserrat"/>
                <a:cs typeface="Montserrat"/>
                <a:sym typeface="Montserrat"/>
              </a:rPr>
              <a:t>Cambiamo il nome dell’ Actor (FString). </a:t>
            </a:r>
            <a:endParaRPr i="1" sz="1600">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None/>
            </a:pPr>
            <a:r>
              <a:rPr i="1" lang="en-GB" sz="1600">
                <a:solidFill>
                  <a:schemeClr val="dk1"/>
                </a:solidFill>
                <a:latin typeface="Montserrat"/>
                <a:ea typeface="Montserrat"/>
                <a:cs typeface="Montserrat"/>
                <a:sym typeface="Montserrat"/>
              </a:rPr>
              <a:t>Questa cosa non modifica il puntatore ad Actor, ma l’oggetto Actor. </a:t>
            </a:r>
            <a:br>
              <a:rPr i="1" lang="en-GB" sz="1600">
                <a:solidFill>
                  <a:schemeClr val="dk1"/>
                </a:solidFill>
                <a:latin typeface="Montserrat"/>
                <a:ea typeface="Montserrat"/>
                <a:cs typeface="Montserrat"/>
                <a:sym typeface="Montserrat"/>
              </a:rPr>
            </a:br>
            <a:r>
              <a:rPr i="1" lang="en-GB" sz="1600">
                <a:solidFill>
                  <a:schemeClr val="dk1"/>
                </a:solidFill>
                <a:latin typeface="Montserrat"/>
                <a:ea typeface="Montserrat"/>
                <a:cs typeface="Montserrat"/>
                <a:sym typeface="Montserrat"/>
              </a:rPr>
              <a:t>Siccome l’indirizzo di memoria rimane invariato dalla shadow copy, non c’e’ bisogno di replicare la variabile e quindi nessun OnRep </a:t>
            </a:r>
            <a:r>
              <a:rPr i="1" lang="en-GB" sz="1600">
                <a:solidFill>
                  <a:schemeClr val="dk1"/>
                </a:solidFill>
                <a:latin typeface="Montserrat"/>
                <a:ea typeface="Montserrat"/>
                <a:cs typeface="Montserrat"/>
                <a:sym typeface="Montserrat"/>
              </a:rPr>
              <a:t>verrà</a:t>
            </a:r>
            <a:r>
              <a:rPr i="1" lang="en-GB" sz="1600">
                <a:solidFill>
                  <a:schemeClr val="dk1"/>
                </a:solidFill>
                <a:latin typeface="Montserrat"/>
                <a:ea typeface="Montserrat"/>
                <a:cs typeface="Montserrat"/>
                <a:sym typeface="Montserrat"/>
              </a:rPr>
              <a:t> chiamato di conseguenza.</a:t>
            </a:r>
            <a:endParaRPr i="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86" name="Google Shape;486;g3ddac08760b_0_70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pic>
        <p:nvPicPr>
          <p:cNvPr id="491" name="Google Shape;491;g3ddac08760b_0_71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492" name="Google Shape;492;g3ddac08760b_0_71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Comparazione</a:t>
            </a:r>
            <a:endParaRPr b="1" i="0" sz="1100" u="none" cap="none" strike="noStrike">
              <a:solidFill>
                <a:srgbClr val="FF0000"/>
              </a:solidFill>
              <a:latin typeface="Montserrat"/>
              <a:ea typeface="Montserrat"/>
              <a:cs typeface="Montserrat"/>
              <a:sym typeface="Montserrat"/>
            </a:endParaRPr>
          </a:p>
        </p:txBody>
      </p:sp>
      <p:sp>
        <p:nvSpPr>
          <p:cNvPr id="493" name="Google Shape;493;g3ddac08760b_0_71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Per leUSTRUCT, Unreal prevede che quando un qualunque valore all’interno dello USTRUCT viene modificato, l’intero USTRUCT viene replicato.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Unreal non tiene traccia dei singoli membri dello USTRUCT, ma confronta uno snapshot di memoria dell'intera struttura per rilevare eventuali modifiche.</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E’ possibile escludere totalmente dal processo di replicazione alcune </a:t>
            </a:r>
            <a:r>
              <a:rPr lang="en-GB" sz="1600">
                <a:solidFill>
                  <a:schemeClr val="dk1"/>
                </a:solidFill>
                <a:latin typeface="Montserrat"/>
                <a:ea typeface="Montserrat"/>
                <a:cs typeface="Montserrat"/>
                <a:sym typeface="Montserrat"/>
              </a:rPr>
              <a:t>proprietà</a:t>
            </a:r>
            <a:r>
              <a:rPr lang="en-GB" sz="1600">
                <a:solidFill>
                  <a:schemeClr val="dk1"/>
                </a:solidFill>
                <a:latin typeface="Montserrat"/>
                <a:ea typeface="Montserrat"/>
                <a:cs typeface="Montserrat"/>
                <a:sym typeface="Montserrat"/>
              </a:rPr>
              <a:t> grazie alla UPROPERTY “</a:t>
            </a:r>
            <a:r>
              <a:rPr b="1" lang="en-GB" sz="1600">
                <a:solidFill>
                  <a:schemeClr val="dk1"/>
                </a:solidFill>
                <a:latin typeface="Montserrat"/>
                <a:ea typeface="Montserrat"/>
                <a:cs typeface="Montserrat"/>
                <a:sym typeface="Montserrat"/>
              </a:rPr>
              <a:t>NotReplicated</a:t>
            </a:r>
            <a:r>
              <a:rPr lang="en-GB" sz="1600">
                <a:solidFill>
                  <a:schemeClr val="dk1"/>
                </a:solidFill>
                <a:latin typeface="Montserrat"/>
                <a:ea typeface="Montserrat"/>
                <a:cs typeface="Montserrat"/>
                <a:sym typeface="Montserrat"/>
              </a:rPr>
              <a: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494" name="Google Shape;494;g3ddac08760b_0_71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495" name="Google Shape;495;g3ddac08760b_0_710"/>
          <p:cNvPicPr preferRelativeResize="0"/>
          <p:nvPr/>
        </p:nvPicPr>
        <p:blipFill rotWithShape="1">
          <a:blip r:embed="rId4">
            <a:alphaModFix/>
          </a:blip>
          <a:srcRect b="0" l="0" r="0" t="0"/>
          <a:stretch/>
        </p:blipFill>
        <p:spPr>
          <a:xfrm>
            <a:off x="4418221" y="3627375"/>
            <a:ext cx="4581401" cy="2558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g3ddac08760b_0_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01" name="Google Shape;501;g3ddac08760b_0_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02" name="Google Shape;502;g3ddac08760b_0_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Le </a:t>
            </a:r>
            <a:r>
              <a:rPr b="1" lang="en-GB" sz="1600">
                <a:solidFill>
                  <a:schemeClr val="dk1"/>
                </a:solidFill>
                <a:latin typeface="Montserrat"/>
                <a:ea typeface="Montserrat"/>
                <a:cs typeface="Montserrat"/>
                <a:sym typeface="Montserrat"/>
              </a:rPr>
              <a:t>Remote Procedure Calls</a:t>
            </a:r>
            <a:r>
              <a:rPr lang="en-GB" sz="1600">
                <a:solidFill>
                  <a:schemeClr val="dk1"/>
                </a:solidFill>
                <a:latin typeface="Montserrat"/>
                <a:ea typeface="Montserrat"/>
                <a:cs typeface="Montserrat"/>
                <a:sym typeface="Montserrat"/>
              </a:rPr>
              <a:t> (</a:t>
            </a:r>
            <a:r>
              <a:rPr b="1" lang="en-GB" sz="1600">
                <a:solidFill>
                  <a:schemeClr val="dk1"/>
                </a:solidFill>
                <a:latin typeface="Montserrat"/>
                <a:ea typeface="Montserrat"/>
                <a:cs typeface="Montserrat"/>
                <a:sym typeface="Montserrat"/>
              </a:rPr>
              <a:t>RPC</a:t>
            </a:r>
            <a:r>
              <a:rPr lang="en-GB" sz="1600">
                <a:solidFill>
                  <a:schemeClr val="dk1"/>
                </a:solidFill>
                <a:latin typeface="Montserrat"/>
                <a:ea typeface="Montserrat"/>
                <a:cs typeface="Montserrat"/>
                <a:sym typeface="Montserrat"/>
              </a:rPr>
              <a:t>) sono funzioni chiamate localmente che vengono eseguite in remoto su una o più macchine connesse.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Le RPC permettono al Client e al Server di inviarsi richieste a vicenda.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Le RPC sono chiamate di funzione unidirezionali, e in quanto tali non possono specificare un valore di ritorno (sono sempre void).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caso d'uso principale degli RPC è l'esecuzione di eventi di gioco inaffidabili che sono transitori o di natura cosmetica.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Questo </a:t>
            </a:r>
            <a:r>
              <a:rPr lang="en-GB" sz="1600">
                <a:solidFill>
                  <a:schemeClr val="dk1"/>
                </a:solidFill>
                <a:latin typeface="Montserrat"/>
                <a:ea typeface="Montserrat"/>
                <a:cs typeface="Montserrat"/>
                <a:sym typeface="Montserrat"/>
              </a:rPr>
              <a:t>però</a:t>
            </a:r>
            <a:r>
              <a:rPr lang="en-GB" sz="1600">
                <a:solidFill>
                  <a:schemeClr val="dk1"/>
                </a:solidFill>
                <a:latin typeface="Montserrat"/>
                <a:ea typeface="Montserrat"/>
                <a:cs typeface="Montserrat"/>
                <a:sym typeface="Montserrat"/>
              </a:rPr>
              <a:t> non deve scoraggiare l’uso degli RPC per situazione di gioco importanti se si prendono le dovute precauzioni.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loro funzione principale e’ quella di eseguire logiche ad alta </a:t>
            </a:r>
            <a:r>
              <a:rPr lang="en-GB" sz="1600">
                <a:solidFill>
                  <a:schemeClr val="dk1"/>
                </a:solidFill>
                <a:latin typeface="Montserrat"/>
                <a:ea typeface="Montserrat"/>
                <a:cs typeface="Montserrat"/>
                <a:sym typeface="Montserrat"/>
              </a:rPr>
              <a:t>priorità</a:t>
            </a:r>
            <a:r>
              <a:rPr lang="en-GB" sz="1600">
                <a:solidFill>
                  <a:schemeClr val="dk1"/>
                </a:solidFill>
                <a:latin typeface="Montserrat"/>
                <a:ea typeface="Montserrat"/>
                <a:cs typeface="Montserrat"/>
                <a:sym typeface="Montserrat"/>
              </a:rPr>
              <a:t> che devono essere eseguite velocemente in momenti specifici.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03" name="Google Shape;503;g3ddac08760b_0_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g3ddac08760b_0_71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09" name="Google Shape;509;g3ddac08760b_0_71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10" name="Google Shape;510;g3ddac08760b_0_718"/>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11" name="Google Shape;511;g3ddac08760b_0_71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12" name="Google Shape;512;g3ddac08760b_0_718"/>
          <p:cNvPicPr preferRelativeResize="0"/>
          <p:nvPr/>
        </p:nvPicPr>
        <p:blipFill rotWithShape="1">
          <a:blip r:embed="rId4">
            <a:alphaModFix/>
          </a:blip>
          <a:srcRect b="0" l="0" r="0" t="0"/>
          <a:stretch/>
        </p:blipFill>
        <p:spPr>
          <a:xfrm>
            <a:off x="1695025" y="1569523"/>
            <a:ext cx="10027800" cy="3478192"/>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g3ddac08760b_0_72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18" name="Google Shape;518;g3ddac08760b_0_72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19" name="Google Shape;519;g3ddac08760b_0_726"/>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È necessario soddisfare alcuni requisiti affinché gli RPC siano funzionanti.</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Devono essere chiamati su Actor o su un SubObject replicato (ad esempio un Component), che </a:t>
            </a:r>
            <a:r>
              <a:rPr lang="en-GB" sz="1600">
                <a:solidFill>
                  <a:schemeClr val="dk1"/>
                </a:solidFill>
                <a:latin typeface="Montserrat"/>
                <a:ea typeface="Montserrat"/>
                <a:cs typeface="Montserrat"/>
                <a:sym typeface="Montserrat"/>
              </a:rPr>
              <a:t>devono</a:t>
            </a:r>
            <a:r>
              <a:rPr lang="en-GB" sz="1600">
                <a:solidFill>
                  <a:schemeClr val="dk1"/>
                </a:solidFill>
                <a:latin typeface="Montserrat"/>
                <a:ea typeface="Montserrat"/>
                <a:cs typeface="Montserrat"/>
                <a:sym typeface="Montserrat"/>
              </a:rPr>
              <a:t> essere ovviamente replicati</a:t>
            </a:r>
            <a:endParaRPr sz="1600">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l'RPC viene chiamato dal Server per essere eseguito su un Client, solo il Client che possiede quell'Actor eseguirà la funzione</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l'RPC viene chiamato da un Client per essere eseguito sul Server, il Client deve possedere l’Actor su cui viene chiamato l'RPC</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Le RPC Multicast rappresentano un'eccezione: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vengono chiamati dal Server, il Server li eseguirà localmente, oltre che su tutti i Client attualmente connessi, che hanno un'istanza di quell'Actor rilevante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vengono chiamati dai Client, un Multicast verrà eseguito solo localmente e non verrà eseguito sul server o su altri Client</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Una funzione Multicast non verrà replicata più di due volte nel periodo di aggiornamento della rete di un determinato Actor.</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20" name="Google Shape;520;g3ddac08760b_0_72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id="525" name="Google Shape;525;g3ddac08760b_0_73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26" name="Google Shape;526;g3ddac08760b_0_73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27" name="Google Shape;527;g3ddac08760b_0_73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Le RPC sono degli eventi.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 naming convention vuole che si preceda il tipo di RPC prima del nome separato con un underscore.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Possono accettare parametri, ma non possono avere valori di ritorno, </a:t>
            </a:r>
            <a:r>
              <a:rPr lang="en-GB" sz="1600">
                <a:solidFill>
                  <a:schemeClr val="dk1"/>
                </a:solidFill>
                <a:latin typeface="Montserrat"/>
                <a:ea typeface="Montserrat"/>
                <a:cs typeface="Montserrat"/>
                <a:sym typeface="Montserrat"/>
              </a:rPr>
              <a:t>poiché</a:t>
            </a:r>
            <a:r>
              <a:rPr lang="en-GB" sz="1600">
                <a:solidFill>
                  <a:schemeClr val="dk1"/>
                </a:solidFill>
                <a:latin typeface="Montserrat"/>
                <a:ea typeface="Montserrat"/>
                <a:cs typeface="Montserrat"/>
                <a:sym typeface="Montserrat"/>
              </a:rPr>
              <a:t> sono unilaterali ed eseguiti su un’altra istanza di gioco su un’altra macchina.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Possono essere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b="1" lang="en-GB" sz="1600">
                <a:solidFill>
                  <a:schemeClr val="dk1"/>
                </a:solidFill>
                <a:latin typeface="Montserrat"/>
                <a:ea typeface="Montserrat"/>
                <a:cs typeface="Montserrat"/>
                <a:sym typeface="Montserrat"/>
              </a:rPr>
              <a:t>Reliable </a:t>
            </a:r>
            <a:r>
              <a:rPr lang="en-GB" sz="1600">
                <a:solidFill>
                  <a:schemeClr val="dk1"/>
                </a:solidFill>
                <a:latin typeface="Montserrat"/>
                <a:ea typeface="Montserrat"/>
                <a:cs typeface="Montserrat"/>
                <a:sym typeface="Montserrat"/>
              </a:rPr>
              <a:t>(ex .</a:t>
            </a:r>
            <a:r>
              <a:rPr i="1" lang="en-GB" sz="1600">
                <a:solidFill>
                  <a:schemeClr val="dk1"/>
                </a:solidFill>
                <a:latin typeface="Montserrat"/>
                <a:ea typeface="Montserrat"/>
                <a:cs typeface="Montserrat"/>
                <a:sym typeface="Montserrat"/>
              </a:rPr>
              <a:t>danni, loot oggetti, eventi core, ecc…</a:t>
            </a:r>
            <a:r>
              <a:rPr lang="en-GB" sz="1600">
                <a:solidFill>
                  <a:schemeClr val="dk1"/>
                </a:solidFill>
                <a:latin typeface="Montserrat"/>
                <a:ea typeface="Montserrat"/>
                <a:cs typeface="Montserrat"/>
                <a:sym typeface="Montserrat"/>
              </a:rPr>
              <a:t>)</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Il messaggio arriva sempre a destinazione.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Se viene perso, Unreal lo ritrasmette automaticamente.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Mantiene anche l’ordine corretto di esecuzione.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Più lento e costoso in rete.</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b="1" lang="en-GB" sz="1600">
                <a:solidFill>
                  <a:schemeClr val="dk1"/>
                </a:solidFill>
                <a:latin typeface="Montserrat"/>
                <a:ea typeface="Montserrat"/>
                <a:cs typeface="Montserrat"/>
                <a:sym typeface="Montserrat"/>
              </a:rPr>
              <a:t>Unreliable </a:t>
            </a:r>
            <a:r>
              <a:rPr lang="en-GB" sz="1600">
                <a:solidFill>
                  <a:schemeClr val="dk1"/>
                </a:solidFill>
                <a:latin typeface="Montserrat"/>
                <a:ea typeface="Montserrat"/>
                <a:cs typeface="Montserrat"/>
                <a:sym typeface="Montserrat"/>
              </a:rPr>
              <a:t>(ex. </a:t>
            </a:r>
            <a:r>
              <a:rPr i="1" lang="en-GB" sz="1600">
                <a:solidFill>
                  <a:schemeClr val="dk1"/>
                </a:solidFill>
                <a:latin typeface="Montserrat"/>
                <a:ea typeface="Montserrat"/>
                <a:cs typeface="Montserrat"/>
                <a:sym typeface="Montserrat"/>
              </a:rPr>
              <a:t>aggiornamenti frequenti come location, effetti visivi, ecc…</a:t>
            </a:r>
            <a:r>
              <a:rPr lang="en-GB" sz="1600">
                <a:solidFill>
                  <a:schemeClr val="dk1"/>
                </a:solidFill>
                <a:latin typeface="Montserrat"/>
                <a:ea typeface="Montserrat"/>
                <a:cs typeface="Montserrat"/>
                <a:sym typeface="Montserrat"/>
              </a:rPr>
              <a:t>)</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Il messaggio può perdersi senza essere reinviato.</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Non garantisce l’ordine.</a:t>
            </a:r>
            <a:endParaRPr sz="1600">
              <a:solidFill>
                <a:schemeClr val="dk1"/>
              </a:solidFill>
              <a:latin typeface="Montserrat"/>
              <a:ea typeface="Montserrat"/>
              <a:cs typeface="Montserrat"/>
              <a:sym typeface="Montserrat"/>
            </a:endParaRPr>
          </a:p>
          <a:p>
            <a:pPr indent="-330200" lvl="1" marL="9144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È più veloce e leggero.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28" name="Google Shape;528;g3ddac08760b_0_73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g3ddac08760b_0_74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34" name="Google Shape;534;g3ddac08760b_0_74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35" name="Google Shape;535;g3ddac08760b_0_74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36" name="Google Shape;536;g3ddac08760b_0_746"/>
          <p:cNvPicPr preferRelativeResize="0"/>
          <p:nvPr/>
        </p:nvPicPr>
        <p:blipFill rotWithShape="1">
          <a:blip r:embed="rId4">
            <a:alphaModFix/>
          </a:blip>
          <a:srcRect b="0" l="0" r="0" t="0"/>
          <a:stretch/>
        </p:blipFill>
        <p:spPr>
          <a:xfrm>
            <a:off x="3548627" y="1245900"/>
            <a:ext cx="6320598" cy="5230400"/>
          </a:xfrm>
          <a:prstGeom prst="rect">
            <a:avLst/>
          </a:prstGeom>
          <a:noFill/>
          <a:ln cap="flat" cmpd="sng" w="15375">
            <a:solidFill>
              <a:srgbClr val="595959"/>
            </a:solidFill>
            <a:prstDash val="solid"/>
            <a:round/>
            <a:headEnd len="sm" w="sm" type="none"/>
            <a:tailEnd len="sm" w="sm" type="none"/>
          </a:ln>
        </p:spPr>
      </p:pic>
      <p:cxnSp>
        <p:nvCxnSpPr>
          <p:cNvPr id="537" name="Google Shape;537;g3ddac08760b_0_746"/>
          <p:cNvCxnSpPr/>
          <p:nvPr/>
        </p:nvCxnSpPr>
        <p:spPr>
          <a:xfrm rot="10800000">
            <a:off x="5195539" y="1895797"/>
            <a:ext cx="3050400" cy="700200"/>
          </a:xfrm>
          <a:prstGeom prst="straightConnector1">
            <a:avLst/>
          </a:prstGeom>
          <a:noFill/>
          <a:ln cap="flat" cmpd="sng" w="15375">
            <a:solidFill>
              <a:srgbClr val="FF0000"/>
            </a:solidFill>
            <a:prstDash val="solid"/>
            <a:round/>
            <a:headEnd len="sm" w="sm" type="none"/>
            <a:tailEnd len="med" w="med" type="triangle"/>
          </a:ln>
        </p:spPr>
      </p:cxnSp>
      <p:cxnSp>
        <p:nvCxnSpPr>
          <p:cNvPr id="538" name="Google Shape;538;g3ddac08760b_0_746"/>
          <p:cNvCxnSpPr/>
          <p:nvPr/>
        </p:nvCxnSpPr>
        <p:spPr>
          <a:xfrm flipH="1">
            <a:off x="5770739" y="2804640"/>
            <a:ext cx="2500200" cy="48900"/>
          </a:xfrm>
          <a:prstGeom prst="straightConnector1">
            <a:avLst/>
          </a:prstGeom>
          <a:noFill/>
          <a:ln cap="flat" cmpd="sng" w="15375">
            <a:solidFill>
              <a:srgbClr val="FF0000"/>
            </a:solidFill>
            <a:prstDash val="solid"/>
            <a:round/>
            <a:headEnd len="sm" w="sm" type="none"/>
            <a:tailEnd len="med" w="med" type="triangle"/>
          </a:ln>
        </p:spPr>
      </p:cxnSp>
      <p:cxnSp>
        <p:nvCxnSpPr>
          <p:cNvPr id="539" name="Google Shape;539;g3ddac08760b_0_746"/>
          <p:cNvCxnSpPr/>
          <p:nvPr/>
        </p:nvCxnSpPr>
        <p:spPr>
          <a:xfrm flipH="1">
            <a:off x="5582639" y="3050094"/>
            <a:ext cx="2763300" cy="1005600"/>
          </a:xfrm>
          <a:prstGeom prst="straightConnector1">
            <a:avLst/>
          </a:prstGeom>
          <a:noFill/>
          <a:ln cap="flat" cmpd="sng" w="15375">
            <a:solidFill>
              <a:srgbClr val="FF0000"/>
            </a:solidFill>
            <a:prstDash val="solid"/>
            <a:round/>
            <a:headEnd len="sm" w="sm" type="none"/>
            <a:tailEnd len="med" w="med" type="triangle"/>
          </a:ln>
        </p:spPr>
      </p:cxnSp>
      <p:cxnSp>
        <p:nvCxnSpPr>
          <p:cNvPr id="540" name="Google Shape;540;g3ddac08760b_0_746"/>
          <p:cNvCxnSpPr/>
          <p:nvPr/>
        </p:nvCxnSpPr>
        <p:spPr>
          <a:xfrm flipH="1">
            <a:off x="5595039" y="3271046"/>
            <a:ext cx="2700900" cy="1816200"/>
          </a:xfrm>
          <a:prstGeom prst="straightConnector1">
            <a:avLst/>
          </a:prstGeom>
          <a:noFill/>
          <a:ln cap="flat" cmpd="sng" w="15375">
            <a:solidFill>
              <a:srgbClr val="FF0000"/>
            </a:solidFill>
            <a:prstDash val="solid"/>
            <a:round/>
            <a:headEnd len="sm" w="sm"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g3ddac08760b_0_95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46" name="Google Shape;546;g3ddac08760b_0_95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47" name="Google Shape;547;g3ddac08760b_0_955"/>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In C++ possiamo usare gli Specifier “Server”, “Client” e “NetMulticast” per definire il tipo di RPC e “Reliable” o “Unreliable”. </a:t>
            </a:r>
            <a:br>
              <a:rPr lang="en-GB" sz="1600">
                <a:solidFill>
                  <a:schemeClr val="dk1"/>
                </a:solidFill>
                <a:latin typeface="Montserrat"/>
                <a:ea typeface="Montserrat"/>
                <a:cs typeface="Montserrat"/>
                <a:sym typeface="Montserrat"/>
              </a:rPr>
            </a:b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Anche C++ segue la naming convention che usiamo in Blueprint, tuttavia c’e’ un dettaglio importante da tenere a mente.</a:t>
            </a:r>
            <a:endParaRPr sz="1600">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Quando </a:t>
            </a:r>
            <a:r>
              <a:rPr b="1" lang="en-GB" sz="1600">
                <a:solidFill>
                  <a:schemeClr val="dk1"/>
                </a:solidFill>
                <a:latin typeface="Montserrat"/>
                <a:ea typeface="Montserrat"/>
                <a:cs typeface="Montserrat"/>
                <a:sym typeface="Montserrat"/>
              </a:rPr>
              <a:t>DICHIARIAMO </a:t>
            </a:r>
            <a:r>
              <a:rPr lang="en-GB" sz="1600">
                <a:solidFill>
                  <a:schemeClr val="dk1"/>
                </a:solidFill>
                <a:latin typeface="Montserrat"/>
                <a:ea typeface="Montserrat"/>
                <a:cs typeface="Montserrat"/>
                <a:sym typeface="Montserrat"/>
              </a:rPr>
              <a:t>la funzione, mettiamo il tipo di RPC seguito da underscore e il nome della funzione.</a:t>
            </a:r>
            <a:endParaRPr sz="1600">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Quando la </a:t>
            </a:r>
            <a:r>
              <a:rPr b="1" lang="en-GB" sz="1600">
                <a:solidFill>
                  <a:schemeClr val="dk1"/>
                </a:solidFill>
                <a:latin typeface="Montserrat"/>
                <a:ea typeface="Montserrat"/>
                <a:cs typeface="Montserrat"/>
                <a:sym typeface="Montserrat"/>
              </a:rPr>
              <a:t>DEFINIAMO</a:t>
            </a:r>
            <a:r>
              <a:rPr lang="en-GB" sz="1600">
                <a:solidFill>
                  <a:schemeClr val="dk1"/>
                </a:solidFill>
                <a:latin typeface="Montserrat"/>
                <a:ea typeface="Montserrat"/>
                <a:cs typeface="Montserrat"/>
                <a:sym typeface="Montserrat"/>
              </a:rPr>
              <a:t>, seguiamo la stessa regola ma alla fine dobbiamo include “_Implementation”. </a:t>
            </a:r>
            <a:endParaRPr sz="1600">
              <a:solidFill>
                <a:schemeClr val="dk1"/>
              </a:solidFill>
              <a:latin typeface="Montserrat"/>
              <a:ea typeface="Montserrat"/>
              <a:cs typeface="Montserrat"/>
              <a:sym typeface="Montserrat"/>
            </a:endParaRPr>
          </a:p>
          <a:p>
            <a:pPr indent="0" lvl="0" marL="45720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Quando invece vogliamo </a:t>
            </a:r>
            <a:r>
              <a:rPr b="1" lang="en-GB" sz="1600">
                <a:solidFill>
                  <a:schemeClr val="dk1"/>
                </a:solidFill>
                <a:latin typeface="Montserrat"/>
                <a:ea typeface="Montserrat"/>
                <a:cs typeface="Montserrat"/>
                <a:sym typeface="Montserrat"/>
              </a:rPr>
              <a:t>INVOCARE </a:t>
            </a:r>
            <a:r>
              <a:rPr lang="en-GB" sz="1600">
                <a:solidFill>
                  <a:schemeClr val="dk1"/>
                </a:solidFill>
                <a:latin typeface="Montserrat"/>
                <a:ea typeface="Montserrat"/>
                <a:cs typeface="Montserrat"/>
                <a:sym typeface="Montserrat"/>
              </a:rPr>
              <a:t>la funzione, la chiamiamo con il nome </a:t>
            </a:r>
            <a:r>
              <a:rPr b="1" lang="en-GB" sz="1600">
                <a:solidFill>
                  <a:schemeClr val="dk1"/>
                </a:solidFill>
                <a:latin typeface="Montserrat"/>
                <a:ea typeface="Montserrat"/>
                <a:cs typeface="Montserrat"/>
                <a:sym typeface="Montserrat"/>
              </a:rPr>
              <a:t>SENZA </a:t>
            </a:r>
            <a:r>
              <a:rPr lang="en-GB" sz="1600">
                <a:solidFill>
                  <a:schemeClr val="dk1"/>
                </a:solidFill>
                <a:latin typeface="Montserrat"/>
                <a:ea typeface="Montserrat"/>
                <a:cs typeface="Montserrat"/>
                <a:sym typeface="Montserrat"/>
              </a:rPr>
              <a:t>“_Implementation”.</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Gli RPC Multicast non dovrebbero essere usati per gestire l’aggiornamento di stato di valori importanti.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48" name="Google Shape;548;g3ddac08760b_0_95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3ddac08760b_0_96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54" name="Google Shape;554;g3ddac08760b_0_96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a:t>
            </a:r>
            <a:endParaRPr b="1" i="0" sz="1100" u="none" cap="none" strike="noStrike">
              <a:solidFill>
                <a:srgbClr val="FF0000"/>
              </a:solidFill>
              <a:latin typeface="Montserrat"/>
              <a:ea typeface="Montserrat"/>
              <a:cs typeface="Montserrat"/>
              <a:sym typeface="Montserrat"/>
            </a:endParaRPr>
          </a:p>
        </p:txBody>
      </p:sp>
      <p:sp>
        <p:nvSpPr>
          <p:cNvPr id="555" name="Google Shape;555;g3ddac08760b_0_96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556" name="Google Shape;556;g3ddac08760b_0_962"/>
          <p:cNvPicPr preferRelativeResize="0"/>
          <p:nvPr/>
        </p:nvPicPr>
        <p:blipFill rotWithShape="1">
          <a:blip r:embed="rId4">
            <a:alphaModFix/>
          </a:blip>
          <a:srcRect b="0" l="0" r="0" t="0"/>
          <a:stretch/>
        </p:blipFill>
        <p:spPr>
          <a:xfrm>
            <a:off x="1477863" y="2028513"/>
            <a:ext cx="4809050" cy="2800975"/>
          </a:xfrm>
          <a:prstGeom prst="rect">
            <a:avLst/>
          </a:prstGeom>
          <a:noFill/>
          <a:ln cap="flat" cmpd="sng" w="12575">
            <a:solidFill>
              <a:srgbClr val="595959"/>
            </a:solidFill>
            <a:prstDash val="solid"/>
            <a:round/>
            <a:headEnd len="sm" w="sm" type="none"/>
            <a:tailEnd len="sm" w="sm" type="none"/>
          </a:ln>
        </p:spPr>
      </p:pic>
      <p:sp>
        <p:nvSpPr>
          <p:cNvPr id="557" name="Google Shape;557;g3ddac08760b_0_962"/>
          <p:cNvSpPr/>
          <p:nvPr/>
        </p:nvSpPr>
        <p:spPr>
          <a:xfrm>
            <a:off x="2444385" y="2326079"/>
            <a:ext cx="1554900" cy="1989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sp>
        <p:nvSpPr>
          <p:cNvPr id="558" name="Google Shape;558;g3ddac08760b_0_962"/>
          <p:cNvSpPr/>
          <p:nvPr/>
        </p:nvSpPr>
        <p:spPr>
          <a:xfrm>
            <a:off x="2444385" y="3398156"/>
            <a:ext cx="2094000" cy="1989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sp>
        <p:nvSpPr>
          <p:cNvPr id="559" name="Google Shape;559;g3ddac08760b_0_962"/>
          <p:cNvSpPr/>
          <p:nvPr/>
        </p:nvSpPr>
        <p:spPr>
          <a:xfrm>
            <a:off x="2437258" y="4274329"/>
            <a:ext cx="1561800" cy="1989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sp>
        <p:nvSpPr>
          <p:cNvPr id="560" name="Google Shape;560;g3ddac08760b_0_962"/>
          <p:cNvSpPr/>
          <p:nvPr/>
        </p:nvSpPr>
        <p:spPr>
          <a:xfrm>
            <a:off x="1535998" y="2525280"/>
            <a:ext cx="461400" cy="1989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sp>
        <p:nvSpPr>
          <p:cNvPr id="561" name="Google Shape;561;g3ddac08760b_0_962"/>
          <p:cNvSpPr/>
          <p:nvPr/>
        </p:nvSpPr>
        <p:spPr>
          <a:xfrm>
            <a:off x="1535998" y="3640567"/>
            <a:ext cx="461400" cy="1989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pic>
        <p:nvPicPr>
          <p:cNvPr id="562" name="Google Shape;562;g3ddac08760b_0_962"/>
          <p:cNvPicPr preferRelativeResize="0"/>
          <p:nvPr/>
        </p:nvPicPr>
        <p:blipFill rotWithShape="1">
          <a:blip r:embed="rId5">
            <a:alphaModFix/>
          </a:blip>
          <a:srcRect b="0" l="0" r="0" t="0"/>
          <a:stretch/>
        </p:blipFill>
        <p:spPr>
          <a:xfrm>
            <a:off x="6429840" y="2028512"/>
            <a:ext cx="5510140" cy="813369"/>
          </a:xfrm>
          <a:prstGeom prst="rect">
            <a:avLst/>
          </a:prstGeom>
          <a:noFill/>
          <a:ln cap="flat" cmpd="sng" w="12575">
            <a:solidFill>
              <a:srgbClr val="595959"/>
            </a:solidFill>
            <a:prstDash val="solid"/>
            <a:round/>
            <a:headEnd len="sm" w="sm" type="none"/>
            <a:tailEnd len="sm" w="sm" type="none"/>
          </a:ln>
        </p:spPr>
      </p:pic>
      <p:sp>
        <p:nvSpPr>
          <p:cNvPr id="563" name="Google Shape;563;g3ddac08760b_0_962"/>
          <p:cNvSpPr/>
          <p:nvPr/>
        </p:nvSpPr>
        <p:spPr>
          <a:xfrm>
            <a:off x="10508638" y="2109759"/>
            <a:ext cx="1238700" cy="2781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pic>
        <p:nvPicPr>
          <p:cNvPr id="564" name="Google Shape;564;g3ddac08760b_0_962"/>
          <p:cNvPicPr preferRelativeResize="0"/>
          <p:nvPr/>
        </p:nvPicPr>
        <p:blipFill rotWithShape="1">
          <a:blip r:embed="rId6">
            <a:alphaModFix/>
          </a:blip>
          <a:srcRect b="0" l="0" r="0" t="0"/>
          <a:stretch/>
        </p:blipFill>
        <p:spPr>
          <a:xfrm>
            <a:off x="6429848" y="2953516"/>
            <a:ext cx="5510139" cy="1875971"/>
          </a:xfrm>
          <a:prstGeom prst="rect">
            <a:avLst/>
          </a:prstGeom>
          <a:noFill/>
          <a:ln cap="flat" cmpd="sng" w="12575">
            <a:solidFill>
              <a:srgbClr val="595959"/>
            </a:solidFill>
            <a:prstDash val="solid"/>
            <a:round/>
            <a:headEnd len="sm" w="sm" type="none"/>
            <a:tailEnd len="sm" w="sm" type="none"/>
          </a:ln>
        </p:spPr>
      </p:pic>
      <p:sp>
        <p:nvSpPr>
          <p:cNvPr id="565" name="Google Shape;565;g3ddac08760b_0_962"/>
          <p:cNvSpPr/>
          <p:nvPr/>
        </p:nvSpPr>
        <p:spPr>
          <a:xfrm>
            <a:off x="6944319" y="4159374"/>
            <a:ext cx="2357700" cy="344100"/>
          </a:xfrm>
          <a:prstGeom prst="rect">
            <a:avLst/>
          </a:prstGeom>
          <a:noFill/>
          <a:ln cap="flat" cmpd="sng" w="25150">
            <a:solidFill>
              <a:srgbClr val="FF0000"/>
            </a:solidFill>
            <a:prstDash val="solid"/>
            <a:round/>
            <a:headEnd len="sm" w="sm" type="none"/>
            <a:tailEnd len="sm" w="sm" type="none"/>
          </a:ln>
        </p:spPr>
        <p:txBody>
          <a:bodyPr anchorCtr="0" anchor="ctr" bIns="120725" lIns="120725" spcFirstLastPara="1" rIns="120725" wrap="square" tIns="120725">
            <a:noAutofit/>
          </a:bodyPr>
          <a:lstStyle/>
          <a:p>
            <a:pPr indent="0" lvl="0" marL="0" marR="0" rtl="0" algn="ctr">
              <a:lnSpc>
                <a:spcPct val="100000"/>
              </a:lnSpc>
              <a:spcBef>
                <a:spcPts val="0"/>
              </a:spcBef>
              <a:spcAft>
                <a:spcPts val="0"/>
              </a:spcAft>
              <a:buClr>
                <a:srgbClr val="000000"/>
              </a:buClr>
              <a:buSzPts val="1849"/>
              <a:buFont typeface="Arial"/>
              <a:buNone/>
            </a:pPr>
            <a:r>
              <a:t/>
            </a:r>
            <a:endParaRPr b="0" i="0" sz="1849"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id="570" name="Google Shape;570;g3ddac08760b_0_759"/>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571" name="Google Shape;571;g3ddac08760b_0_759"/>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 - Client</a:t>
            </a:r>
            <a:endParaRPr b="1" i="0" sz="1100" u="none" cap="none" strike="noStrike">
              <a:solidFill>
                <a:srgbClr val="FF0000"/>
              </a:solidFill>
              <a:latin typeface="Montserrat"/>
              <a:ea typeface="Montserrat"/>
              <a:cs typeface="Montserrat"/>
              <a:sym typeface="Montserrat"/>
            </a:endParaRPr>
          </a:p>
        </p:txBody>
      </p:sp>
      <p:sp>
        <p:nvSpPr>
          <p:cNvPr id="572" name="Google Shape;572;g3ddac08760b_0_759"/>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Un Client RPC è una funzione chiamata dal server verso uno specifico Client, con l'obiettivo di eseguire del codice solo su quel Client.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È usata per inviare informazioni personalizzate a un Client, come ad esempio mostrare un messaggio UI solo per quel giocatore oppure avvisare il Client che qualcosa è accaduto sul Server (es. cambiamento di stato, feedback sonoro, ecc.).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L’attore deve essere relevant per il Client target </a:t>
            </a:r>
            <a:r>
              <a:rPr lang="en-GB" sz="1600">
                <a:solidFill>
                  <a:schemeClr val="dk1"/>
                </a:solidFill>
                <a:latin typeface="Montserrat"/>
                <a:ea typeface="Montserrat"/>
                <a:cs typeface="Montserrat"/>
                <a:sym typeface="Montserrat"/>
              </a:rPr>
              <a:t>poiché</a:t>
            </a:r>
            <a:r>
              <a:rPr lang="en-GB" sz="1600">
                <a:solidFill>
                  <a:schemeClr val="dk1"/>
                </a:solidFill>
                <a:latin typeface="Montserrat"/>
                <a:ea typeface="Montserrat"/>
                <a:cs typeface="Montserrat"/>
                <a:sym typeface="Montserrat"/>
              </a:rPr>
              <a:t> se il Client non "vede" (network relevance) quell’attore, non riceverà la chiamata.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573" name="Google Shape;573;g3ddac08760b_0_759"/>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4" name="Google Shape;574;g3ddac08760b_0_759"/>
          <p:cNvSpPr/>
          <p:nvPr/>
        </p:nvSpPr>
        <p:spPr>
          <a:xfrm>
            <a:off x="3540825" y="4047300"/>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575" name="Google Shape;575;g3ddac08760b_0_759"/>
          <p:cNvSpPr/>
          <p:nvPr/>
        </p:nvSpPr>
        <p:spPr>
          <a:xfrm>
            <a:off x="2925825" y="5508475"/>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76" name="Google Shape;576;g3ddac08760b_0_759"/>
          <p:cNvSpPr/>
          <p:nvPr/>
        </p:nvSpPr>
        <p:spPr>
          <a:xfrm>
            <a:off x="4314400" y="5508475"/>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77" name="Google Shape;577;g3ddac08760b_0_759"/>
          <p:cNvSpPr/>
          <p:nvPr/>
        </p:nvSpPr>
        <p:spPr>
          <a:xfrm>
            <a:off x="3718075"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78" name="Google Shape;578;g3ddac08760b_0_759"/>
          <p:cNvSpPr/>
          <p:nvPr/>
        </p:nvSpPr>
        <p:spPr>
          <a:xfrm>
            <a:off x="4066300"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79" name="Google Shape;579;g3ddac08760b_0_759"/>
          <p:cNvSpPr/>
          <p:nvPr/>
        </p:nvSpPr>
        <p:spPr>
          <a:xfrm>
            <a:off x="303746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80" name="Google Shape;580;g3ddac08760b_0_759"/>
          <p:cNvSpPr/>
          <p:nvPr/>
        </p:nvSpPr>
        <p:spPr>
          <a:xfrm>
            <a:off x="338568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81" name="Google Shape;581;g3ddac08760b_0_759"/>
          <p:cNvSpPr/>
          <p:nvPr/>
        </p:nvSpPr>
        <p:spPr>
          <a:xfrm>
            <a:off x="442603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82" name="Google Shape;582;g3ddac08760b_0_759"/>
          <p:cNvSpPr/>
          <p:nvPr/>
        </p:nvSpPr>
        <p:spPr>
          <a:xfrm>
            <a:off x="477426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83" name="Google Shape;583;g3ddac08760b_0_759"/>
          <p:cNvSpPr txBox="1"/>
          <p:nvPr/>
        </p:nvSpPr>
        <p:spPr>
          <a:xfrm>
            <a:off x="2713950" y="3781550"/>
            <a:ext cx="27741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Client RPC su un Actor specifico</a:t>
            </a:r>
            <a:endParaRPr b="0" i="0" sz="1200" u="none" cap="none" strike="noStrike">
              <a:solidFill>
                <a:schemeClr val="dk1"/>
              </a:solidFill>
              <a:latin typeface="Montserrat"/>
              <a:ea typeface="Montserrat"/>
              <a:cs typeface="Montserrat"/>
              <a:sym typeface="Montserrat"/>
            </a:endParaRPr>
          </a:p>
        </p:txBody>
      </p:sp>
      <p:cxnSp>
        <p:nvCxnSpPr>
          <p:cNvPr id="584" name="Google Shape;584;g3ddac08760b_0_759"/>
          <p:cNvCxnSpPr>
            <a:endCxn id="577" idx="0"/>
          </p:cNvCxnSpPr>
          <p:nvPr/>
        </p:nvCxnSpPr>
        <p:spPr>
          <a:xfrm>
            <a:off x="3624325" y="4151050"/>
            <a:ext cx="217800" cy="316500"/>
          </a:xfrm>
          <a:prstGeom prst="straightConnector1">
            <a:avLst/>
          </a:prstGeom>
          <a:noFill/>
          <a:ln cap="flat" cmpd="sng" w="9525">
            <a:solidFill>
              <a:srgbClr val="595959"/>
            </a:solidFill>
            <a:prstDash val="solid"/>
            <a:round/>
            <a:headEnd len="sm" w="sm" type="none"/>
            <a:tailEnd len="med" w="med" type="triangle"/>
          </a:ln>
        </p:spPr>
      </p:cxnSp>
      <p:sp>
        <p:nvSpPr>
          <p:cNvPr id="585" name="Google Shape;585;g3ddac08760b_0_759"/>
          <p:cNvSpPr/>
          <p:nvPr/>
        </p:nvSpPr>
        <p:spPr>
          <a:xfrm>
            <a:off x="629327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586" name="Google Shape;586;g3ddac08760b_0_759"/>
          <p:cNvSpPr/>
          <p:nvPr/>
        </p:nvSpPr>
        <p:spPr>
          <a:xfrm>
            <a:off x="567827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87" name="Google Shape;587;g3ddac08760b_0_759"/>
          <p:cNvSpPr/>
          <p:nvPr/>
        </p:nvSpPr>
        <p:spPr>
          <a:xfrm>
            <a:off x="706685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88" name="Google Shape;588;g3ddac08760b_0_759"/>
          <p:cNvSpPr/>
          <p:nvPr/>
        </p:nvSpPr>
        <p:spPr>
          <a:xfrm>
            <a:off x="6470525"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89" name="Google Shape;589;g3ddac08760b_0_759"/>
          <p:cNvSpPr/>
          <p:nvPr/>
        </p:nvSpPr>
        <p:spPr>
          <a:xfrm>
            <a:off x="681875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90" name="Google Shape;590;g3ddac08760b_0_759"/>
          <p:cNvSpPr/>
          <p:nvPr/>
        </p:nvSpPr>
        <p:spPr>
          <a:xfrm>
            <a:off x="57899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91" name="Google Shape;591;g3ddac08760b_0_759"/>
          <p:cNvSpPr/>
          <p:nvPr/>
        </p:nvSpPr>
        <p:spPr>
          <a:xfrm>
            <a:off x="61381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92" name="Google Shape;592;g3ddac08760b_0_759"/>
          <p:cNvSpPr/>
          <p:nvPr/>
        </p:nvSpPr>
        <p:spPr>
          <a:xfrm>
            <a:off x="717848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93" name="Google Shape;593;g3ddac08760b_0_759"/>
          <p:cNvSpPr/>
          <p:nvPr/>
        </p:nvSpPr>
        <p:spPr>
          <a:xfrm>
            <a:off x="75267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594" name="Google Shape;594;g3ddac08760b_0_759"/>
          <p:cNvSpPr txBox="1"/>
          <p:nvPr/>
        </p:nvSpPr>
        <p:spPr>
          <a:xfrm>
            <a:off x="5304875" y="4645000"/>
            <a:ext cx="11658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Trova copia remota nel client</a:t>
            </a:r>
            <a:endParaRPr b="0" i="0" sz="1200" u="none" cap="none" strike="noStrike">
              <a:solidFill>
                <a:schemeClr val="dk1"/>
              </a:solidFill>
              <a:latin typeface="Montserrat"/>
              <a:ea typeface="Montserrat"/>
              <a:cs typeface="Montserrat"/>
              <a:sym typeface="Montserrat"/>
            </a:endParaRPr>
          </a:p>
        </p:txBody>
      </p:sp>
      <p:cxnSp>
        <p:nvCxnSpPr>
          <p:cNvPr id="595" name="Google Shape;595;g3ddac08760b_0_759"/>
          <p:cNvCxnSpPr>
            <a:endCxn id="586" idx="0"/>
          </p:cNvCxnSpPr>
          <p:nvPr/>
        </p:nvCxnSpPr>
        <p:spPr>
          <a:xfrm flipH="1">
            <a:off x="6088075" y="4699363"/>
            <a:ext cx="487500" cy="809100"/>
          </a:xfrm>
          <a:prstGeom prst="straightConnector1">
            <a:avLst/>
          </a:prstGeom>
          <a:noFill/>
          <a:ln cap="flat" cmpd="sng" w="9525">
            <a:solidFill>
              <a:srgbClr val="595959"/>
            </a:solidFill>
            <a:prstDash val="solid"/>
            <a:round/>
            <a:headEnd len="sm" w="sm" type="none"/>
            <a:tailEnd len="med" w="med" type="triangle"/>
          </a:ln>
        </p:spPr>
      </p:cxnSp>
      <p:cxnSp>
        <p:nvCxnSpPr>
          <p:cNvPr id="596" name="Google Shape;596;g3ddac08760b_0_759"/>
          <p:cNvCxnSpPr>
            <a:stCxn id="586" idx="0"/>
            <a:endCxn id="590" idx="0"/>
          </p:cNvCxnSpPr>
          <p:nvPr/>
        </p:nvCxnSpPr>
        <p:spPr>
          <a:xfrm flipH="1">
            <a:off x="5914075" y="5508463"/>
            <a:ext cx="174000" cy="416100"/>
          </a:xfrm>
          <a:prstGeom prst="straightConnector1">
            <a:avLst/>
          </a:prstGeom>
          <a:noFill/>
          <a:ln cap="flat" cmpd="sng" w="9525">
            <a:solidFill>
              <a:srgbClr val="595959"/>
            </a:solidFill>
            <a:prstDash val="solid"/>
            <a:round/>
            <a:headEnd len="sm" w="sm" type="none"/>
            <a:tailEnd len="med" w="med" type="triangle"/>
          </a:ln>
        </p:spPr>
      </p:cxnSp>
      <p:sp>
        <p:nvSpPr>
          <p:cNvPr id="597" name="Google Shape;597;g3ddac08760b_0_759"/>
          <p:cNvSpPr/>
          <p:nvPr/>
        </p:nvSpPr>
        <p:spPr>
          <a:xfrm>
            <a:off x="911072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598" name="Google Shape;598;g3ddac08760b_0_759"/>
          <p:cNvSpPr/>
          <p:nvPr/>
        </p:nvSpPr>
        <p:spPr>
          <a:xfrm>
            <a:off x="849572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599" name="Google Shape;599;g3ddac08760b_0_759"/>
          <p:cNvSpPr/>
          <p:nvPr/>
        </p:nvSpPr>
        <p:spPr>
          <a:xfrm>
            <a:off x="988430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00" name="Google Shape;600;g3ddac08760b_0_759"/>
          <p:cNvSpPr/>
          <p:nvPr/>
        </p:nvSpPr>
        <p:spPr>
          <a:xfrm>
            <a:off x="9287975"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01" name="Google Shape;601;g3ddac08760b_0_759"/>
          <p:cNvSpPr/>
          <p:nvPr/>
        </p:nvSpPr>
        <p:spPr>
          <a:xfrm>
            <a:off x="963620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02" name="Google Shape;602;g3ddac08760b_0_759"/>
          <p:cNvSpPr/>
          <p:nvPr/>
        </p:nvSpPr>
        <p:spPr>
          <a:xfrm>
            <a:off x="8607363" y="5924463"/>
            <a:ext cx="248100" cy="231600"/>
          </a:xfrm>
          <a:prstGeom prst="rect">
            <a:avLst/>
          </a:prstGeom>
          <a:solidFill>
            <a:srgbClr val="0069E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03" name="Google Shape;603;g3ddac08760b_0_759"/>
          <p:cNvSpPr/>
          <p:nvPr/>
        </p:nvSpPr>
        <p:spPr>
          <a:xfrm>
            <a:off x="895558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04" name="Google Shape;604;g3ddac08760b_0_759"/>
          <p:cNvSpPr/>
          <p:nvPr/>
        </p:nvSpPr>
        <p:spPr>
          <a:xfrm>
            <a:off x="99959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05" name="Google Shape;605;g3ddac08760b_0_759"/>
          <p:cNvSpPr txBox="1"/>
          <p:nvPr/>
        </p:nvSpPr>
        <p:spPr>
          <a:xfrm>
            <a:off x="8280338" y="5042575"/>
            <a:ext cx="11658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logica locale</a:t>
            </a:r>
            <a:endParaRPr b="0" i="0" sz="12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id="610" name="Google Shape;610;g3ddac08760b_0_80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611" name="Google Shape;611;g3ddac08760b_0_80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 - Server</a:t>
            </a:r>
            <a:endParaRPr b="1" i="0" sz="1100" u="none" cap="none" strike="noStrike">
              <a:solidFill>
                <a:srgbClr val="FF0000"/>
              </a:solidFill>
              <a:latin typeface="Montserrat"/>
              <a:ea typeface="Montserrat"/>
              <a:cs typeface="Montserrat"/>
              <a:sym typeface="Montserrat"/>
            </a:endParaRPr>
          </a:p>
        </p:txBody>
      </p:sp>
      <p:sp>
        <p:nvSpPr>
          <p:cNvPr id="612" name="Google Shape;612;g3ddac08760b_0_806"/>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Un Server RPC è una funzione chiamata dal client verso il server, con l’obiettivo di far eseguire del codice solo sul server.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Questo permette ai Client di influenzare l’istanza del mondo di gioco sul Server.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Solo il Client che è Owner dell’attore può chiamare un Server RPC.</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613" name="Google Shape;613;g3ddac08760b_0_80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14" name="Google Shape;614;g3ddac08760b_0_806"/>
          <p:cNvSpPr/>
          <p:nvPr/>
        </p:nvSpPr>
        <p:spPr>
          <a:xfrm>
            <a:off x="3568775" y="4047300"/>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15" name="Google Shape;615;g3ddac08760b_0_806"/>
          <p:cNvSpPr/>
          <p:nvPr/>
        </p:nvSpPr>
        <p:spPr>
          <a:xfrm>
            <a:off x="2953775" y="5508475"/>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16" name="Google Shape;616;g3ddac08760b_0_806"/>
          <p:cNvSpPr/>
          <p:nvPr/>
        </p:nvSpPr>
        <p:spPr>
          <a:xfrm>
            <a:off x="4342350" y="5508475"/>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17" name="Google Shape;617;g3ddac08760b_0_806"/>
          <p:cNvSpPr/>
          <p:nvPr/>
        </p:nvSpPr>
        <p:spPr>
          <a:xfrm>
            <a:off x="3746025"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18" name="Google Shape;618;g3ddac08760b_0_806"/>
          <p:cNvSpPr/>
          <p:nvPr/>
        </p:nvSpPr>
        <p:spPr>
          <a:xfrm>
            <a:off x="4094250"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19" name="Google Shape;619;g3ddac08760b_0_806"/>
          <p:cNvSpPr/>
          <p:nvPr/>
        </p:nvSpPr>
        <p:spPr>
          <a:xfrm>
            <a:off x="306541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20" name="Google Shape;620;g3ddac08760b_0_806"/>
          <p:cNvSpPr/>
          <p:nvPr/>
        </p:nvSpPr>
        <p:spPr>
          <a:xfrm>
            <a:off x="341363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21" name="Google Shape;621;g3ddac08760b_0_806"/>
          <p:cNvSpPr/>
          <p:nvPr/>
        </p:nvSpPr>
        <p:spPr>
          <a:xfrm>
            <a:off x="445398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22" name="Google Shape;622;g3ddac08760b_0_806"/>
          <p:cNvSpPr/>
          <p:nvPr/>
        </p:nvSpPr>
        <p:spPr>
          <a:xfrm>
            <a:off x="480221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23" name="Google Shape;623;g3ddac08760b_0_806"/>
          <p:cNvSpPr txBox="1"/>
          <p:nvPr/>
        </p:nvSpPr>
        <p:spPr>
          <a:xfrm>
            <a:off x="2686000" y="5042575"/>
            <a:ext cx="18732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Server RPC su un Actor specifico</a:t>
            </a:r>
            <a:endParaRPr b="0" i="0" sz="1200" u="none" cap="none" strike="noStrike">
              <a:solidFill>
                <a:schemeClr val="dk1"/>
              </a:solidFill>
              <a:latin typeface="Montserrat"/>
              <a:ea typeface="Montserrat"/>
              <a:cs typeface="Montserrat"/>
              <a:sym typeface="Montserrat"/>
            </a:endParaRPr>
          </a:p>
        </p:txBody>
      </p:sp>
      <p:sp>
        <p:nvSpPr>
          <p:cNvPr id="624" name="Google Shape;624;g3ddac08760b_0_806"/>
          <p:cNvSpPr/>
          <p:nvPr/>
        </p:nvSpPr>
        <p:spPr>
          <a:xfrm>
            <a:off x="632122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25" name="Google Shape;625;g3ddac08760b_0_806"/>
          <p:cNvSpPr/>
          <p:nvPr/>
        </p:nvSpPr>
        <p:spPr>
          <a:xfrm>
            <a:off x="570622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26" name="Google Shape;626;g3ddac08760b_0_806"/>
          <p:cNvSpPr/>
          <p:nvPr/>
        </p:nvSpPr>
        <p:spPr>
          <a:xfrm>
            <a:off x="709480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27" name="Google Shape;627;g3ddac08760b_0_806"/>
          <p:cNvSpPr/>
          <p:nvPr/>
        </p:nvSpPr>
        <p:spPr>
          <a:xfrm>
            <a:off x="6498475"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28" name="Google Shape;628;g3ddac08760b_0_806"/>
          <p:cNvSpPr/>
          <p:nvPr/>
        </p:nvSpPr>
        <p:spPr>
          <a:xfrm>
            <a:off x="684670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29" name="Google Shape;629;g3ddac08760b_0_806"/>
          <p:cNvSpPr/>
          <p:nvPr/>
        </p:nvSpPr>
        <p:spPr>
          <a:xfrm>
            <a:off x="581786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30" name="Google Shape;630;g3ddac08760b_0_806"/>
          <p:cNvSpPr/>
          <p:nvPr/>
        </p:nvSpPr>
        <p:spPr>
          <a:xfrm>
            <a:off x="616608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31" name="Google Shape;631;g3ddac08760b_0_806"/>
          <p:cNvSpPr/>
          <p:nvPr/>
        </p:nvSpPr>
        <p:spPr>
          <a:xfrm>
            <a:off x="72064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32" name="Google Shape;632;g3ddac08760b_0_806"/>
          <p:cNvSpPr/>
          <p:nvPr/>
        </p:nvSpPr>
        <p:spPr>
          <a:xfrm>
            <a:off x="755466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33" name="Google Shape;633;g3ddac08760b_0_806"/>
          <p:cNvSpPr txBox="1"/>
          <p:nvPr/>
        </p:nvSpPr>
        <p:spPr>
          <a:xfrm>
            <a:off x="5161950" y="4645000"/>
            <a:ext cx="13368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Trova  la copia remota sul Server</a:t>
            </a:r>
            <a:endParaRPr b="0" i="0" sz="1200" u="none" cap="none" strike="noStrike">
              <a:solidFill>
                <a:schemeClr val="dk1"/>
              </a:solidFill>
              <a:latin typeface="Montserrat"/>
              <a:ea typeface="Montserrat"/>
              <a:cs typeface="Montserrat"/>
              <a:sym typeface="Montserrat"/>
            </a:endParaRPr>
          </a:p>
        </p:txBody>
      </p:sp>
      <p:sp>
        <p:nvSpPr>
          <p:cNvPr id="634" name="Google Shape;634;g3ddac08760b_0_806"/>
          <p:cNvSpPr/>
          <p:nvPr/>
        </p:nvSpPr>
        <p:spPr>
          <a:xfrm>
            <a:off x="913867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35" name="Google Shape;635;g3ddac08760b_0_806"/>
          <p:cNvSpPr/>
          <p:nvPr/>
        </p:nvSpPr>
        <p:spPr>
          <a:xfrm>
            <a:off x="852367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36" name="Google Shape;636;g3ddac08760b_0_806"/>
          <p:cNvSpPr/>
          <p:nvPr/>
        </p:nvSpPr>
        <p:spPr>
          <a:xfrm>
            <a:off x="991225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37" name="Google Shape;637;g3ddac08760b_0_806"/>
          <p:cNvSpPr/>
          <p:nvPr/>
        </p:nvSpPr>
        <p:spPr>
          <a:xfrm>
            <a:off x="9315925" y="4467538"/>
            <a:ext cx="248100" cy="231600"/>
          </a:xfrm>
          <a:prstGeom prst="rect">
            <a:avLst/>
          </a:prstGeom>
          <a:solidFill>
            <a:srgbClr val="0069E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38" name="Google Shape;638;g3ddac08760b_0_806"/>
          <p:cNvSpPr/>
          <p:nvPr/>
        </p:nvSpPr>
        <p:spPr>
          <a:xfrm>
            <a:off x="966415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39" name="Google Shape;639;g3ddac08760b_0_806"/>
          <p:cNvSpPr/>
          <p:nvPr/>
        </p:nvSpPr>
        <p:spPr>
          <a:xfrm>
            <a:off x="86353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40" name="Google Shape;640;g3ddac08760b_0_806"/>
          <p:cNvSpPr/>
          <p:nvPr/>
        </p:nvSpPr>
        <p:spPr>
          <a:xfrm>
            <a:off x="89835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41" name="Google Shape;641;g3ddac08760b_0_806"/>
          <p:cNvSpPr/>
          <p:nvPr/>
        </p:nvSpPr>
        <p:spPr>
          <a:xfrm>
            <a:off x="1002388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42" name="Google Shape;642;g3ddac08760b_0_806"/>
          <p:cNvSpPr/>
          <p:nvPr/>
        </p:nvSpPr>
        <p:spPr>
          <a:xfrm>
            <a:off x="103721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43" name="Google Shape;643;g3ddac08760b_0_806"/>
          <p:cNvSpPr txBox="1"/>
          <p:nvPr/>
        </p:nvSpPr>
        <p:spPr>
          <a:xfrm>
            <a:off x="8369338" y="4949200"/>
            <a:ext cx="23499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logica localmente sul Server</a:t>
            </a:r>
            <a:endParaRPr b="0" i="0" sz="1200" u="none" cap="none" strike="noStrike">
              <a:solidFill>
                <a:schemeClr val="dk1"/>
              </a:solidFill>
              <a:latin typeface="Montserrat"/>
              <a:ea typeface="Montserrat"/>
              <a:cs typeface="Montserrat"/>
              <a:sym typeface="Montserrat"/>
            </a:endParaRPr>
          </a:p>
        </p:txBody>
      </p:sp>
      <p:cxnSp>
        <p:nvCxnSpPr>
          <p:cNvPr id="644" name="Google Shape;644;g3ddac08760b_0_806"/>
          <p:cNvCxnSpPr>
            <a:endCxn id="619" idx="0"/>
          </p:cNvCxnSpPr>
          <p:nvPr/>
        </p:nvCxnSpPr>
        <p:spPr>
          <a:xfrm>
            <a:off x="3180163" y="5556375"/>
            <a:ext cx="9300" cy="368100"/>
          </a:xfrm>
          <a:prstGeom prst="straightConnector1">
            <a:avLst/>
          </a:prstGeom>
          <a:noFill/>
          <a:ln cap="flat" cmpd="sng" w="9525">
            <a:solidFill>
              <a:srgbClr val="595959"/>
            </a:solidFill>
            <a:prstDash val="solid"/>
            <a:round/>
            <a:headEnd len="sm" w="sm" type="none"/>
            <a:tailEnd len="med" w="med" type="triangle"/>
          </a:ln>
        </p:spPr>
      </p:cxnSp>
      <p:cxnSp>
        <p:nvCxnSpPr>
          <p:cNvPr id="645" name="Google Shape;645;g3ddac08760b_0_806"/>
          <p:cNvCxnSpPr>
            <a:stCxn id="629" idx="0"/>
            <a:endCxn id="625" idx="0"/>
          </p:cNvCxnSpPr>
          <p:nvPr/>
        </p:nvCxnSpPr>
        <p:spPr>
          <a:xfrm flipH="1" rot="10800000">
            <a:off x="5941913" y="5508363"/>
            <a:ext cx="174000" cy="416100"/>
          </a:xfrm>
          <a:prstGeom prst="straightConnector1">
            <a:avLst/>
          </a:prstGeom>
          <a:noFill/>
          <a:ln cap="flat" cmpd="sng" w="9525">
            <a:solidFill>
              <a:srgbClr val="595959"/>
            </a:solidFill>
            <a:prstDash val="solid"/>
            <a:round/>
            <a:headEnd len="sm" w="sm" type="none"/>
            <a:tailEnd len="med" w="med" type="triangle"/>
          </a:ln>
        </p:spPr>
      </p:cxnSp>
      <p:cxnSp>
        <p:nvCxnSpPr>
          <p:cNvPr id="646" name="Google Shape;646;g3ddac08760b_0_806"/>
          <p:cNvCxnSpPr>
            <a:stCxn id="625" idx="0"/>
            <a:endCxn id="627" idx="2"/>
          </p:cNvCxnSpPr>
          <p:nvPr/>
        </p:nvCxnSpPr>
        <p:spPr>
          <a:xfrm flipH="1" rot="10800000">
            <a:off x="6116025" y="4699063"/>
            <a:ext cx="506400" cy="809400"/>
          </a:xfrm>
          <a:prstGeom prst="straightConnector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g3ddac08760b_0_81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652" name="Google Shape;652;g3ddac08760b_0_81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RPC - Multicast</a:t>
            </a:r>
            <a:endParaRPr b="1" i="0" sz="1100" u="none" cap="none" strike="noStrike">
              <a:solidFill>
                <a:srgbClr val="FF0000"/>
              </a:solidFill>
              <a:latin typeface="Montserrat"/>
              <a:ea typeface="Montserrat"/>
              <a:cs typeface="Montserrat"/>
              <a:sym typeface="Montserrat"/>
            </a:endParaRPr>
          </a:p>
        </p:txBody>
      </p:sp>
      <p:sp>
        <p:nvSpPr>
          <p:cNvPr id="653" name="Google Shape;653;g3ddac08760b_0_81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Un Multicast RPC è una funzione chiamata dal Server, che viene eseguita su tutti i Client con una copia replicata dell’attore su cui è stata invocata.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Viene utilizzato per eseguire della logica localmente su tutti, sia Server che Client.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E’ usato principalmente per effetti cosmetici o eventi che non hanno impatti concreti sullo stato del mondo.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E’ sconsigliato l’uso dei Multicast RPC per logica di gameplay critica (es. danni): e’ sempre preferibile logica deterministica sul server e replica delle variabili.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L’attore deve essere relevant per i Client target: se un Client non "vede" (network relevance) quell’attore, non riceverà la chiamata.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654" name="Google Shape;654;g3ddac08760b_0_81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655" name="Google Shape;655;g3ddac08760b_0_813"/>
          <p:cNvSpPr/>
          <p:nvPr/>
        </p:nvSpPr>
        <p:spPr>
          <a:xfrm>
            <a:off x="3540825" y="4047300"/>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56" name="Google Shape;656;g3ddac08760b_0_813"/>
          <p:cNvSpPr/>
          <p:nvPr/>
        </p:nvSpPr>
        <p:spPr>
          <a:xfrm>
            <a:off x="2925825" y="5508475"/>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57" name="Google Shape;657;g3ddac08760b_0_813"/>
          <p:cNvSpPr/>
          <p:nvPr/>
        </p:nvSpPr>
        <p:spPr>
          <a:xfrm>
            <a:off x="4314400" y="5508475"/>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58" name="Google Shape;658;g3ddac08760b_0_813"/>
          <p:cNvSpPr/>
          <p:nvPr/>
        </p:nvSpPr>
        <p:spPr>
          <a:xfrm>
            <a:off x="3718075"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59" name="Google Shape;659;g3ddac08760b_0_813"/>
          <p:cNvSpPr/>
          <p:nvPr/>
        </p:nvSpPr>
        <p:spPr>
          <a:xfrm>
            <a:off x="4066300" y="4467550"/>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60" name="Google Shape;660;g3ddac08760b_0_813"/>
          <p:cNvSpPr/>
          <p:nvPr/>
        </p:nvSpPr>
        <p:spPr>
          <a:xfrm>
            <a:off x="303746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61" name="Google Shape;661;g3ddac08760b_0_813"/>
          <p:cNvSpPr/>
          <p:nvPr/>
        </p:nvSpPr>
        <p:spPr>
          <a:xfrm>
            <a:off x="338568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62" name="Google Shape;662;g3ddac08760b_0_813"/>
          <p:cNvSpPr/>
          <p:nvPr/>
        </p:nvSpPr>
        <p:spPr>
          <a:xfrm>
            <a:off x="4426038"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63" name="Google Shape;663;g3ddac08760b_0_813"/>
          <p:cNvSpPr/>
          <p:nvPr/>
        </p:nvSpPr>
        <p:spPr>
          <a:xfrm>
            <a:off x="4774263" y="5924475"/>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64" name="Google Shape;664;g3ddac08760b_0_813"/>
          <p:cNvSpPr txBox="1"/>
          <p:nvPr/>
        </p:nvSpPr>
        <p:spPr>
          <a:xfrm>
            <a:off x="2713950" y="3781550"/>
            <a:ext cx="27741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Multicast RPC su un Actor specifico</a:t>
            </a:r>
            <a:endParaRPr b="0" i="0" sz="1200" u="none" cap="none" strike="noStrike">
              <a:solidFill>
                <a:schemeClr val="dk1"/>
              </a:solidFill>
              <a:latin typeface="Montserrat"/>
              <a:ea typeface="Montserrat"/>
              <a:cs typeface="Montserrat"/>
              <a:sym typeface="Montserrat"/>
            </a:endParaRPr>
          </a:p>
        </p:txBody>
      </p:sp>
      <p:cxnSp>
        <p:nvCxnSpPr>
          <p:cNvPr id="665" name="Google Shape;665;g3ddac08760b_0_813"/>
          <p:cNvCxnSpPr>
            <a:endCxn id="658" idx="0"/>
          </p:cNvCxnSpPr>
          <p:nvPr/>
        </p:nvCxnSpPr>
        <p:spPr>
          <a:xfrm>
            <a:off x="3624325" y="4151050"/>
            <a:ext cx="217800" cy="316500"/>
          </a:xfrm>
          <a:prstGeom prst="straightConnector1">
            <a:avLst/>
          </a:prstGeom>
          <a:noFill/>
          <a:ln cap="flat" cmpd="sng" w="9525">
            <a:solidFill>
              <a:srgbClr val="595959"/>
            </a:solidFill>
            <a:prstDash val="solid"/>
            <a:round/>
            <a:headEnd len="sm" w="sm" type="none"/>
            <a:tailEnd len="med" w="med" type="triangle"/>
          </a:ln>
        </p:spPr>
      </p:cxnSp>
      <p:sp>
        <p:nvSpPr>
          <p:cNvPr id="666" name="Google Shape;666;g3ddac08760b_0_813"/>
          <p:cNvSpPr/>
          <p:nvPr/>
        </p:nvSpPr>
        <p:spPr>
          <a:xfrm>
            <a:off x="629327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67" name="Google Shape;667;g3ddac08760b_0_813"/>
          <p:cNvSpPr/>
          <p:nvPr/>
        </p:nvSpPr>
        <p:spPr>
          <a:xfrm>
            <a:off x="567827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68" name="Google Shape;668;g3ddac08760b_0_813"/>
          <p:cNvSpPr/>
          <p:nvPr/>
        </p:nvSpPr>
        <p:spPr>
          <a:xfrm>
            <a:off x="706685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69" name="Google Shape;669;g3ddac08760b_0_813"/>
          <p:cNvSpPr/>
          <p:nvPr/>
        </p:nvSpPr>
        <p:spPr>
          <a:xfrm>
            <a:off x="6470525"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70" name="Google Shape;670;g3ddac08760b_0_813"/>
          <p:cNvSpPr/>
          <p:nvPr/>
        </p:nvSpPr>
        <p:spPr>
          <a:xfrm>
            <a:off x="681875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71" name="Google Shape;671;g3ddac08760b_0_813"/>
          <p:cNvSpPr/>
          <p:nvPr/>
        </p:nvSpPr>
        <p:spPr>
          <a:xfrm>
            <a:off x="57899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72" name="Google Shape;672;g3ddac08760b_0_813"/>
          <p:cNvSpPr/>
          <p:nvPr/>
        </p:nvSpPr>
        <p:spPr>
          <a:xfrm>
            <a:off x="61381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73" name="Google Shape;673;g3ddac08760b_0_813"/>
          <p:cNvSpPr/>
          <p:nvPr/>
        </p:nvSpPr>
        <p:spPr>
          <a:xfrm>
            <a:off x="716783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74" name="Google Shape;674;g3ddac08760b_0_813"/>
          <p:cNvSpPr/>
          <p:nvPr/>
        </p:nvSpPr>
        <p:spPr>
          <a:xfrm>
            <a:off x="7526713"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75" name="Google Shape;675;g3ddac08760b_0_813"/>
          <p:cNvSpPr txBox="1"/>
          <p:nvPr/>
        </p:nvSpPr>
        <p:spPr>
          <a:xfrm>
            <a:off x="5134000" y="4645000"/>
            <a:ext cx="13368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Trova tutte le copie remote e quella sul Server</a:t>
            </a:r>
            <a:endParaRPr b="0" i="0" sz="1200" u="none" cap="none" strike="noStrike">
              <a:solidFill>
                <a:schemeClr val="dk1"/>
              </a:solidFill>
              <a:latin typeface="Montserrat"/>
              <a:ea typeface="Montserrat"/>
              <a:cs typeface="Montserrat"/>
              <a:sym typeface="Montserrat"/>
            </a:endParaRPr>
          </a:p>
        </p:txBody>
      </p:sp>
      <p:cxnSp>
        <p:nvCxnSpPr>
          <p:cNvPr id="676" name="Google Shape;676;g3ddac08760b_0_813"/>
          <p:cNvCxnSpPr>
            <a:endCxn id="667" idx="0"/>
          </p:cNvCxnSpPr>
          <p:nvPr/>
        </p:nvCxnSpPr>
        <p:spPr>
          <a:xfrm flipH="1">
            <a:off x="6088075" y="4699363"/>
            <a:ext cx="487500" cy="809100"/>
          </a:xfrm>
          <a:prstGeom prst="straightConnector1">
            <a:avLst/>
          </a:prstGeom>
          <a:noFill/>
          <a:ln cap="flat" cmpd="sng" w="9525">
            <a:solidFill>
              <a:srgbClr val="595959"/>
            </a:solidFill>
            <a:prstDash val="solid"/>
            <a:round/>
            <a:headEnd len="sm" w="sm" type="none"/>
            <a:tailEnd len="med" w="med" type="triangle"/>
          </a:ln>
        </p:spPr>
      </p:cxnSp>
      <p:cxnSp>
        <p:nvCxnSpPr>
          <p:cNvPr id="677" name="Google Shape;677;g3ddac08760b_0_813"/>
          <p:cNvCxnSpPr>
            <a:stCxn id="667" idx="0"/>
            <a:endCxn id="671" idx="0"/>
          </p:cNvCxnSpPr>
          <p:nvPr/>
        </p:nvCxnSpPr>
        <p:spPr>
          <a:xfrm flipH="1">
            <a:off x="5914075" y="5508463"/>
            <a:ext cx="174000" cy="416100"/>
          </a:xfrm>
          <a:prstGeom prst="straightConnector1">
            <a:avLst/>
          </a:prstGeom>
          <a:noFill/>
          <a:ln cap="flat" cmpd="sng" w="9525">
            <a:solidFill>
              <a:srgbClr val="595959"/>
            </a:solidFill>
            <a:prstDash val="solid"/>
            <a:round/>
            <a:headEnd len="sm" w="sm" type="none"/>
            <a:tailEnd len="med" w="med" type="triangle"/>
          </a:ln>
        </p:spPr>
      </p:cxnSp>
      <p:sp>
        <p:nvSpPr>
          <p:cNvPr id="678" name="Google Shape;678;g3ddac08760b_0_813"/>
          <p:cNvSpPr/>
          <p:nvPr/>
        </p:nvSpPr>
        <p:spPr>
          <a:xfrm>
            <a:off x="9110725" y="4047288"/>
            <a:ext cx="900600" cy="841200"/>
          </a:xfrm>
          <a:prstGeom prst="rect">
            <a:avLst/>
          </a:prstGeom>
          <a:solidFill>
            <a:srgbClr val="57A64A"/>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Server</a:t>
            </a:r>
            <a:endParaRPr b="0" i="0" sz="1400" u="none" cap="none" strike="noStrike">
              <a:solidFill>
                <a:srgbClr val="000000"/>
              </a:solidFill>
              <a:latin typeface="Montserrat"/>
              <a:ea typeface="Montserrat"/>
              <a:cs typeface="Montserrat"/>
              <a:sym typeface="Montserrat"/>
            </a:endParaRPr>
          </a:p>
        </p:txBody>
      </p:sp>
      <p:sp>
        <p:nvSpPr>
          <p:cNvPr id="679" name="Google Shape;679;g3ddac08760b_0_813"/>
          <p:cNvSpPr/>
          <p:nvPr/>
        </p:nvSpPr>
        <p:spPr>
          <a:xfrm>
            <a:off x="8495725" y="5508463"/>
            <a:ext cx="819600" cy="7656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80" name="Google Shape;680;g3ddac08760b_0_813"/>
          <p:cNvSpPr/>
          <p:nvPr/>
        </p:nvSpPr>
        <p:spPr>
          <a:xfrm>
            <a:off x="9884300" y="5508463"/>
            <a:ext cx="819600" cy="765300"/>
          </a:xfrm>
          <a:prstGeom prst="rect">
            <a:avLst/>
          </a:prstGeom>
          <a:solidFill>
            <a:srgbClr val="B9771E"/>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81" name="Google Shape;681;g3ddac08760b_0_813"/>
          <p:cNvSpPr/>
          <p:nvPr/>
        </p:nvSpPr>
        <p:spPr>
          <a:xfrm>
            <a:off x="9287975" y="4467538"/>
            <a:ext cx="248100" cy="231600"/>
          </a:xfrm>
          <a:prstGeom prst="rect">
            <a:avLst/>
          </a:prstGeom>
          <a:solidFill>
            <a:srgbClr val="0069E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82" name="Google Shape;682;g3ddac08760b_0_813"/>
          <p:cNvSpPr/>
          <p:nvPr/>
        </p:nvSpPr>
        <p:spPr>
          <a:xfrm>
            <a:off x="9636200" y="4467538"/>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83" name="Google Shape;683;g3ddac08760b_0_813"/>
          <p:cNvSpPr/>
          <p:nvPr/>
        </p:nvSpPr>
        <p:spPr>
          <a:xfrm>
            <a:off x="8607363" y="5924463"/>
            <a:ext cx="248100" cy="231600"/>
          </a:xfrm>
          <a:prstGeom prst="rect">
            <a:avLst/>
          </a:prstGeom>
          <a:solidFill>
            <a:srgbClr val="0069E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84" name="Google Shape;684;g3ddac08760b_0_813"/>
          <p:cNvSpPr/>
          <p:nvPr/>
        </p:nvSpPr>
        <p:spPr>
          <a:xfrm>
            <a:off x="8955588" y="5924463"/>
            <a:ext cx="248100" cy="231600"/>
          </a:xfrm>
          <a:prstGeom prst="rect">
            <a:avLst/>
          </a:prstGeom>
          <a:solidFill>
            <a:srgbClr val="BD63C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2</a:t>
            </a:r>
            <a:endParaRPr b="0" i="0" sz="1400" u="none" cap="none" strike="noStrike">
              <a:solidFill>
                <a:srgbClr val="000000"/>
              </a:solidFill>
              <a:latin typeface="Montserrat"/>
              <a:ea typeface="Montserrat"/>
              <a:cs typeface="Montserrat"/>
              <a:sym typeface="Montserrat"/>
            </a:endParaRPr>
          </a:p>
        </p:txBody>
      </p:sp>
      <p:sp>
        <p:nvSpPr>
          <p:cNvPr id="685" name="Google Shape;685;g3ddac08760b_0_813"/>
          <p:cNvSpPr/>
          <p:nvPr/>
        </p:nvSpPr>
        <p:spPr>
          <a:xfrm>
            <a:off x="9995938" y="5924463"/>
            <a:ext cx="248100" cy="231600"/>
          </a:xfrm>
          <a:prstGeom prst="rect">
            <a:avLst/>
          </a:prstGeom>
          <a:solidFill>
            <a:srgbClr val="0069E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Montserrat"/>
                <a:ea typeface="Montserrat"/>
                <a:cs typeface="Montserrat"/>
                <a:sym typeface="Montserrat"/>
              </a:rPr>
              <a:t>1</a:t>
            </a:r>
            <a:endParaRPr b="0" i="0" sz="1400" u="none" cap="none" strike="noStrike">
              <a:solidFill>
                <a:srgbClr val="000000"/>
              </a:solidFill>
              <a:latin typeface="Montserrat"/>
              <a:ea typeface="Montserrat"/>
              <a:cs typeface="Montserrat"/>
              <a:sym typeface="Montserrat"/>
            </a:endParaRPr>
          </a:p>
        </p:txBody>
      </p:sp>
      <p:sp>
        <p:nvSpPr>
          <p:cNvPr id="686" name="Google Shape;686;g3ddac08760b_0_813"/>
          <p:cNvSpPr txBox="1"/>
          <p:nvPr/>
        </p:nvSpPr>
        <p:spPr>
          <a:xfrm>
            <a:off x="8341388" y="4949200"/>
            <a:ext cx="2349900" cy="42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chemeClr val="dk1"/>
                </a:solidFill>
                <a:latin typeface="Montserrat"/>
                <a:ea typeface="Montserrat"/>
                <a:cs typeface="Montserrat"/>
                <a:sym typeface="Montserrat"/>
              </a:rPr>
              <a:t>Esegue logica localmente su tutte le istanze</a:t>
            </a:r>
            <a:endParaRPr b="0" i="0" sz="1200" u="none" cap="none" strike="noStrike">
              <a:solidFill>
                <a:schemeClr val="dk1"/>
              </a:solidFill>
              <a:latin typeface="Montserrat"/>
              <a:ea typeface="Montserrat"/>
              <a:cs typeface="Montserrat"/>
              <a:sym typeface="Montserrat"/>
            </a:endParaRPr>
          </a:p>
        </p:txBody>
      </p:sp>
      <p:cxnSp>
        <p:nvCxnSpPr>
          <p:cNvPr id="687" name="Google Shape;687;g3ddac08760b_0_813"/>
          <p:cNvCxnSpPr>
            <a:stCxn id="669" idx="2"/>
            <a:endCxn id="668" idx="0"/>
          </p:cNvCxnSpPr>
          <p:nvPr/>
        </p:nvCxnSpPr>
        <p:spPr>
          <a:xfrm>
            <a:off x="6594575" y="4699138"/>
            <a:ext cx="882000" cy="809400"/>
          </a:xfrm>
          <a:prstGeom prst="straightConnector1">
            <a:avLst/>
          </a:prstGeom>
          <a:noFill/>
          <a:ln cap="flat" cmpd="sng" w="9525">
            <a:solidFill>
              <a:srgbClr val="595959"/>
            </a:solidFill>
            <a:prstDash val="solid"/>
            <a:round/>
            <a:headEnd len="sm" w="sm" type="none"/>
            <a:tailEnd len="med" w="med" type="triangle"/>
          </a:ln>
        </p:spPr>
      </p:cxnSp>
      <p:cxnSp>
        <p:nvCxnSpPr>
          <p:cNvPr id="688" name="Google Shape;688;g3ddac08760b_0_813"/>
          <p:cNvCxnSpPr>
            <a:stCxn id="668" idx="0"/>
            <a:endCxn id="673" idx="0"/>
          </p:cNvCxnSpPr>
          <p:nvPr/>
        </p:nvCxnSpPr>
        <p:spPr>
          <a:xfrm flipH="1">
            <a:off x="7291850" y="5508463"/>
            <a:ext cx="184800" cy="416100"/>
          </a:xfrm>
          <a:prstGeom prst="straightConnector1">
            <a:avLst/>
          </a:prstGeom>
          <a:noFill/>
          <a:ln cap="flat" cmpd="sng" w="9525">
            <a:solidFill>
              <a:srgbClr val="595959"/>
            </a:solidFill>
            <a:prstDash val="solid"/>
            <a:round/>
            <a:headEnd len="sm" w="sm" type="none"/>
            <a:tailEnd len="med" w="med" type="triangle"/>
          </a:ln>
        </p:spPr>
      </p:cxnSp>
      <p:cxnSp>
        <p:nvCxnSpPr>
          <p:cNvPr id="689" name="Google Shape;689;g3ddac08760b_0_813"/>
          <p:cNvCxnSpPr>
            <a:endCxn id="669" idx="1"/>
          </p:cNvCxnSpPr>
          <p:nvPr/>
        </p:nvCxnSpPr>
        <p:spPr>
          <a:xfrm>
            <a:off x="5888525" y="4360738"/>
            <a:ext cx="582000" cy="222600"/>
          </a:xfrm>
          <a:prstGeom prst="straightConnector1">
            <a:avLst/>
          </a:prstGeom>
          <a:noFill/>
          <a:ln cap="flat" cmpd="sng" w="9525">
            <a:solidFill>
              <a:srgbClr val="595959"/>
            </a:solidFill>
            <a:prstDash val="solid"/>
            <a:round/>
            <a:headEnd len="sm" w="sm"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pic>
        <p:nvPicPr>
          <p:cNvPr id="694" name="Google Shape;694;g3ddac08760b_0_7"/>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695" name="Google Shape;695;g3ddac08760b_0_7"/>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Validation</a:t>
            </a:r>
            <a:endParaRPr b="1" i="0" sz="1100" u="none" cap="none" strike="noStrike">
              <a:solidFill>
                <a:srgbClr val="FF0000"/>
              </a:solidFill>
              <a:latin typeface="Montserrat"/>
              <a:ea typeface="Montserrat"/>
              <a:cs typeface="Montserrat"/>
              <a:sym typeface="Montserrat"/>
            </a:endParaRPr>
          </a:p>
        </p:txBody>
      </p:sp>
      <p:sp>
        <p:nvSpPr>
          <p:cNvPr id="696" name="Google Shape;696;g3ddac08760b_0_7"/>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In C++ possiamo eseguire un processo chiamato Validation.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Questa </a:t>
            </a:r>
            <a:r>
              <a:rPr lang="en-GB" sz="1600">
                <a:solidFill>
                  <a:schemeClr val="dk1"/>
                </a:solidFill>
                <a:latin typeface="Montserrat"/>
                <a:ea typeface="Montserrat"/>
                <a:cs typeface="Montserrat"/>
                <a:sym typeface="Montserrat"/>
              </a:rPr>
              <a:t>funzionalità</a:t>
            </a:r>
            <a:r>
              <a:rPr lang="en-GB" sz="1600">
                <a:solidFill>
                  <a:schemeClr val="dk1"/>
                </a:solidFill>
                <a:latin typeface="Montserrat"/>
                <a:ea typeface="Montserrat"/>
                <a:cs typeface="Montserrat"/>
                <a:sym typeface="Montserrat"/>
              </a:rPr>
              <a:t> è esclusiva di C++ e non è possibile usarla in Blueprint.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fra gli Specifier dell’RPC mettiamo “</a:t>
            </a:r>
            <a:r>
              <a:rPr b="1" lang="en-GB" sz="1600">
                <a:solidFill>
                  <a:schemeClr val="dk1"/>
                </a:solidFill>
                <a:latin typeface="Montserrat"/>
                <a:ea typeface="Montserrat"/>
                <a:cs typeface="Montserrat"/>
                <a:sym typeface="Montserrat"/>
              </a:rPr>
              <a:t>WithValidation</a:t>
            </a:r>
            <a:r>
              <a:rPr lang="en-GB" sz="1600">
                <a:solidFill>
                  <a:schemeClr val="dk1"/>
                </a:solidFill>
                <a:latin typeface="Montserrat"/>
                <a:ea typeface="Montserrat"/>
                <a:cs typeface="Montserrat"/>
                <a:sym typeface="Montserrat"/>
              </a:rPr>
              <a:t>”, possiamo creare una funzione con lo stesso nome della funzione (incluso il tipo dell’ RPC) seguito da “_Validation”.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Questa funzione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chiamata ogni volta che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chiamato l’RPC e al suo interno potremo fare dei controlli sulla </a:t>
            </a:r>
            <a:r>
              <a:rPr lang="en-GB" sz="1600">
                <a:solidFill>
                  <a:schemeClr val="dk1"/>
                </a:solidFill>
                <a:latin typeface="Montserrat"/>
                <a:ea typeface="Montserrat"/>
                <a:cs typeface="Montserrat"/>
                <a:sym typeface="Montserrat"/>
              </a:rPr>
              <a:t>validità</a:t>
            </a:r>
            <a:r>
              <a:rPr lang="en-GB" sz="1600">
                <a:solidFill>
                  <a:schemeClr val="dk1"/>
                </a:solidFill>
                <a:latin typeface="Montserrat"/>
                <a:ea typeface="Montserrat"/>
                <a:cs typeface="Montserrat"/>
                <a:sym typeface="Montserrat"/>
              </a:rPr>
              <a:t> degli input forniti dal Client.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gli input non risultassero validi per il Server, il Client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automaticamente disconnesso dalla sessione.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Possiamo considerare la Validation come una prima linea di difesa contro i cheat. Attualmente funziona solo per i Server RPC (RPC inviati da un Client).</a:t>
            </a:r>
            <a:endParaRPr sz="1600">
              <a:solidFill>
                <a:schemeClr val="dk1"/>
              </a:solidFill>
              <a:latin typeface="Montserrat"/>
              <a:ea typeface="Montserrat"/>
              <a:cs typeface="Montserrat"/>
              <a:sym typeface="Montserrat"/>
            </a:endParaRPr>
          </a:p>
        </p:txBody>
      </p:sp>
      <p:sp>
        <p:nvSpPr>
          <p:cNvPr id="697" name="Google Shape;697;g3ddac08760b_0_7"/>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g3ddac08760b_0_99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03" name="Google Shape;703;g3ddac08760b_0_99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Validation</a:t>
            </a:r>
            <a:endParaRPr b="1" i="0" sz="1100" u="none" cap="none" strike="noStrike">
              <a:solidFill>
                <a:srgbClr val="FF0000"/>
              </a:solidFill>
              <a:latin typeface="Montserrat"/>
              <a:ea typeface="Montserrat"/>
              <a:cs typeface="Montserrat"/>
              <a:sym typeface="Montserrat"/>
            </a:endParaRPr>
          </a:p>
        </p:txBody>
      </p:sp>
      <p:sp>
        <p:nvSpPr>
          <p:cNvPr id="704" name="Google Shape;704;g3ddac08760b_0_99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05" name="Google Shape;705;g3ddac08760b_0_992"/>
          <p:cNvPicPr preferRelativeResize="0"/>
          <p:nvPr/>
        </p:nvPicPr>
        <p:blipFill rotWithShape="1">
          <a:blip r:embed="rId4">
            <a:alphaModFix/>
          </a:blip>
          <a:srcRect b="0" l="0" r="0" t="0"/>
          <a:stretch/>
        </p:blipFill>
        <p:spPr>
          <a:xfrm>
            <a:off x="3840159" y="1664413"/>
            <a:ext cx="5737523" cy="853016"/>
          </a:xfrm>
          <a:prstGeom prst="rect">
            <a:avLst/>
          </a:prstGeom>
          <a:noFill/>
          <a:ln cap="flat" cmpd="sng" w="11375">
            <a:solidFill>
              <a:srgbClr val="595959"/>
            </a:solidFill>
            <a:prstDash val="solid"/>
            <a:round/>
            <a:headEnd len="sm" w="sm" type="none"/>
            <a:tailEnd len="sm" w="sm" type="none"/>
          </a:ln>
        </p:spPr>
      </p:pic>
      <p:pic>
        <p:nvPicPr>
          <p:cNvPr id="706" name="Google Shape;706;g3ddac08760b_0_992"/>
          <p:cNvPicPr preferRelativeResize="0"/>
          <p:nvPr/>
        </p:nvPicPr>
        <p:blipFill rotWithShape="1">
          <a:blip r:embed="rId5">
            <a:alphaModFix/>
          </a:blip>
          <a:srcRect b="0" l="0" r="0" t="0"/>
          <a:stretch/>
        </p:blipFill>
        <p:spPr>
          <a:xfrm>
            <a:off x="1994063" y="2909631"/>
            <a:ext cx="9429723" cy="2283947"/>
          </a:xfrm>
          <a:prstGeom prst="rect">
            <a:avLst/>
          </a:prstGeom>
          <a:noFill/>
          <a:ln cap="flat" cmpd="sng" w="11375">
            <a:solidFill>
              <a:srgbClr val="595959"/>
            </a:solidFill>
            <a:prstDash val="solid"/>
            <a:round/>
            <a:headEnd len="sm" w="sm" type="none"/>
            <a:tailEnd len="sm" w="sm" type="none"/>
          </a:ln>
        </p:spPr>
      </p:pic>
      <p:sp>
        <p:nvSpPr>
          <p:cNvPr id="707" name="Google Shape;707;g3ddac08760b_0_992"/>
          <p:cNvSpPr/>
          <p:nvPr/>
        </p:nvSpPr>
        <p:spPr>
          <a:xfrm>
            <a:off x="7566747" y="1754926"/>
            <a:ext cx="1835100" cy="324000"/>
          </a:xfrm>
          <a:prstGeom prst="rect">
            <a:avLst/>
          </a:prstGeom>
          <a:noFill/>
          <a:ln cap="flat" cmpd="sng" w="22750">
            <a:solidFill>
              <a:srgbClr val="FF0000"/>
            </a:solidFill>
            <a:prstDash val="solid"/>
            <a:round/>
            <a:headEnd len="sm" w="sm" type="none"/>
            <a:tailEnd len="sm" w="sm" type="none"/>
          </a:ln>
        </p:spPr>
        <p:txBody>
          <a:bodyPr anchorCtr="0" anchor="ctr" bIns="109225" lIns="109225" spcFirstLastPara="1" rIns="109225" wrap="square" tIns="109225">
            <a:noAutofit/>
          </a:bodyPr>
          <a:lstStyle/>
          <a:p>
            <a:pPr indent="0" lvl="0" marL="0" marR="0" rtl="0" algn="ctr">
              <a:lnSpc>
                <a:spcPct val="100000"/>
              </a:lnSpc>
              <a:spcBef>
                <a:spcPts val="0"/>
              </a:spcBef>
              <a:spcAft>
                <a:spcPts val="0"/>
              </a:spcAft>
              <a:buClr>
                <a:srgbClr val="000000"/>
              </a:buClr>
              <a:buSzPts val="1673"/>
              <a:buFont typeface="Arial"/>
              <a:buNone/>
            </a:pPr>
            <a:r>
              <a:t/>
            </a:r>
            <a:endParaRPr b="0" i="0" sz="1673" u="none" cap="none" strike="noStrike">
              <a:solidFill>
                <a:srgbClr val="000000"/>
              </a:solidFill>
              <a:latin typeface="Arial"/>
              <a:ea typeface="Arial"/>
              <a:cs typeface="Arial"/>
              <a:sym typeface="Arial"/>
            </a:endParaRPr>
          </a:p>
        </p:txBody>
      </p:sp>
      <p:sp>
        <p:nvSpPr>
          <p:cNvPr id="708" name="Google Shape;708;g3ddac08760b_0_992"/>
          <p:cNvSpPr/>
          <p:nvPr/>
        </p:nvSpPr>
        <p:spPr>
          <a:xfrm>
            <a:off x="2130098" y="3728577"/>
            <a:ext cx="633000" cy="283800"/>
          </a:xfrm>
          <a:prstGeom prst="rect">
            <a:avLst/>
          </a:prstGeom>
          <a:noFill/>
          <a:ln cap="flat" cmpd="sng" w="22750">
            <a:solidFill>
              <a:srgbClr val="FF0000"/>
            </a:solidFill>
            <a:prstDash val="solid"/>
            <a:round/>
            <a:headEnd len="sm" w="sm" type="none"/>
            <a:tailEnd len="sm" w="sm" type="none"/>
          </a:ln>
        </p:spPr>
        <p:txBody>
          <a:bodyPr anchorCtr="0" anchor="ctr" bIns="109225" lIns="109225" spcFirstLastPara="1" rIns="109225" wrap="square" tIns="109225">
            <a:noAutofit/>
          </a:bodyPr>
          <a:lstStyle/>
          <a:p>
            <a:pPr indent="0" lvl="0" marL="0" marR="0" rtl="0" algn="ctr">
              <a:lnSpc>
                <a:spcPct val="100000"/>
              </a:lnSpc>
              <a:spcBef>
                <a:spcPts val="0"/>
              </a:spcBef>
              <a:spcAft>
                <a:spcPts val="0"/>
              </a:spcAft>
              <a:buClr>
                <a:srgbClr val="000000"/>
              </a:buClr>
              <a:buSzPts val="1673"/>
              <a:buFont typeface="Arial"/>
              <a:buNone/>
            </a:pPr>
            <a:r>
              <a:t/>
            </a:r>
            <a:endParaRPr b="0" i="0" sz="1673"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pic>
        <p:nvPicPr>
          <p:cNvPr id="713" name="Google Shape;713;g3ddac08760b_0_98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14" name="Google Shape;714;g3ddac08760b_0_98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OwnerShip</a:t>
            </a:r>
            <a:endParaRPr b="1" i="0" sz="1100" u="none" cap="none" strike="noStrike">
              <a:solidFill>
                <a:srgbClr val="FF0000"/>
              </a:solidFill>
              <a:latin typeface="Montserrat"/>
              <a:ea typeface="Montserrat"/>
              <a:cs typeface="Montserrat"/>
              <a:sym typeface="Montserrat"/>
            </a:endParaRPr>
          </a:p>
        </p:txBody>
      </p:sp>
      <p:sp>
        <p:nvSpPr>
          <p:cNvPr id="715" name="Google Shape;715;g3ddac08760b_0_98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concetto di Ownership e’ particolarmente importante per il Network Framework.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Permette al Framework di risalire alla connessione associata ad un particolare giocatore ed e’ rilevante nel momento in cui un Client ha bisogno di inviare richieste al Server o riceverle.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Perche’ e’ importante?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Le RPC devono determinare quale Client eseguirà una RPC Run-On-Client</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Replica dell'Actor e Rilevanza della connessione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Condizioni di replica della proprietà dell'Actor quando è coinvolto l’Owner.</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16" name="Google Shape;716;g3ddac08760b_0_98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17" name="Google Shape;717;g3ddac08760b_0_983"/>
          <p:cNvPicPr preferRelativeResize="0"/>
          <p:nvPr/>
        </p:nvPicPr>
        <p:blipFill rotWithShape="1">
          <a:blip r:embed="rId4">
            <a:alphaModFix/>
          </a:blip>
          <a:srcRect b="0" l="0" r="0" t="0"/>
          <a:stretch/>
        </p:blipFill>
        <p:spPr>
          <a:xfrm>
            <a:off x="2342088" y="4215500"/>
            <a:ext cx="8733672" cy="1678800"/>
          </a:xfrm>
          <a:prstGeom prst="rect">
            <a:avLst/>
          </a:prstGeom>
          <a:noFill/>
          <a:ln cap="flat" cmpd="sng" w="10450">
            <a:solidFill>
              <a:srgbClr val="595959"/>
            </a:solidFill>
            <a:prstDash val="solid"/>
            <a:round/>
            <a:headEnd len="sm" w="sm" type="none"/>
            <a:tailEnd len="sm" w="sm" type="none"/>
          </a:ln>
        </p:spPr>
      </p:pic>
      <p:sp>
        <p:nvSpPr>
          <p:cNvPr id="718" name="Google Shape;718;g3ddac08760b_0_983"/>
          <p:cNvSpPr/>
          <p:nvPr/>
        </p:nvSpPr>
        <p:spPr>
          <a:xfrm>
            <a:off x="4844899" y="4514953"/>
            <a:ext cx="2225400" cy="234300"/>
          </a:xfrm>
          <a:prstGeom prst="rect">
            <a:avLst/>
          </a:prstGeom>
          <a:noFill/>
          <a:ln cap="flat" cmpd="sng" w="20875">
            <a:solidFill>
              <a:srgbClr val="FF0000"/>
            </a:solidFill>
            <a:prstDash val="solid"/>
            <a:round/>
            <a:headEnd len="sm" w="sm" type="none"/>
            <a:tailEnd len="sm" w="sm" type="none"/>
          </a:ln>
        </p:spPr>
        <p:txBody>
          <a:bodyPr anchorCtr="0" anchor="ctr" bIns="100200" lIns="100200" spcFirstLastPara="1" rIns="100200" wrap="square" tIns="100200">
            <a:noAutofit/>
          </a:bodyPr>
          <a:lstStyle/>
          <a:p>
            <a:pPr indent="0" lvl="0" marL="0" marR="0" rtl="0" algn="ctr">
              <a:lnSpc>
                <a:spcPct val="100000"/>
              </a:lnSpc>
              <a:spcBef>
                <a:spcPts val="0"/>
              </a:spcBef>
              <a:spcAft>
                <a:spcPts val="0"/>
              </a:spcAft>
              <a:buClr>
                <a:srgbClr val="000000"/>
              </a:buClr>
              <a:buSzPts val="1534"/>
              <a:buFont typeface="Arial"/>
              <a:buNone/>
            </a:pPr>
            <a:r>
              <a:t/>
            </a:r>
            <a:endParaRPr b="0" i="0" sz="1534"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pic>
        <p:nvPicPr>
          <p:cNvPr id="723" name="Google Shape;723;g3ddac08760b_0_2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24" name="Google Shape;724;g3ddac08760b_0_2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Authority, Local &amp; Remote Role</a:t>
            </a:r>
            <a:endParaRPr b="1" i="0" sz="1100" u="none" cap="none" strike="noStrike">
              <a:solidFill>
                <a:srgbClr val="FF0000"/>
              </a:solidFill>
              <a:latin typeface="Montserrat"/>
              <a:ea typeface="Montserrat"/>
              <a:cs typeface="Montserrat"/>
              <a:sym typeface="Montserrat"/>
            </a:endParaRPr>
          </a:p>
        </p:txBody>
      </p:sp>
      <p:sp>
        <p:nvSpPr>
          <p:cNvPr id="725" name="Google Shape;725;g3ddac08760b_0_28"/>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Local e Remote Role sono due proprieta’ dell’ Actor.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Vengono </a:t>
            </a:r>
            <a:r>
              <a:rPr lang="en-GB" sz="1600">
                <a:solidFill>
                  <a:schemeClr val="dk1"/>
                </a:solidFill>
                <a:latin typeface="Montserrat"/>
                <a:ea typeface="Montserrat"/>
                <a:cs typeface="Montserrat"/>
                <a:sym typeface="Montserrat"/>
              </a:rPr>
              <a:t>utilizzate</a:t>
            </a:r>
            <a:r>
              <a:rPr lang="en-GB" sz="1600">
                <a:solidFill>
                  <a:schemeClr val="dk1"/>
                </a:solidFill>
                <a:latin typeface="Montserrat"/>
                <a:ea typeface="Montserrat"/>
                <a:cs typeface="Montserrat"/>
                <a:sym typeface="Montserrat"/>
              </a:rPr>
              <a:t> per </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Filtrare gli Actor</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È possibile determinare se si stà osservando un’istanza che si trova lato Server o lato Client</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È possibile determinare </a:t>
            </a:r>
            <a:r>
              <a:rPr lang="en-GB" sz="1600">
                <a:solidFill>
                  <a:schemeClr val="dk1"/>
                </a:solidFill>
                <a:latin typeface="Montserrat"/>
                <a:ea typeface="Montserrat"/>
                <a:cs typeface="Montserrat"/>
                <a:sym typeface="Montserrat"/>
              </a:rPr>
              <a:t>se si stà osservando un Actor controllato da noi o da un Client remoto.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GB" sz="1600">
                <a:solidFill>
                  <a:schemeClr val="dk1"/>
                </a:solidFill>
                <a:latin typeface="Montserrat"/>
                <a:ea typeface="Montserrat"/>
                <a:cs typeface="Montserrat"/>
                <a:sym typeface="Montserrat"/>
              </a:rPr>
              <a:t>Esistono alcune funzioni e nodi che ci aiutano a svolgere questi controlli piu’ facilmente, il </a:t>
            </a:r>
            <a:r>
              <a:rPr lang="en-GB" sz="1600">
                <a:solidFill>
                  <a:schemeClr val="dk1"/>
                </a:solidFill>
                <a:latin typeface="Montserrat"/>
                <a:ea typeface="Montserrat"/>
                <a:cs typeface="Montserrat"/>
                <a:sym typeface="Montserrat"/>
              </a:rPr>
              <a:t>più</a:t>
            </a:r>
            <a:r>
              <a:rPr lang="en-GB" sz="1600">
                <a:solidFill>
                  <a:schemeClr val="dk1"/>
                </a:solidFill>
                <a:latin typeface="Montserrat"/>
                <a:ea typeface="Montserrat"/>
                <a:cs typeface="Montserrat"/>
                <a:sym typeface="Montserrat"/>
              </a:rPr>
              <a:t> noto dei quali è “HasAuthority”.</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26" name="Google Shape;726;g3ddac08760b_0_2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id="731" name="Google Shape;731;g3ddac08760b_0_100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32" name="Google Shape;732;g3ddac08760b_0_100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Authority, Local &amp; Remote Role</a:t>
            </a:r>
            <a:endParaRPr b="1" i="0" sz="1100" u="none" cap="none" strike="noStrike">
              <a:solidFill>
                <a:srgbClr val="FF0000"/>
              </a:solidFill>
              <a:latin typeface="Montserrat"/>
              <a:ea typeface="Montserrat"/>
              <a:cs typeface="Montserrat"/>
              <a:sym typeface="Montserrat"/>
            </a:endParaRPr>
          </a:p>
        </p:txBody>
      </p:sp>
      <p:sp>
        <p:nvSpPr>
          <p:cNvPr id="733" name="Google Shape;733;g3ddac08760b_0_100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34" name="Google Shape;734;g3ddac08760b_0_1003"/>
          <p:cNvPicPr preferRelativeResize="0"/>
          <p:nvPr/>
        </p:nvPicPr>
        <p:blipFill rotWithShape="1">
          <a:blip r:embed="rId4">
            <a:alphaModFix/>
          </a:blip>
          <a:srcRect b="0" l="0" r="0" t="0"/>
          <a:stretch/>
        </p:blipFill>
        <p:spPr>
          <a:xfrm>
            <a:off x="1299750" y="1178649"/>
            <a:ext cx="4989535" cy="2535104"/>
          </a:xfrm>
          <a:prstGeom prst="rect">
            <a:avLst/>
          </a:prstGeom>
          <a:noFill/>
          <a:ln cap="flat" cmpd="sng" w="9525">
            <a:solidFill>
              <a:srgbClr val="595959"/>
            </a:solidFill>
            <a:prstDash val="solid"/>
            <a:round/>
            <a:headEnd len="sm" w="sm" type="none"/>
            <a:tailEnd len="sm" w="sm" type="none"/>
          </a:ln>
        </p:spPr>
      </p:pic>
      <p:pic>
        <p:nvPicPr>
          <p:cNvPr id="735" name="Google Shape;735;g3ddac08760b_0_1003"/>
          <p:cNvPicPr preferRelativeResize="0"/>
          <p:nvPr/>
        </p:nvPicPr>
        <p:blipFill rotWithShape="1">
          <a:blip r:embed="rId5">
            <a:alphaModFix/>
          </a:blip>
          <a:srcRect b="0" l="0" r="0" t="0"/>
          <a:stretch/>
        </p:blipFill>
        <p:spPr>
          <a:xfrm>
            <a:off x="1299750" y="3713750"/>
            <a:ext cx="4989525" cy="606200"/>
          </a:xfrm>
          <a:prstGeom prst="rect">
            <a:avLst/>
          </a:prstGeom>
          <a:noFill/>
          <a:ln cap="flat" cmpd="sng" w="13600">
            <a:solidFill>
              <a:srgbClr val="595959"/>
            </a:solidFill>
            <a:prstDash val="solid"/>
            <a:round/>
            <a:headEnd len="sm" w="sm" type="none"/>
            <a:tailEnd len="sm" w="sm" type="none"/>
          </a:ln>
        </p:spPr>
      </p:pic>
      <p:pic>
        <p:nvPicPr>
          <p:cNvPr id="736" name="Google Shape;736;g3ddac08760b_0_1003"/>
          <p:cNvPicPr preferRelativeResize="0"/>
          <p:nvPr/>
        </p:nvPicPr>
        <p:blipFill rotWithShape="1">
          <a:blip r:embed="rId6">
            <a:alphaModFix/>
          </a:blip>
          <a:srcRect b="0" l="0" r="0" t="0"/>
          <a:stretch/>
        </p:blipFill>
        <p:spPr>
          <a:xfrm>
            <a:off x="1299750" y="4319950"/>
            <a:ext cx="4989525" cy="1006672"/>
          </a:xfrm>
          <a:prstGeom prst="rect">
            <a:avLst/>
          </a:prstGeom>
          <a:noFill/>
          <a:ln cap="flat" cmpd="sng" w="13600">
            <a:solidFill>
              <a:srgbClr val="595959"/>
            </a:solidFill>
            <a:prstDash val="solid"/>
            <a:round/>
            <a:headEnd len="sm" w="sm" type="none"/>
            <a:tailEnd len="sm" w="sm" type="none"/>
          </a:ln>
        </p:spPr>
      </p:pic>
      <p:pic>
        <p:nvPicPr>
          <p:cNvPr id="737" name="Google Shape;737;g3ddac08760b_0_1003"/>
          <p:cNvPicPr preferRelativeResize="0"/>
          <p:nvPr/>
        </p:nvPicPr>
        <p:blipFill rotWithShape="1">
          <a:blip r:embed="rId7">
            <a:alphaModFix/>
          </a:blip>
          <a:srcRect b="0" l="0" r="0" t="0"/>
          <a:stretch/>
        </p:blipFill>
        <p:spPr>
          <a:xfrm>
            <a:off x="1299744" y="5326618"/>
            <a:ext cx="4989525" cy="860263"/>
          </a:xfrm>
          <a:prstGeom prst="rect">
            <a:avLst/>
          </a:prstGeom>
          <a:noFill/>
          <a:ln cap="flat" cmpd="sng" w="13600">
            <a:solidFill>
              <a:srgbClr val="595959"/>
            </a:solidFill>
            <a:prstDash val="solid"/>
            <a:round/>
            <a:headEnd len="sm" w="sm" type="none"/>
            <a:tailEnd len="sm" w="sm" type="none"/>
          </a:ln>
        </p:spPr>
      </p:pic>
      <p:pic>
        <p:nvPicPr>
          <p:cNvPr id="738" name="Google Shape;738;g3ddac08760b_0_1003"/>
          <p:cNvPicPr preferRelativeResize="0"/>
          <p:nvPr/>
        </p:nvPicPr>
        <p:blipFill rotWithShape="1">
          <a:blip r:embed="rId8">
            <a:alphaModFix/>
          </a:blip>
          <a:srcRect b="0" l="0" r="0" t="0"/>
          <a:stretch/>
        </p:blipFill>
        <p:spPr>
          <a:xfrm>
            <a:off x="6289263" y="1447599"/>
            <a:ext cx="2812344" cy="2150000"/>
          </a:xfrm>
          <a:prstGeom prst="rect">
            <a:avLst/>
          </a:prstGeom>
          <a:noFill/>
          <a:ln cap="flat" cmpd="sng" w="9525">
            <a:solidFill>
              <a:srgbClr val="595959"/>
            </a:solidFill>
            <a:prstDash val="solid"/>
            <a:round/>
            <a:headEnd len="sm" w="sm" type="none"/>
            <a:tailEnd len="sm" w="sm" type="none"/>
          </a:ln>
        </p:spPr>
      </p:pic>
      <p:pic>
        <p:nvPicPr>
          <p:cNvPr id="739" name="Google Shape;739;g3ddac08760b_0_1003"/>
          <p:cNvPicPr preferRelativeResize="0"/>
          <p:nvPr/>
        </p:nvPicPr>
        <p:blipFill rotWithShape="1">
          <a:blip r:embed="rId9">
            <a:alphaModFix/>
          </a:blip>
          <a:srcRect b="0" l="0" r="0" t="0"/>
          <a:stretch/>
        </p:blipFill>
        <p:spPr>
          <a:xfrm>
            <a:off x="6289275" y="3597599"/>
            <a:ext cx="2812325" cy="2304970"/>
          </a:xfrm>
          <a:prstGeom prst="rect">
            <a:avLst/>
          </a:prstGeom>
          <a:noFill/>
          <a:ln cap="flat" cmpd="sng" w="9525">
            <a:solidFill>
              <a:srgbClr val="595959"/>
            </a:solidFill>
            <a:prstDash val="solid"/>
            <a:round/>
            <a:headEnd len="sm" w="sm" type="none"/>
            <a:tailEnd len="sm" w="sm" type="none"/>
          </a:ln>
        </p:spPr>
      </p:pic>
      <p:pic>
        <p:nvPicPr>
          <p:cNvPr id="740" name="Google Shape;740;g3ddac08760b_0_1003"/>
          <p:cNvPicPr preferRelativeResize="0"/>
          <p:nvPr/>
        </p:nvPicPr>
        <p:blipFill rotWithShape="1">
          <a:blip r:embed="rId10">
            <a:alphaModFix/>
          </a:blip>
          <a:srcRect b="0" l="0" r="0" t="0"/>
          <a:stretch/>
        </p:blipFill>
        <p:spPr>
          <a:xfrm>
            <a:off x="9101611" y="2960396"/>
            <a:ext cx="2812325" cy="1294503"/>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pic>
        <p:nvPicPr>
          <p:cNvPr id="745" name="Google Shape;745;g3ddac08760b_0_1017"/>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46" name="Google Shape;746;g3ddac08760b_0_1017"/>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Authority, Local &amp; Remote Role</a:t>
            </a:r>
            <a:endParaRPr b="1" i="0" sz="1100" u="none" cap="none" strike="noStrike">
              <a:solidFill>
                <a:srgbClr val="FF0000"/>
              </a:solidFill>
              <a:latin typeface="Montserrat"/>
              <a:ea typeface="Montserrat"/>
              <a:cs typeface="Montserrat"/>
              <a:sym typeface="Montserrat"/>
            </a:endParaRPr>
          </a:p>
        </p:txBody>
      </p:sp>
      <p:sp>
        <p:nvSpPr>
          <p:cNvPr id="747" name="Google Shape;747;g3ddac08760b_0_1017"/>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 quanto riguarda il concetto di Authority, bisogna fare un’osservazione importante.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siamo il Server, il Server ha </a:t>
            </a:r>
            <a:r>
              <a:rPr b="1" lang="en-GB" sz="1600">
                <a:solidFill>
                  <a:schemeClr val="dk1"/>
                </a:solidFill>
                <a:latin typeface="Montserrat"/>
                <a:ea typeface="Montserrat"/>
                <a:cs typeface="Montserrat"/>
                <a:sym typeface="Montserrat"/>
              </a:rPr>
              <a:t>SEMPRE </a:t>
            </a:r>
            <a:r>
              <a:rPr lang="en-GB" sz="1600">
                <a:solidFill>
                  <a:schemeClr val="dk1"/>
                </a:solidFill>
                <a:latin typeface="Montserrat"/>
                <a:ea typeface="Montserrat"/>
                <a:cs typeface="Montserrat"/>
                <a:sym typeface="Montserrat"/>
              </a:rPr>
              <a:t>Authority su qualunque cosea, tranne oggetti spawnati lato Client (che quindi non esistono per il Server).</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In quel caso, se controlliamo l’Authority, vedremo che la </a:t>
            </a:r>
            <a:r>
              <a:rPr lang="en-GB" sz="1600">
                <a:solidFill>
                  <a:schemeClr val="dk1"/>
                </a:solidFill>
                <a:latin typeface="Montserrat"/>
                <a:ea typeface="Montserrat"/>
                <a:cs typeface="Montserrat"/>
                <a:sym typeface="Montserrat"/>
              </a:rPr>
              <a:t>avrà</a:t>
            </a:r>
            <a:r>
              <a:rPr lang="en-GB" sz="1600">
                <a:solidFill>
                  <a:schemeClr val="dk1"/>
                </a:solidFill>
                <a:latin typeface="Montserrat"/>
                <a:ea typeface="Montserrat"/>
                <a:cs typeface="Montserrat"/>
                <a:sym typeface="Montserrat"/>
              </a:rPr>
              <a:t> la sessione del Client che ha spawnato quell’oggetto e non il Server.</a:t>
            </a:r>
            <a:endParaRPr sz="1600">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600"/>
              <a:buFont typeface="Arial"/>
              <a:buNone/>
            </a:pPr>
            <a:r>
              <a:rPr b="1" lang="en-GB" sz="1600">
                <a:solidFill>
                  <a:schemeClr val="dk1"/>
                </a:solidFill>
                <a:latin typeface="Montserrat"/>
                <a:ea typeface="Montserrat"/>
                <a:cs typeface="Montserrat"/>
                <a:sym typeface="Montserrat"/>
              </a:rPr>
              <a:t>Avere </a:t>
            </a:r>
            <a:r>
              <a:rPr b="1" lang="en-GB" sz="1600">
                <a:solidFill>
                  <a:schemeClr val="dk1"/>
                </a:solidFill>
                <a:latin typeface="Montserrat"/>
                <a:ea typeface="Montserrat"/>
                <a:cs typeface="Montserrat"/>
                <a:sym typeface="Montserrat"/>
              </a:rPr>
              <a:t>authority</a:t>
            </a:r>
            <a:r>
              <a:rPr b="1" lang="en-GB" sz="1600">
                <a:solidFill>
                  <a:schemeClr val="dk1"/>
                </a:solidFill>
                <a:latin typeface="Montserrat"/>
                <a:ea typeface="Montserrat"/>
                <a:cs typeface="Montserrat"/>
                <a:sym typeface="Montserrat"/>
              </a:rPr>
              <a:t> non significa essere il server!</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48" name="Google Shape;748;g3ddac08760b_0_1017"/>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aphicFrame>
        <p:nvGraphicFramePr>
          <p:cNvPr id="749" name="Google Shape;749;g3ddac08760b_0_1017"/>
          <p:cNvGraphicFramePr/>
          <p:nvPr/>
        </p:nvGraphicFramePr>
        <p:xfrm>
          <a:off x="2669175" y="3272125"/>
          <a:ext cx="3000000" cy="3000000"/>
        </p:xfrm>
        <a:graphic>
          <a:graphicData uri="http://schemas.openxmlformats.org/drawingml/2006/table">
            <a:tbl>
              <a:tblPr>
                <a:noFill/>
                <a:tableStyleId>{E21A0DBA-7BFA-4146-8AC2-0E725B44B318}</a:tableStyleId>
              </a:tblPr>
              <a:tblGrid>
                <a:gridCol w="2841225"/>
                <a:gridCol w="5238275"/>
              </a:tblGrid>
              <a:tr h="394975">
                <a:tc>
                  <a:txBody>
                    <a:bodyPr/>
                    <a:lstStyle/>
                    <a:p>
                      <a:pPr indent="0" lvl="0" marL="0" marR="0" rtl="0" algn="ctr">
                        <a:lnSpc>
                          <a:spcPct val="100000"/>
                        </a:lnSpc>
                        <a:spcBef>
                          <a:spcPts val="0"/>
                        </a:spcBef>
                        <a:spcAft>
                          <a:spcPts val="0"/>
                        </a:spcAft>
                        <a:buClr>
                          <a:srgbClr val="000000"/>
                        </a:buClr>
                        <a:buSzPts val="1200"/>
                        <a:buFont typeface="Arial"/>
                        <a:buNone/>
                      </a:pPr>
                      <a:r>
                        <a:rPr b="1" lang="en-GB" sz="1600" u="none" cap="none" strike="noStrike">
                          <a:solidFill>
                            <a:schemeClr val="dk1"/>
                          </a:solidFill>
                          <a:latin typeface="Calibri"/>
                          <a:ea typeface="Calibri"/>
                          <a:cs typeface="Calibri"/>
                          <a:sym typeface="Calibri"/>
                        </a:rPr>
                        <a:t>ENetRole</a:t>
                      </a:r>
                      <a:endParaRPr b="1" sz="1600"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GB" sz="1600" u="none" cap="none" strike="noStrike">
                          <a:solidFill>
                            <a:schemeClr val="dk1"/>
                          </a:solidFill>
                          <a:latin typeface="Calibri"/>
                          <a:ea typeface="Calibri"/>
                          <a:cs typeface="Calibri"/>
                          <a:sym typeface="Calibri"/>
                        </a:rPr>
                        <a:t>Descrizione</a:t>
                      </a:r>
                      <a:endParaRPr b="1" sz="1600"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394975">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ROLE_None</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Nessun ruolo.</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544300">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ROLE_Authority</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Questa istanza dell’Engine è il Server o l’istanza che ha Authority su l’Actor che stiamo processando.</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25325">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ROLE_SimulatedProxy</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Questa istanza dell'Engine è uno dei Client e questo oggetto non è controllato da un essere umano seduto di fronte a questo computer ma potrebbe essere controllato da un altro essere umano seduto di fronte a un altro computer come Client remoto.</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544300">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ROLE_AutonomousProxy</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Calibri"/>
                          <a:ea typeface="Calibri"/>
                          <a:cs typeface="Calibri"/>
                          <a:sym typeface="Calibri"/>
                        </a:rPr>
                        <a:t>Questa istanza dell’Engine è uno dei Client e questo oggetto è controllato dall’essere umano seduto davanti a questo computer.</a:t>
                      </a:r>
                      <a:endParaRPr u="none" cap="none" strike="noStrike">
                        <a:solidFill>
                          <a:schemeClr val="dk1"/>
                        </a:solidFill>
                        <a:latin typeface="Calibri"/>
                        <a:ea typeface="Calibri"/>
                        <a:cs typeface="Calibri"/>
                        <a:sym typeface="Calibri"/>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pic>
        <p:nvPicPr>
          <p:cNvPr id="754" name="Google Shape;754;g3ddac08760b_0_14"/>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55" name="Google Shape;755;g3ddac08760b_0_14"/>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756" name="Google Shape;756;g3ddac08760b_0_14"/>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Network Relevancy è il sistema che decide quali Actors devono essere replicati a ciascun client.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a:t>
            </a:r>
            <a:r>
              <a:rPr lang="en-GB" sz="1600">
                <a:solidFill>
                  <a:schemeClr val="dk1"/>
                </a:solidFill>
                <a:latin typeface="Montserrat"/>
                <a:ea typeface="Montserrat"/>
                <a:cs typeface="Montserrat"/>
                <a:sym typeface="Montserrat"/>
              </a:rPr>
              <a:t>l server non manda tutto a tutti, ma solo ciò che è rilevante per ogni giocatore.</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Server performa un controllo regolare, non ad ogni Tick, per determinare cosa e’ rilevante per un Client e cosa no.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Alcune classi hanno una Relevancy predefinita per scelta di design.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L’Ownership gioca un ruolo molto importante.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un Actor e’ Owner di un altro Actor, quest’ultimo </a:t>
            </a:r>
            <a:r>
              <a:rPr lang="en-GB" sz="1600">
                <a:solidFill>
                  <a:schemeClr val="dk1"/>
                </a:solidFill>
                <a:latin typeface="Montserrat"/>
                <a:ea typeface="Montserrat"/>
                <a:cs typeface="Montserrat"/>
                <a:sym typeface="Montserrat"/>
              </a:rPr>
              <a:t>sarà</a:t>
            </a:r>
            <a:r>
              <a:rPr lang="en-GB" sz="1600">
                <a:solidFill>
                  <a:schemeClr val="dk1"/>
                </a:solidFill>
                <a:latin typeface="Montserrat"/>
                <a:ea typeface="Montserrat"/>
                <a:cs typeface="Montserrat"/>
                <a:sym typeface="Montserrat"/>
              </a:rPr>
              <a:t> sempre Relevant per il primo.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i="1" lang="en-GB" sz="1600">
                <a:solidFill>
                  <a:schemeClr val="dk1"/>
                </a:solidFill>
                <a:latin typeface="Montserrat"/>
                <a:ea typeface="Montserrat"/>
                <a:cs typeface="Montserrat"/>
                <a:sym typeface="Montserrat"/>
              </a:rPr>
              <a:t>Un Actor impostato come bHidden = true e con le collisioni disabilitate per il suo Root Component, verra’ automaticamente classificato come un Actor irrilevante per qualunque Client e non sara’ Replicato.</a:t>
            </a:r>
            <a:endParaRPr i="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nessuno dei check e’ impostato, la Relevancy viene determinata esclusivamente in base alla distanza dal Client.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57" name="Google Shape;757;g3ddac08760b_0_14"/>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pic>
        <p:nvPicPr>
          <p:cNvPr id="762" name="Google Shape;762;g3ddac08760b_0_1027"/>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63" name="Google Shape;763;g3ddac08760b_0_1027"/>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764" name="Google Shape;764;g3ddac08760b_0_1027"/>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65" name="Google Shape;765;g3ddac08760b_0_1027"/>
          <p:cNvPicPr preferRelativeResize="0"/>
          <p:nvPr/>
        </p:nvPicPr>
        <p:blipFill rotWithShape="1">
          <a:blip r:embed="rId4">
            <a:alphaModFix/>
          </a:blip>
          <a:srcRect b="0" l="0" r="0" t="0"/>
          <a:stretch/>
        </p:blipFill>
        <p:spPr>
          <a:xfrm>
            <a:off x="7200433" y="1762308"/>
            <a:ext cx="4091600" cy="1363867"/>
          </a:xfrm>
          <a:prstGeom prst="rect">
            <a:avLst/>
          </a:prstGeom>
          <a:noFill/>
          <a:ln cap="flat" cmpd="sng" w="9525">
            <a:solidFill>
              <a:srgbClr val="595959"/>
            </a:solidFill>
            <a:prstDash val="solid"/>
            <a:round/>
            <a:headEnd len="sm" w="sm" type="none"/>
            <a:tailEnd len="sm" w="sm" type="none"/>
          </a:ln>
        </p:spPr>
      </p:pic>
      <p:graphicFrame>
        <p:nvGraphicFramePr>
          <p:cNvPr id="766" name="Google Shape;766;g3ddac08760b_0_1027"/>
          <p:cNvGraphicFramePr/>
          <p:nvPr/>
        </p:nvGraphicFramePr>
        <p:xfrm>
          <a:off x="2267288" y="1762300"/>
          <a:ext cx="3000000" cy="3000000"/>
        </p:xfrm>
        <a:graphic>
          <a:graphicData uri="http://schemas.openxmlformats.org/drawingml/2006/table">
            <a:tbl>
              <a:tblPr>
                <a:noFill/>
                <a:tableStyleId>{A5C32983-F606-45F7-9AA4-D2FD1482CA68}</a:tableStyleId>
              </a:tblPr>
              <a:tblGrid>
                <a:gridCol w="1827050"/>
                <a:gridCol w="2320125"/>
              </a:tblGrid>
              <a:tr h="808125">
                <a:tc>
                  <a:txBody>
                    <a:bodyPr/>
                    <a:lstStyle/>
                    <a:p>
                      <a:pPr indent="0" lvl="0" marL="0" marR="0" rtl="0" algn="ctr">
                        <a:lnSpc>
                          <a:spcPct val="100000"/>
                        </a:lnSpc>
                        <a:spcBef>
                          <a:spcPts val="0"/>
                        </a:spcBef>
                        <a:spcAft>
                          <a:spcPts val="0"/>
                        </a:spcAft>
                        <a:buClr>
                          <a:srgbClr val="000000"/>
                        </a:buClr>
                        <a:buSzPts val="1200"/>
                        <a:buFont typeface="Arial"/>
                        <a:buNone/>
                      </a:pPr>
                      <a:r>
                        <a:rPr b="1" lang="en-GB" sz="1600" u="none" cap="none" strike="noStrike">
                          <a:solidFill>
                            <a:schemeClr val="dk1"/>
                          </a:solidFill>
                          <a:latin typeface="Montserrat"/>
                          <a:ea typeface="Montserrat"/>
                          <a:cs typeface="Montserrat"/>
                          <a:sym typeface="Montserrat"/>
                        </a:rPr>
                        <a:t>Classe</a:t>
                      </a:r>
                      <a:endParaRPr b="1" sz="16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sz="1600" u="none" cap="none" strike="noStrike">
                          <a:solidFill>
                            <a:schemeClr val="dk1"/>
                          </a:solidFill>
                          <a:latin typeface="Montserrat"/>
                          <a:ea typeface="Montserrat"/>
                          <a:cs typeface="Montserrat"/>
                          <a:sym typeface="Montserrat"/>
                        </a:rPr>
                        <a:t>Default Relevancy</a:t>
                      </a:r>
                      <a:endParaRPr b="1" sz="16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694925">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Montserrat"/>
                          <a:ea typeface="Montserrat"/>
                          <a:cs typeface="Montserrat"/>
                          <a:sym typeface="Montserrat"/>
                        </a:rPr>
                        <a:t>AGameState</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Montserrat"/>
                          <a:ea typeface="Montserrat"/>
                          <a:cs typeface="Montserrat"/>
                          <a:sym typeface="Montserrat"/>
                        </a:rPr>
                        <a:t>Always Relevant</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811000">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Montserrat"/>
                          <a:ea typeface="Montserrat"/>
                          <a:cs typeface="Montserrat"/>
                          <a:sym typeface="Montserrat"/>
                        </a:rPr>
                        <a:t>APlayerState</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Always Relevant</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824925">
                <a:tc>
                  <a:txBody>
                    <a:bodyPr/>
                    <a:lstStyle/>
                    <a:p>
                      <a:pPr indent="0" lvl="0" marL="0" marR="0" rtl="0" algn="ctr">
                        <a:lnSpc>
                          <a:spcPct val="100000"/>
                        </a:lnSpc>
                        <a:spcBef>
                          <a:spcPts val="0"/>
                        </a:spcBef>
                        <a:spcAft>
                          <a:spcPts val="0"/>
                        </a:spcAft>
                        <a:buClr>
                          <a:srgbClr val="000000"/>
                        </a:buClr>
                        <a:buSzPts val="1200"/>
                        <a:buFont typeface="Arial"/>
                        <a:buNone/>
                      </a:pPr>
                      <a:r>
                        <a:rPr lang="en-GB" u="none" cap="none" strike="noStrike">
                          <a:solidFill>
                            <a:schemeClr val="dk1"/>
                          </a:solidFill>
                          <a:latin typeface="Montserrat"/>
                          <a:ea typeface="Montserrat"/>
                          <a:cs typeface="Montserrat"/>
                          <a:sym typeface="Montserrat"/>
                        </a:rPr>
                        <a:t>APlayerController</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Only Relevant to Owner</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824925">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AActor</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Distance based relevancy</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pic>
        <p:nvPicPr>
          <p:cNvPr id="767" name="Google Shape;767;g3ddac08760b_0_1027"/>
          <p:cNvPicPr preferRelativeResize="0"/>
          <p:nvPr/>
        </p:nvPicPr>
        <p:blipFill rotWithShape="1">
          <a:blip r:embed="rId5">
            <a:alphaModFix/>
          </a:blip>
          <a:srcRect b="0" l="0" r="0" t="0"/>
          <a:stretch/>
        </p:blipFill>
        <p:spPr>
          <a:xfrm>
            <a:off x="7200417" y="3498285"/>
            <a:ext cx="4091600" cy="222792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g3ddac08760b_0_103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73" name="Google Shape;773;g3ddac08760b_0_103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774" name="Google Shape;774;g3ddac08760b_0_103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75" name="Google Shape;775;g3ddac08760b_0_1038"/>
          <p:cNvPicPr preferRelativeResize="0"/>
          <p:nvPr/>
        </p:nvPicPr>
        <p:blipFill rotWithShape="1">
          <a:blip r:embed="rId4">
            <a:alphaModFix/>
          </a:blip>
          <a:srcRect b="0" l="0" r="0" t="0"/>
          <a:stretch/>
        </p:blipFill>
        <p:spPr>
          <a:xfrm>
            <a:off x="4053138" y="1245900"/>
            <a:ext cx="5311575" cy="5311575"/>
          </a:xfrm>
          <a:prstGeom prst="rect">
            <a:avLst/>
          </a:prstGeom>
          <a:noFill/>
          <a:ln cap="flat" cmpd="sng" w="11725">
            <a:solidFill>
              <a:srgbClr val="595959"/>
            </a:solidFill>
            <a:prstDash val="solid"/>
            <a:round/>
            <a:headEnd len="sm" w="sm" type="none"/>
            <a:tailEnd len="sm" w="sm" type="none"/>
          </a:ln>
        </p:spPr>
      </p:pic>
      <p:cxnSp>
        <p:nvCxnSpPr>
          <p:cNvPr id="776" name="Google Shape;776;g3ddac08760b_0_1038"/>
          <p:cNvCxnSpPr>
            <a:stCxn id="777" idx="0"/>
          </p:cNvCxnSpPr>
          <p:nvPr/>
        </p:nvCxnSpPr>
        <p:spPr>
          <a:xfrm flipH="1" rot="10800000">
            <a:off x="4827813" y="5028447"/>
            <a:ext cx="296100" cy="693300"/>
          </a:xfrm>
          <a:prstGeom prst="straightConnector1">
            <a:avLst/>
          </a:prstGeom>
          <a:noFill/>
          <a:ln cap="flat" cmpd="sng" w="46925">
            <a:solidFill>
              <a:srgbClr val="FF0000"/>
            </a:solidFill>
            <a:prstDash val="solid"/>
            <a:round/>
            <a:headEnd len="sm" w="sm" type="none"/>
            <a:tailEnd len="med" w="med" type="triangle"/>
          </a:ln>
        </p:spPr>
      </p:cxnSp>
      <p:cxnSp>
        <p:nvCxnSpPr>
          <p:cNvPr id="778" name="Google Shape;778;g3ddac08760b_0_1038"/>
          <p:cNvCxnSpPr>
            <a:stCxn id="779" idx="1"/>
          </p:cNvCxnSpPr>
          <p:nvPr/>
        </p:nvCxnSpPr>
        <p:spPr>
          <a:xfrm flipH="1">
            <a:off x="6557169" y="1639001"/>
            <a:ext cx="526800" cy="374700"/>
          </a:xfrm>
          <a:prstGeom prst="straightConnector1">
            <a:avLst/>
          </a:prstGeom>
          <a:noFill/>
          <a:ln cap="flat" cmpd="sng" w="46925">
            <a:solidFill>
              <a:srgbClr val="FF0000"/>
            </a:solidFill>
            <a:prstDash val="solid"/>
            <a:round/>
            <a:headEnd len="sm" w="sm" type="none"/>
            <a:tailEnd len="med" w="med" type="triangle"/>
          </a:ln>
        </p:spPr>
      </p:cxnSp>
      <p:sp>
        <p:nvSpPr>
          <p:cNvPr id="777" name="Google Shape;777;g3ddac08760b_0_1038"/>
          <p:cNvSpPr txBox="1"/>
          <p:nvPr/>
        </p:nvSpPr>
        <p:spPr>
          <a:xfrm>
            <a:off x="4247013" y="5721747"/>
            <a:ext cx="1161600" cy="408300"/>
          </a:xfrm>
          <a:prstGeom prst="rect">
            <a:avLst/>
          </a:prstGeom>
          <a:noFill/>
          <a:ln>
            <a:noFill/>
          </a:ln>
        </p:spPr>
        <p:txBody>
          <a:bodyPr anchorCtr="0" anchor="ctr" bIns="112625" lIns="112625" spcFirstLastPara="1" rIns="112625" wrap="square" tIns="112625">
            <a:noAutofit/>
          </a:bodyPr>
          <a:lstStyle/>
          <a:p>
            <a:pPr indent="0" lvl="0" marL="0" marR="0" rtl="0" algn="l">
              <a:lnSpc>
                <a:spcPct val="100000"/>
              </a:lnSpc>
              <a:spcBef>
                <a:spcPts val="0"/>
              </a:spcBef>
              <a:spcAft>
                <a:spcPts val="0"/>
              </a:spcAft>
              <a:buClr>
                <a:srgbClr val="000000"/>
              </a:buClr>
              <a:buSzPts val="1478"/>
              <a:buFont typeface="Arial"/>
              <a:buNone/>
            </a:pPr>
            <a:r>
              <a:rPr b="0" i="0" lang="en-GB" sz="1478" u="none" cap="none" strike="noStrike">
                <a:solidFill>
                  <a:srgbClr val="FF0000"/>
                </a:solidFill>
                <a:latin typeface="Montserrat"/>
                <a:ea typeface="Montserrat"/>
                <a:cs typeface="Montserrat"/>
                <a:sym typeface="Montserrat"/>
              </a:rPr>
              <a:t>Player A</a:t>
            </a:r>
            <a:endParaRPr b="0" i="0" sz="1478" u="none" cap="none" strike="noStrike">
              <a:solidFill>
                <a:srgbClr val="FF0000"/>
              </a:solidFill>
              <a:latin typeface="Montserrat"/>
              <a:ea typeface="Montserrat"/>
              <a:cs typeface="Montserrat"/>
              <a:sym typeface="Montserrat"/>
            </a:endParaRPr>
          </a:p>
        </p:txBody>
      </p:sp>
      <p:sp>
        <p:nvSpPr>
          <p:cNvPr id="779" name="Google Shape;779;g3ddac08760b_0_1038"/>
          <p:cNvSpPr txBox="1"/>
          <p:nvPr/>
        </p:nvSpPr>
        <p:spPr>
          <a:xfrm>
            <a:off x="7083969" y="1434851"/>
            <a:ext cx="1161600" cy="408300"/>
          </a:xfrm>
          <a:prstGeom prst="rect">
            <a:avLst/>
          </a:prstGeom>
          <a:noFill/>
          <a:ln>
            <a:noFill/>
          </a:ln>
        </p:spPr>
        <p:txBody>
          <a:bodyPr anchorCtr="0" anchor="ctr" bIns="112625" lIns="112625" spcFirstLastPara="1" rIns="112625" wrap="square" tIns="112625">
            <a:noAutofit/>
          </a:bodyPr>
          <a:lstStyle/>
          <a:p>
            <a:pPr indent="0" lvl="0" marL="0" marR="0" rtl="0" algn="l">
              <a:lnSpc>
                <a:spcPct val="100000"/>
              </a:lnSpc>
              <a:spcBef>
                <a:spcPts val="0"/>
              </a:spcBef>
              <a:spcAft>
                <a:spcPts val="0"/>
              </a:spcAft>
              <a:buClr>
                <a:srgbClr val="000000"/>
              </a:buClr>
              <a:buSzPts val="1478"/>
              <a:buFont typeface="Arial"/>
              <a:buNone/>
            </a:pPr>
            <a:r>
              <a:rPr b="0" i="0" lang="en-GB" sz="1478" u="none" cap="none" strike="noStrike">
                <a:solidFill>
                  <a:srgbClr val="FF0000"/>
                </a:solidFill>
                <a:latin typeface="Montserrat"/>
                <a:ea typeface="Montserrat"/>
                <a:cs typeface="Montserrat"/>
                <a:sym typeface="Montserrat"/>
              </a:rPr>
              <a:t>Player B</a:t>
            </a:r>
            <a:endParaRPr b="0" i="0" sz="1478" u="none" cap="none" strike="noStrike">
              <a:solidFill>
                <a:srgbClr val="FF0000"/>
              </a:solidFill>
              <a:latin typeface="Montserrat"/>
              <a:ea typeface="Montserrat"/>
              <a:cs typeface="Montserrat"/>
              <a:sym typeface="Montserrat"/>
            </a:endParaRPr>
          </a:p>
        </p:txBody>
      </p:sp>
      <p:cxnSp>
        <p:nvCxnSpPr>
          <p:cNvPr id="780" name="Google Shape;780;g3ddac08760b_0_1038"/>
          <p:cNvCxnSpPr>
            <a:stCxn id="781" idx="0"/>
          </p:cNvCxnSpPr>
          <p:nvPr/>
        </p:nvCxnSpPr>
        <p:spPr>
          <a:xfrm flipH="1" rot="10800000">
            <a:off x="6971622" y="5097975"/>
            <a:ext cx="792900" cy="725100"/>
          </a:xfrm>
          <a:prstGeom prst="straightConnector1">
            <a:avLst/>
          </a:prstGeom>
          <a:noFill/>
          <a:ln cap="flat" cmpd="sng" w="46925">
            <a:solidFill>
              <a:srgbClr val="FF0000"/>
            </a:solidFill>
            <a:prstDash val="solid"/>
            <a:round/>
            <a:headEnd len="sm" w="sm" type="none"/>
            <a:tailEnd len="med" w="med" type="triangle"/>
          </a:ln>
        </p:spPr>
      </p:cxnSp>
      <p:sp>
        <p:nvSpPr>
          <p:cNvPr id="781" name="Google Shape;781;g3ddac08760b_0_1038"/>
          <p:cNvSpPr txBox="1"/>
          <p:nvPr/>
        </p:nvSpPr>
        <p:spPr>
          <a:xfrm>
            <a:off x="6027072" y="5823075"/>
            <a:ext cx="1889100" cy="612900"/>
          </a:xfrm>
          <a:prstGeom prst="rect">
            <a:avLst/>
          </a:prstGeom>
          <a:noFill/>
          <a:ln>
            <a:noFill/>
          </a:ln>
        </p:spPr>
        <p:txBody>
          <a:bodyPr anchorCtr="0" anchor="ctr" bIns="112625" lIns="112625" spcFirstLastPara="1" rIns="112625" wrap="square" tIns="112625">
            <a:noAutofit/>
          </a:bodyPr>
          <a:lstStyle/>
          <a:p>
            <a:pPr indent="0" lvl="0" marL="0" marR="0" rtl="0" algn="ctr">
              <a:lnSpc>
                <a:spcPct val="100000"/>
              </a:lnSpc>
              <a:spcBef>
                <a:spcPts val="0"/>
              </a:spcBef>
              <a:spcAft>
                <a:spcPts val="0"/>
              </a:spcAft>
              <a:buClr>
                <a:srgbClr val="000000"/>
              </a:buClr>
              <a:buSzPts val="1478"/>
              <a:buFont typeface="Arial"/>
              <a:buNone/>
            </a:pPr>
            <a:r>
              <a:rPr b="0" i="0" lang="en-GB" sz="1478" u="none" cap="none" strike="noStrike">
                <a:solidFill>
                  <a:srgbClr val="FF0000"/>
                </a:solidFill>
                <a:latin typeface="Montserrat"/>
                <a:ea typeface="Montserrat"/>
                <a:cs typeface="Montserrat"/>
                <a:sym typeface="Montserrat"/>
              </a:rPr>
              <a:t>Porta viene aperta</a:t>
            </a:r>
            <a:endParaRPr b="0" i="0" sz="1478" u="none" cap="none" strike="noStrike">
              <a:solidFill>
                <a:srgbClr val="FF0000"/>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pic>
        <p:nvPicPr>
          <p:cNvPr id="786" name="Google Shape;786;g3ddac08760b_0_1067"/>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87" name="Google Shape;787;g3ddac08760b_0_1067"/>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788" name="Google Shape;788;g3ddac08760b_0_1067"/>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E’ importante capire una cosa: la Relevancy non e’ un modo per nascondere le cose ai Client o renderle visibili sono ad alcuni.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Si tratta di sistema di ottimizzazioni dei dati di rete e per il Server che determina cosa ha senso replicare per un Client specifico in base a dei valori che determinano se qualcosa e’ rilevante oppure no.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89" name="Google Shape;789;g3ddac08760b_0_1067"/>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90" name="Google Shape;790;g3ddac08760b_0_1067"/>
          <p:cNvPicPr preferRelativeResize="0"/>
          <p:nvPr/>
        </p:nvPicPr>
        <p:blipFill rotWithShape="1">
          <a:blip r:embed="rId4">
            <a:alphaModFix/>
          </a:blip>
          <a:srcRect b="0" l="0" r="0" t="0"/>
          <a:stretch/>
        </p:blipFill>
        <p:spPr>
          <a:xfrm>
            <a:off x="2712475" y="3135275"/>
            <a:ext cx="7992889" cy="308315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pic>
        <p:nvPicPr>
          <p:cNvPr id="795" name="Google Shape;795;g3ddac08760b_0_107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796" name="Google Shape;796;g3ddac08760b_0_107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797" name="Google Shape;797;g3ddac08760b_0_1075"/>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Ogni Actor ha la possibilita’ di fare l’override della funzione “IsNetRelevantFor()”. Questa funzione viene chiamata regolarmente su ogni Replicated Actor dal Server per controllare se l’Actor e’ Relevant per la connessione corrente.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798" name="Google Shape;798;g3ddac08760b_0_107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799" name="Google Shape;799;g3ddac08760b_0_1075"/>
          <p:cNvPicPr preferRelativeResize="0"/>
          <p:nvPr/>
        </p:nvPicPr>
        <p:blipFill rotWithShape="1">
          <a:blip r:embed="rId4">
            <a:alphaModFix/>
          </a:blip>
          <a:srcRect b="0" l="0" r="0" t="0"/>
          <a:stretch/>
        </p:blipFill>
        <p:spPr>
          <a:xfrm>
            <a:off x="2246862" y="2726925"/>
            <a:ext cx="8924126" cy="153130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pic>
        <p:nvPicPr>
          <p:cNvPr id="804" name="Google Shape;804;g3ddac08760b_0_108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05" name="Google Shape;805;g3ddac08760b_0_108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Relevancy</a:t>
            </a:r>
            <a:endParaRPr b="1" i="0" sz="1100" u="none" cap="none" strike="noStrike">
              <a:solidFill>
                <a:srgbClr val="FF0000"/>
              </a:solidFill>
              <a:latin typeface="Montserrat"/>
              <a:ea typeface="Montserrat"/>
              <a:cs typeface="Montserrat"/>
              <a:sym typeface="Montserrat"/>
            </a:endParaRPr>
          </a:p>
        </p:txBody>
      </p:sp>
      <p:sp>
        <p:nvSpPr>
          <p:cNvPr id="806" name="Google Shape;806;g3ddac08760b_0_108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807" name="Google Shape;807;g3ddac08760b_0_1085"/>
          <p:cNvPicPr preferRelativeResize="0"/>
          <p:nvPr/>
        </p:nvPicPr>
        <p:blipFill rotWithShape="1">
          <a:blip r:embed="rId4">
            <a:alphaModFix/>
          </a:blip>
          <a:srcRect b="0" l="0" r="0" t="0"/>
          <a:stretch/>
        </p:blipFill>
        <p:spPr>
          <a:xfrm>
            <a:off x="1750588" y="1716375"/>
            <a:ext cx="9916677" cy="329265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pic>
        <p:nvPicPr>
          <p:cNvPr id="812" name="Google Shape;812;g3ddac08760b_0_49"/>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13" name="Google Shape;813;g3ddac08760b_0_49"/>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Dormancy</a:t>
            </a:r>
            <a:endParaRPr b="1" i="0" sz="1100" u="none" cap="none" strike="noStrike">
              <a:solidFill>
                <a:srgbClr val="FF0000"/>
              </a:solidFill>
              <a:latin typeface="Montserrat"/>
              <a:ea typeface="Montserrat"/>
              <a:cs typeface="Montserrat"/>
              <a:sym typeface="Montserrat"/>
            </a:endParaRPr>
          </a:p>
        </p:txBody>
      </p:sp>
      <p:sp>
        <p:nvSpPr>
          <p:cNvPr id="814" name="Google Shape;814;g3ddac08760b_0_49"/>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Network Dormancy e’ una caratteristica degli AActor ed è una delle ottimizzazioni del Server di maggiore impatto che un progetto multiplayer può apportare, guadagnando potenzialmente millisecondi di tempo della CPU del Server per frame, soprattutto se il progetto ha un gran numero di Actor replicati che non cambiano spesso.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Durante un aggiornamento di rete, il NetDriver raccoglie un elenco di tutti gli Actor replicati rilevanti per una connessione, quindi esegue un'iterazione su questi Actor e sulle loro proprietà per determinare cosa è cambiato e cosa dovrebbe essere inviato al Client.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Dormancy della rete di un Actor controlla se quest’ultimo viene aggiunto all'elenco degli Actor raccolti dalla connessione.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Gli Actor dormienti non vengono aggiunti all'elenco mentre gli Actor svegli (non dormienti) vengono aggiunti all'elenco.</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L'iterazione sugli Actor e sulle loro proprietà può essere costosa, soprattutto per progetti con un numero elevato di Actor replicati. Di conseguenza, l'utilizzo efficace della Dormancy della rete per filtrare gli Actor dall'elenco considerato per la replica può rappresentare un'ottimizzazione vitale per i progetti multiplayer.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1" lang="en-GB" sz="1600">
                <a:solidFill>
                  <a:schemeClr val="dk1"/>
                </a:solidFill>
                <a:latin typeface="Montserrat"/>
                <a:ea typeface="Montserrat"/>
                <a:cs typeface="Montserrat"/>
                <a:sym typeface="Montserrat"/>
              </a:rPr>
              <a:t>Di default, la Network Dormancy degli Actor e’ “Awake”.</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15" name="Google Shape;815;g3ddac08760b_0_49"/>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pic>
        <p:nvPicPr>
          <p:cNvPr id="820" name="Google Shape;820;g3ddac08760b_0_1094"/>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21" name="Google Shape;821;g3ddac08760b_0_1094"/>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Dormancy</a:t>
            </a:r>
            <a:endParaRPr b="1" i="0" sz="1100" u="none" cap="none" strike="noStrike">
              <a:solidFill>
                <a:srgbClr val="FF0000"/>
              </a:solidFill>
              <a:latin typeface="Montserrat"/>
              <a:ea typeface="Montserrat"/>
              <a:cs typeface="Montserrat"/>
              <a:sym typeface="Montserrat"/>
            </a:endParaRPr>
          </a:p>
        </p:txBody>
      </p:sp>
      <p:sp>
        <p:nvSpPr>
          <p:cNvPr id="822" name="Google Shape;822;g3ddac08760b_0_1094"/>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23" name="Google Shape;823;g3ddac08760b_0_1094"/>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aphicFrame>
        <p:nvGraphicFramePr>
          <p:cNvPr id="824" name="Google Shape;824;g3ddac08760b_0_1094"/>
          <p:cNvGraphicFramePr/>
          <p:nvPr/>
        </p:nvGraphicFramePr>
        <p:xfrm>
          <a:off x="2093263" y="1501763"/>
          <a:ext cx="3000000" cy="3000000"/>
        </p:xfrm>
        <a:graphic>
          <a:graphicData uri="http://schemas.openxmlformats.org/drawingml/2006/table">
            <a:tbl>
              <a:tblPr>
                <a:noFill/>
                <a:tableStyleId>{A5C32983-F606-45F7-9AA4-D2FD1482CA68}</a:tableStyleId>
              </a:tblPr>
              <a:tblGrid>
                <a:gridCol w="2625450"/>
                <a:gridCol w="6880500"/>
              </a:tblGrid>
              <a:tr h="562725">
                <a:tc>
                  <a:txBody>
                    <a:bodyPr/>
                    <a:lstStyle/>
                    <a:p>
                      <a:pPr indent="0" lvl="0" marL="0" marR="0" rtl="0" algn="ctr">
                        <a:lnSpc>
                          <a:spcPct val="100000"/>
                        </a:lnSpc>
                        <a:spcBef>
                          <a:spcPts val="0"/>
                        </a:spcBef>
                        <a:spcAft>
                          <a:spcPts val="0"/>
                        </a:spcAft>
                        <a:buClr>
                          <a:srgbClr val="000000"/>
                        </a:buClr>
                        <a:buSzPts val="1100"/>
                        <a:buFont typeface="Arial"/>
                        <a:buNone/>
                      </a:pPr>
                      <a:r>
                        <a:rPr b="1" lang="en-GB" u="none" cap="none" strike="noStrike">
                          <a:solidFill>
                            <a:schemeClr val="dk1"/>
                          </a:solidFill>
                          <a:latin typeface="Montserrat"/>
                          <a:ea typeface="Montserrat"/>
                          <a:cs typeface="Montserrat"/>
                          <a:sym typeface="Montserrat"/>
                        </a:rPr>
                        <a:t>Network Dormancy State</a:t>
                      </a:r>
                      <a:endParaRPr b="1"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u="none" cap="none" strike="noStrike">
                          <a:solidFill>
                            <a:schemeClr val="dk1"/>
                          </a:solidFill>
                          <a:latin typeface="Montserrat"/>
                          <a:ea typeface="Montserrat"/>
                          <a:cs typeface="Montserrat"/>
                          <a:sym typeface="Montserrat"/>
                        </a:rPr>
                        <a:t>Descrizione</a:t>
                      </a:r>
                      <a:endParaRPr b="1"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365750">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DORM_Never</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Questo Actor non e’ mai inattivo.</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365750">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DORM_Awake</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Questo Actor e’ attivo ed è considerato per la replicazione.</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56650">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DORM_DormantPartial</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Questo Actor è inattivo su alcune connessioni, ma non su tutte. Utilizza AActor::GetNetDormancy per determinare per quali connessioni l'Actor è inattivo.</a:t>
                      </a:r>
                      <a:br>
                        <a:rPr lang="en-GB" u="none" cap="none" strike="noStrike">
                          <a:solidFill>
                            <a:schemeClr val="dk1"/>
                          </a:solidFill>
                          <a:latin typeface="Montserrat"/>
                          <a:ea typeface="Montserrat"/>
                          <a:cs typeface="Montserrat"/>
                          <a:sym typeface="Montserrat"/>
                        </a:rPr>
                      </a:br>
                      <a:r>
                        <a:rPr lang="en-GB" u="none" cap="none" strike="noStrike">
                          <a:solidFill>
                            <a:schemeClr val="dk1"/>
                          </a:solidFill>
                          <a:latin typeface="Montserrat"/>
                          <a:ea typeface="Montserrat"/>
                          <a:cs typeface="Montserrat"/>
                          <a:sym typeface="Montserrat"/>
                        </a:rPr>
                        <a:t>Non è consigliabile utilizzarla. Si prevede che sara’ deprecata.</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56650">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DORM_Initial</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Questo Actor è inizialmente inattivo su tutte le connessioni. Dovrebbe essere utilizzato solo dagli Actor inizialmente posizionati sulla mappa e nessun oggetto dovrebbe essere impostato su questa opzione a Runtime.</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562725">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DORM_DormantAll</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u="none" cap="none" strike="noStrike">
                          <a:solidFill>
                            <a:schemeClr val="dk1"/>
                          </a:solidFill>
                          <a:latin typeface="Montserrat"/>
                          <a:ea typeface="Montserrat"/>
                          <a:cs typeface="Montserrat"/>
                          <a:sym typeface="Montserrat"/>
                        </a:rPr>
                        <a:t>Questo Actor è inattivo su tutte le connessioni.</a:t>
                      </a:r>
                      <a:endParaRPr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id="829" name="Google Shape;829;g3ddac08760b_0_110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30" name="Google Shape;830;g3ddac08760b_0_110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Dormancy</a:t>
            </a:r>
            <a:endParaRPr b="1" i="0" sz="1100" u="none" cap="none" strike="noStrike">
              <a:solidFill>
                <a:srgbClr val="FF0000"/>
              </a:solidFill>
              <a:latin typeface="Montserrat"/>
              <a:ea typeface="Montserrat"/>
              <a:cs typeface="Montserrat"/>
              <a:sym typeface="Montserrat"/>
            </a:endParaRPr>
          </a:p>
        </p:txBody>
      </p:sp>
      <p:sp>
        <p:nvSpPr>
          <p:cNvPr id="831" name="Google Shape;831;g3ddac08760b_0_1102"/>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Usare la Network Dormancy e’ semplice</a:t>
            </a: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Nel costruttore di un Actor, impostiamo la Network Dormancy di default.</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Prima di modificare un parametro replicato dell’Actor, svegliamo l’Actor usando il metodo piu’ adatto alla nostra situazione.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Possiamo impostare su Awake o usare “</a:t>
            </a:r>
            <a:r>
              <a:rPr b="1" lang="en-GB" sz="1600">
                <a:solidFill>
                  <a:schemeClr val="dk1"/>
                </a:solidFill>
                <a:latin typeface="Montserrat"/>
                <a:ea typeface="Montserrat"/>
                <a:cs typeface="Montserrat"/>
                <a:sym typeface="Montserrat"/>
              </a:rPr>
              <a:t>FlushNetDormancy</a:t>
            </a:r>
            <a:r>
              <a:rPr lang="en-GB" sz="1600">
                <a:solidFill>
                  <a:schemeClr val="dk1"/>
                </a:solidFill>
                <a:latin typeface="Montserrat"/>
                <a:ea typeface="Montserrat"/>
                <a:cs typeface="Montserrat"/>
                <a:sym typeface="Montserrat"/>
              </a:rPr>
              <a:t>()” o “</a:t>
            </a:r>
            <a:r>
              <a:rPr b="1" lang="en-GB" sz="1600">
                <a:solidFill>
                  <a:schemeClr val="dk1"/>
                </a:solidFill>
                <a:latin typeface="Montserrat"/>
                <a:ea typeface="Montserrat"/>
                <a:cs typeface="Montserrat"/>
                <a:sym typeface="Montserrat"/>
              </a:rPr>
              <a:t>ForceNetUpdate</a:t>
            </a:r>
            <a:r>
              <a:rPr lang="en-GB" sz="1600">
                <a:solidFill>
                  <a:schemeClr val="dk1"/>
                </a:solidFill>
                <a:latin typeface="Montserrat"/>
                <a:ea typeface="Montserrat"/>
                <a:cs typeface="Montserrat"/>
                <a:sym typeface="Montserrat"/>
              </a:rPr>
              <a:t>()”.</a:t>
            </a:r>
            <a:br>
              <a:rPr lang="en-GB" sz="1600">
                <a:solidFill>
                  <a:schemeClr val="dk1"/>
                </a:solidFill>
                <a:latin typeface="Montserrat"/>
                <a:ea typeface="Montserrat"/>
                <a:cs typeface="Montserrat"/>
                <a:sym typeface="Montserrat"/>
              </a:rPr>
            </a:br>
            <a:endParaRPr sz="1600">
              <a:solidFill>
                <a:schemeClr val="dk1"/>
              </a:solidFill>
              <a:latin typeface="Montserrat"/>
              <a:ea typeface="Montserrat"/>
              <a:cs typeface="Montserrat"/>
              <a:sym typeface="Montserrat"/>
            </a:endParaRPr>
          </a:p>
          <a:p>
            <a:pPr indent="-330200" lvl="0" marL="457200" marR="0" rtl="0" algn="l">
              <a:lnSpc>
                <a:spcPct val="100000"/>
              </a:lnSpc>
              <a:spcBef>
                <a:spcPts val="0"/>
              </a:spcBef>
              <a:spcAft>
                <a:spcPts val="0"/>
              </a:spcAft>
              <a:buClr>
                <a:schemeClr val="dk1"/>
              </a:buClr>
              <a:buSzPts val="1600"/>
              <a:buFont typeface="Montserrat"/>
              <a:buChar char="●"/>
            </a:pPr>
            <a:r>
              <a:rPr lang="en-GB" sz="1600">
                <a:solidFill>
                  <a:schemeClr val="dk1"/>
                </a:solidFill>
                <a:latin typeface="Montserrat"/>
                <a:ea typeface="Montserrat"/>
                <a:cs typeface="Montserrat"/>
                <a:sym typeface="Montserrat"/>
              </a:rPr>
              <a:t>Lo stato dell’Actor sara’ replicato, e a quel punto l’Actor tornera’ a dormire automaticamente. </a:t>
            </a:r>
            <a:br>
              <a:rPr lang="en-GB" sz="1600">
                <a:solidFill>
                  <a:schemeClr val="dk1"/>
                </a:solidFill>
                <a:latin typeface="Montserrat"/>
                <a:ea typeface="Montserrat"/>
                <a:cs typeface="Montserrat"/>
                <a:sym typeface="Montserrat"/>
              </a:rPr>
            </a:br>
            <a:r>
              <a:rPr lang="en-GB" sz="1600">
                <a:solidFill>
                  <a:schemeClr val="dk1"/>
                </a:solidFill>
                <a:latin typeface="Montserrat"/>
                <a:ea typeface="Montserrat"/>
                <a:cs typeface="Montserrat"/>
                <a:sym typeface="Montserrat"/>
              </a:rPr>
              <a:t>Se abbiamo modificato a mano la Dormancy usando SetNetDormancy(), sta a noi capire quando addormentare l’Actor.</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c’e’ una differenza estremamente importante fra C++ e Blueprint.</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Quando in Blueprint settiamo una </a:t>
            </a:r>
            <a:r>
              <a:rPr lang="en-GB" sz="1600">
                <a:solidFill>
                  <a:schemeClr val="dk1"/>
                </a:solidFill>
                <a:latin typeface="Montserrat"/>
                <a:ea typeface="Montserrat"/>
                <a:cs typeface="Montserrat"/>
                <a:sym typeface="Montserrat"/>
              </a:rPr>
              <a:t>proprietà</a:t>
            </a:r>
            <a:r>
              <a:rPr lang="en-GB" sz="1600">
                <a:solidFill>
                  <a:schemeClr val="dk1"/>
                </a:solidFill>
                <a:latin typeface="Montserrat"/>
                <a:ea typeface="Montserrat"/>
                <a:cs typeface="Montserrat"/>
                <a:sym typeface="Montserrat"/>
              </a:rPr>
              <a:t> replicata, </a:t>
            </a:r>
            <a:r>
              <a:rPr b="1" lang="en-GB" sz="1600">
                <a:solidFill>
                  <a:schemeClr val="dk1"/>
                </a:solidFill>
                <a:latin typeface="Montserrat"/>
                <a:ea typeface="Montserrat"/>
                <a:cs typeface="Montserrat"/>
                <a:sym typeface="Montserrat"/>
              </a:rPr>
              <a:t>FlushNetDormancy</a:t>
            </a:r>
            <a:r>
              <a:rPr lang="en-GB" sz="1600">
                <a:solidFill>
                  <a:schemeClr val="dk1"/>
                </a:solidFill>
                <a:latin typeface="Montserrat"/>
                <a:ea typeface="Montserrat"/>
                <a:cs typeface="Montserrat"/>
                <a:sym typeface="Montserrat"/>
              </a:rPr>
              <a:t>() viene chiamata automaticamente.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Se </a:t>
            </a:r>
            <a:r>
              <a:rPr lang="en-GB" sz="1600">
                <a:solidFill>
                  <a:schemeClr val="dk1"/>
                </a:solidFill>
                <a:latin typeface="Montserrat"/>
                <a:ea typeface="Montserrat"/>
                <a:cs typeface="Montserrat"/>
                <a:sym typeface="Montserrat"/>
              </a:rPr>
              <a:t>però</a:t>
            </a:r>
            <a:r>
              <a:rPr lang="en-GB" sz="1600">
                <a:solidFill>
                  <a:schemeClr val="dk1"/>
                </a:solidFill>
                <a:latin typeface="Montserrat"/>
                <a:ea typeface="Montserrat"/>
                <a:cs typeface="Montserrat"/>
                <a:sym typeface="Montserrat"/>
              </a:rPr>
              <a:t> stiamo modificando una </a:t>
            </a:r>
            <a:r>
              <a:rPr lang="en-GB" sz="1600">
                <a:solidFill>
                  <a:schemeClr val="dk1"/>
                </a:solidFill>
                <a:latin typeface="Montserrat"/>
                <a:ea typeface="Montserrat"/>
                <a:cs typeface="Montserrat"/>
                <a:sym typeface="Montserrat"/>
              </a:rPr>
              <a:t>proprietà</a:t>
            </a:r>
            <a:r>
              <a:rPr lang="en-GB" sz="1600">
                <a:solidFill>
                  <a:schemeClr val="dk1"/>
                </a:solidFill>
                <a:latin typeface="Montserrat"/>
                <a:ea typeface="Montserrat"/>
                <a:cs typeface="Montserrat"/>
                <a:sym typeface="Montserrat"/>
              </a:rPr>
              <a:t> replicata su un ActorComponent, non </a:t>
            </a:r>
            <a:r>
              <a:rPr lang="en-GB" sz="1600">
                <a:solidFill>
                  <a:schemeClr val="dk1"/>
                </a:solidFill>
                <a:latin typeface="Montserrat"/>
                <a:ea typeface="Montserrat"/>
                <a:cs typeface="Montserrat"/>
                <a:sym typeface="Montserrat"/>
              </a:rPr>
              <a:t>verrà</a:t>
            </a:r>
            <a:r>
              <a:rPr lang="en-GB" sz="1600">
                <a:solidFill>
                  <a:schemeClr val="dk1"/>
                </a:solidFill>
                <a:latin typeface="Montserrat"/>
                <a:ea typeface="Montserrat"/>
                <a:cs typeface="Montserrat"/>
                <a:sym typeface="Montserrat"/>
              </a:rPr>
              <a:t> chiamata automaticamente.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1" lang="en-GB" sz="1600">
                <a:solidFill>
                  <a:schemeClr val="dk1"/>
                </a:solidFill>
                <a:latin typeface="Montserrat"/>
                <a:ea typeface="Montserrat"/>
                <a:cs typeface="Montserrat"/>
                <a:sym typeface="Montserrat"/>
              </a:rPr>
              <a:t>In C++ invece, e’ tutto nelle nostre mani.</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32" name="Google Shape;832;g3ddac08760b_0_110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g3ddac08760b_0_1110"/>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38" name="Google Shape;838;g3ddac08760b_0_1110"/>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Network Dormancy</a:t>
            </a:r>
            <a:endParaRPr b="1" i="0" sz="1100" u="none" cap="none" strike="noStrike">
              <a:solidFill>
                <a:srgbClr val="FF0000"/>
              </a:solidFill>
              <a:latin typeface="Montserrat"/>
              <a:ea typeface="Montserrat"/>
              <a:cs typeface="Montserrat"/>
              <a:sym typeface="Montserrat"/>
            </a:endParaRPr>
          </a:p>
        </p:txBody>
      </p:sp>
      <p:sp>
        <p:nvSpPr>
          <p:cNvPr id="839" name="Google Shape;839;g3ddac08760b_0_1110"/>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1"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40" name="Google Shape;840;g3ddac08760b_0_1110"/>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aphicFrame>
        <p:nvGraphicFramePr>
          <p:cNvPr id="841" name="Google Shape;841;g3ddac08760b_0_1110"/>
          <p:cNvGraphicFramePr/>
          <p:nvPr/>
        </p:nvGraphicFramePr>
        <p:xfrm>
          <a:off x="1503788" y="1377050"/>
          <a:ext cx="3000000" cy="3000000"/>
        </p:xfrm>
        <a:graphic>
          <a:graphicData uri="http://schemas.openxmlformats.org/drawingml/2006/table">
            <a:tbl>
              <a:tblPr>
                <a:noFill/>
                <a:tableStyleId>{E21A0DBA-7BFA-4146-8AC2-0E725B44B318}</a:tableStyleId>
              </a:tblPr>
              <a:tblGrid>
                <a:gridCol w="3609800"/>
                <a:gridCol w="6800475"/>
              </a:tblGrid>
              <a:tr h="499950">
                <a:tc>
                  <a:txBody>
                    <a:bodyPr/>
                    <a:lstStyle/>
                    <a:p>
                      <a:pPr indent="0" lvl="0" marL="0" marR="0" rtl="0" algn="ctr">
                        <a:lnSpc>
                          <a:spcPct val="100000"/>
                        </a:lnSpc>
                        <a:spcBef>
                          <a:spcPts val="0"/>
                        </a:spcBef>
                        <a:spcAft>
                          <a:spcPts val="0"/>
                        </a:spcAft>
                        <a:buClr>
                          <a:srgbClr val="000000"/>
                        </a:buClr>
                        <a:buSzPts val="1100"/>
                        <a:buFont typeface="Arial"/>
                        <a:buNone/>
                      </a:pPr>
                      <a:r>
                        <a:rPr b="1" lang="en-GB" sz="1500" u="none" cap="none" strike="noStrike">
                          <a:solidFill>
                            <a:schemeClr val="dk1"/>
                          </a:solidFill>
                          <a:latin typeface="Montserrat"/>
                          <a:ea typeface="Montserrat"/>
                          <a:cs typeface="Montserrat"/>
                          <a:sym typeface="Montserrat"/>
                        </a:rPr>
                        <a:t>Metodi di risveglio</a:t>
                      </a:r>
                      <a:endParaRPr b="1" sz="15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sz="1500" u="none" cap="none" strike="noStrike">
                          <a:solidFill>
                            <a:schemeClr val="dk1"/>
                          </a:solidFill>
                          <a:latin typeface="Montserrat"/>
                          <a:ea typeface="Montserrat"/>
                          <a:cs typeface="Montserrat"/>
                          <a:sym typeface="Montserrat"/>
                        </a:rPr>
                        <a:t>Descrizione</a:t>
                      </a:r>
                      <a:endParaRPr b="1" sz="15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33200">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SetNetDormancy()</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1200" u="none" cap="none" strike="noStrike">
                          <a:solidFill>
                            <a:schemeClr val="dk1"/>
                          </a:solidFill>
                          <a:latin typeface="Montserrat"/>
                          <a:ea typeface="Montserrat"/>
                          <a:cs typeface="Montserrat"/>
                          <a:sym typeface="Montserrat"/>
                        </a:rPr>
                        <a:t>Utile per quando abbiamo dei valori che devono essere aggiornati per diversi frame, come un ad esempio un oggetto che si muove (per esempio una piattaforma volante che si muove da A a B).</a:t>
                      </a:r>
                      <a:endParaRPr sz="12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Se la Dormancy di default di un Actor e’ “DORM_Initial”, dopo averlo svegliato NON dobbiamo impostarlo di nuovo su “DORM_Initial”, ma su “DORM_DormantAll”.</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33200">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FlushNetDormancy()</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Obbliga l’Actor a replicare almeno un aggiornamento su tutte le connessioni su cui è Relevant senza effettivamente modificare la sua Dormancy. C'è un'eccezione a questo: se chiami FlushNetDormancy() su un Actor che ha la sua Dormancy impostata su “DORM_Initial”, la chiamata a FlushNetDormancy() cambia la dormienza dell'Actor in “DORM_DormantAll”.</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33200">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ForceNetUpdate()</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Chiama internamente “FlushNetDormancy()” e in </a:t>
                      </a:r>
                      <a:r>
                        <a:rPr lang="en-GB" sz="1200">
                          <a:solidFill>
                            <a:schemeClr val="dk1"/>
                          </a:solidFill>
                          <a:latin typeface="Montserrat"/>
                          <a:ea typeface="Montserrat"/>
                          <a:cs typeface="Montserrat"/>
                          <a:sym typeface="Montserrat"/>
                        </a:rPr>
                        <a:t>più</a:t>
                      </a:r>
                      <a:r>
                        <a:rPr lang="en-GB" sz="1200" u="none" cap="none" strike="noStrike">
                          <a:solidFill>
                            <a:schemeClr val="dk1"/>
                          </a:solidFill>
                          <a:latin typeface="Montserrat"/>
                          <a:ea typeface="Montserrat"/>
                          <a:cs typeface="Montserrat"/>
                          <a:sym typeface="Montserrat"/>
                        </a:rPr>
                        <a:t> garantisce che qualunque sia stata la modifica eseguita, tutti i Client rieceveranno immediatamente la versione aggiornata dell’informazione, a prescindere dall’Update Frequency. Se non c’e’ stata nessuan modifica, nessuna informazione verra’ inviata ai Client. Utile per cambiamenti importanti che tutti i giocatori devono sapere il prima possibile.</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799875">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Settare direttamente NetDormancy</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Quest’opzione va considerata SOLO nel costruttore. Modificare direttamente questo valore a Runtime non esegue delle logiche necessarie allo UNetDrive per essere aggiornato correttamente. Per modificarlo a Runtime, preferire SEMPRE “SetNetDormancy()”, il quale ci assicura di eseguire tutte le logiche necessarie.</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pic>
        <p:nvPicPr>
          <p:cNvPr id="846" name="Google Shape;846;g3ddac08760b_0_42"/>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47" name="Google Shape;847;g3ddac08760b_0_42"/>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848" name="Google Shape;848;g3ddac08760b_0_42"/>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Travelling e’ il processo attraverso il quale ci si sposta fra una Map e l’altra.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Viene utilizzato largamente sia nei giochi Single Player che Multiplayer Online ed e’ un processo distruttivo, ovvero che nulla di quello che esiste nel contesto della Map da cui ci stiamo spostando viene conservato.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in Multiplayer e’ necessario avere consapevolezza di alcuni funzionamenti per capire come spostare i giocatori correttamente.</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Tanto per cominciare, bisogna capire la distinzione fra Non-Seamless Travel e Seamless Travel.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49" name="Google Shape;849;g3ddac08760b_0_4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pic>
        <p:nvPicPr>
          <p:cNvPr id="854" name="Google Shape;854;g3ddac08760b_0_1125"/>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55" name="Google Shape;855;g3ddac08760b_0_1125"/>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856" name="Google Shape;856;g3ddac08760b_0_1125"/>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Non-Seamless Travel e’ un’operazione bloccante, che disconnette i Client dal Server e li fa riconnettere allo stesso Server quando la nuova Map viene caricata.</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57" name="Google Shape;857;g3ddac08760b_0_1125"/>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858" name="Google Shape;858;g3ddac08760b_0_1125"/>
          <p:cNvPicPr preferRelativeResize="0"/>
          <p:nvPr/>
        </p:nvPicPr>
        <p:blipFill rotWithShape="1">
          <a:blip r:embed="rId4">
            <a:alphaModFix/>
          </a:blip>
          <a:srcRect b="0" l="0" r="0" t="0"/>
          <a:stretch/>
        </p:blipFill>
        <p:spPr>
          <a:xfrm>
            <a:off x="1951111" y="2985500"/>
            <a:ext cx="1667056" cy="1563859"/>
          </a:xfrm>
          <a:prstGeom prst="rect">
            <a:avLst/>
          </a:prstGeom>
          <a:noFill/>
          <a:ln cap="flat" cmpd="sng" w="11225">
            <a:solidFill>
              <a:srgbClr val="595959"/>
            </a:solidFill>
            <a:prstDash val="solid"/>
            <a:round/>
            <a:headEnd len="sm" w="sm" type="none"/>
            <a:tailEnd len="sm" w="sm" type="none"/>
          </a:ln>
        </p:spPr>
      </p:pic>
      <p:pic>
        <p:nvPicPr>
          <p:cNvPr id="859" name="Google Shape;859;g3ddac08760b_0_1125"/>
          <p:cNvPicPr preferRelativeResize="0"/>
          <p:nvPr/>
        </p:nvPicPr>
        <p:blipFill rotWithShape="1">
          <a:blip r:embed="rId5">
            <a:alphaModFix/>
          </a:blip>
          <a:srcRect b="0" l="0" r="0" t="0"/>
          <a:stretch/>
        </p:blipFill>
        <p:spPr>
          <a:xfrm>
            <a:off x="2399519" y="3051623"/>
            <a:ext cx="351340" cy="351369"/>
          </a:xfrm>
          <a:prstGeom prst="rect">
            <a:avLst/>
          </a:prstGeom>
          <a:noFill/>
          <a:ln>
            <a:noFill/>
          </a:ln>
        </p:spPr>
      </p:pic>
      <p:pic>
        <p:nvPicPr>
          <p:cNvPr id="860" name="Google Shape;860;g3ddac08760b_0_1125"/>
          <p:cNvPicPr preferRelativeResize="0"/>
          <p:nvPr/>
        </p:nvPicPr>
        <p:blipFill rotWithShape="1">
          <a:blip r:embed="rId5">
            <a:alphaModFix/>
          </a:blip>
          <a:srcRect b="0" l="0" r="0" t="0"/>
          <a:stretch/>
        </p:blipFill>
        <p:spPr>
          <a:xfrm>
            <a:off x="3177675" y="3051623"/>
            <a:ext cx="351340" cy="351369"/>
          </a:xfrm>
          <a:prstGeom prst="rect">
            <a:avLst/>
          </a:prstGeom>
          <a:noFill/>
          <a:ln>
            <a:noFill/>
          </a:ln>
        </p:spPr>
      </p:pic>
      <p:pic>
        <p:nvPicPr>
          <p:cNvPr id="861" name="Google Shape;861;g3ddac08760b_0_1125"/>
          <p:cNvPicPr preferRelativeResize="0"/>
          <p:nvPr/>
        </p:nvPicPr>
        <p:blipFill rotWithShape="1">
          <a:blip r:embed="rId5">
            <a:alphaModFix/>
          </a:blip>
          <a:srcRect b="0" l="0" r="0" t="0"/>
          <a:stretch/>
        </p:blipFill>
        <p:spPr>
          <a:xfrm>
            <a:off x="1980631" y="3051635"/>
            <a:ext cx="351340" cy="351369"/>
          </a:xfrm>
          <a:prstGeom prst="rect">
            <a:avLst/>
          </a:prstGeom>
          <a:noFill/>
          <a:ln>
            <a:noFill/>
          </a:ln>
        </p:spPr>
      </p:pic>
      <p:pic>
        <p:nvPicPr>
          <p:cNvPr id="862" name="Google Shape;862;g3ddac08760b_0_1125"/>
          <p:cNvPicPr preferRelativeResize="0"/>
          <p:nvPr/>
        </p:nvPicPr>
        <p:blipFill rotWithShape="1">
          <a:blip r:embed="rId5">
            <a:alphaModFix/>
          </a:blip>
          <a:srcRect b="0" l="0" r="0" t="0"/>
          <a:stretch/>
        </p:blipFill>
        <p:spPr>
          <a:xfrm>
            <a:off x="2788208" y="3051631"/>
            <a:ext cx="351340" cy="351369"/>
          </a:xfrm>
          <a:prstGeom prst="rect">
            <a:avLst/>
          </a:prstGeom>
          <a:noFill/>
          <a:ln>
            <a:noFill/>
          </a:ln>
        </p:spPr>
      </p:pic>
      <p:pic>
        <p:nvPicPr>
          <p:cNvPr id="863" name="Google Shape;863;g3ddac08760b_0_1125"/>
          <p:cNvPicPr preferRelativeResize="0"/>
          <p:nvPr/>
        </p:nvPicPr>
        <p:blipFill rotWithShape="1">
          <a:blip r:embed="rId4">
            <a:alphaModFix/>
          </a:blip>
          <a:srcRect b="0" l="0" r="0" t="0"/>
          <a:stretch/>
        </p:blipFill>
        <p:spPr>
          <a:xfrm>
            <a:off x="9545550" y="2985500"/>
            <a:ext cx="1667056" cy="1563859"/>
          </a:xfrm>
          <a:prstGeom prst="rect">
            <a:avLst/>
          </a:prstGeom>
          <a:noFill/>
          <a:ln cap="flat" cmpd="sng" w="11225">
            <a:solidFill>
              <a:srgbClr val="595959"/>
            </a:solidFill>
            <a:prstDash val="solid"/>
            <a:round/>
            <a:headEnd len="sm" w="sm" type="none"/>
            <a:tailEnd len="sm" w="sm" type="none"/>
          </a:ln>
        </p:spPr>
      </p:pic>
      <p:sp>
        <p:nvSpPr>
          <p:cNvPr id="864" name="Google Shape;864;g3ddac08760b_0_1125"/>
          <p:cNvSpPr txBox="1"/>
          <p:nvPr/>
        </p:nvSpPr>
        <p:spPr>
          <a:xfrm>
            <a:off x="2282674" y="2521352"/>
            <a:ext cx="1079100" cy="435300"/>
          </a:xfrm>
          <a:prstGeom prst="rect">
            <a:avLst/>
          </a:prstGeom>
          <a:noFill/>
          <a:ln>
            <a:noFill/>
          </a:ln>
        </p:spPr>
        <p:txBody>
          <a:bodyPr anchorCtr="0" anchor="ctr" bIns="107775" lIns="107775" spcFirstLastPara="1" rIns="107775" wrap="square" tIns="107775">
            <a:noAutofit/>
          </a:bodyPr>
          <a:lstStyle/>
          <a:p>
            <a:pPr indent="0" lvl="0" marL="0" marR="0" rtl="0" algn="ctr">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Map A</a:t>
            </a:r>
            <a:endParaRPr b="0" i="0" sz="1414" u="none" cap="none" strike="noStrike">
              <a:solidFill>
                <a:schemeClr val="dk1"/>
              </a:solidFill>
              <a:latin typeface="Montserrat"/>
              <a:ea typeface="Montserrat"/>
              <a:cs typeface="Montserrat"/>
              <a:sym typeface="Montserrat"/>
            </a:endParaRPr>
          </a:p>
        </p:txBody>
      </p:sp>
      <p:sp>
        <p:nvSpPr>
          <p:cNvPr id="865" name="Google Shape;865;g3ddac08760b_0_1125"/>
          <p:cNvSpPr txBox="1"/>
          <p:nvPr/>
        </p:nvSpPr>
        <p:spPr>
          <a:xfrm>
            <a:off x="9863660" y="2521352"/>
            <a:ext cx="1030800" cy="435300"/>
          </a:xfrm>
          <a:prstGeom prst="rect">
            <a:avLst/>
          </a:prstGeom>
          <a:noFill/>
          <a:ln>
            <a:noFill/>
          </a:ln>
        </p:spPr>
        <p:txBody>
          <a:bodyPr anchorCtr="0" anchor="ctr" bIns="107775" lIns="107775" spcFirstLastPara="1" rIns="107775" wrap="square" tIns="107775">
            <a:noAutofit/>
          </a:bodyPr>
          <a:lstStyle/>
          <a:p>
            <a:pPr indent="0" lvl="0" marL="0" marR="0" rtl="0" algn="ctr">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Map B</a:t>
            </a:r>
            <a:endParaRPr b="0" i="0" sz="1414" u="none" cap="none" strike="noStrike">
              <a:solidFill>
                <a:schemeClr val="dk1"/>
              </a:solidFill>
              <a:latin typeface="Montserrat"/>
              <a:ea typeface="Montserrat"/>
              <a:cs typeface="Montserrat"/>
              <a:sym typeface="Montserrat"/>
            </a:endParaRPr>
          </a:p>
        </p:txBody>
      </p:sp>
      <p:sp>
        <p:nvSpPr>
          <p:cNvPr id="866" name="Google Shape;866;g3ddac08760b_0_1125"/>
          <p:cNvSpPr txBox="1"/>
          <p:nvPr/>
        </p:nvSpPr>
        <p:spPr>
          <a:xfrm>
            <a:off x="5506329" y="4187936"/>
            <a:ext cx="1820400" cy="435300"/>
          </a:xfrm>
          <a:prstGeom prst="rect">
            <a:avLst/>
          </a:prstGeom>
          <a:noFill/>
          <a:ln>
            <a:noFill/>
          </a:ln>
        </p:spPr>
        <p:txBody>
          <a:bodyPr anchorCtr="0" anchor="ctr" bIns="107775" lIns="107775" spcFirstLastPara="1" rIns="107775" wrap="square" tIns="107775">
            <a:noAutofit/>
          </a:bodyPr>
          <a:lstStyle/>
          <a:p>
            <a:pPr indent="0" lvl="0" marL="0" marR="0" rtl="0" algn="ctr">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Clients Disconnected</a:t>
            </a:r>
            <a:endParaRPr b="0" i="0" sz="1414" u="none" cap="none" strike="noStrike">
              <a:solidFill>
                <a:schemeClr val="dk1"/>
              </a:solidFill>
              <a:latin typeface="Montserrat"/>
              <a:ea typeface="Montserrat"/>
              <a:cs typeface="Montserrat"/>
              <a:sym typeface="Montserrat"/>
            </a:endParaRPr>
          </a:p>
        </p:txBody>
      </p:sp>
      <p:pic>
        <p:nvPicPr>
          <p:cNvPr id="867" name="Google Shape;867;g3ddac08760b_0_1125"/>
          <p:cNvPicPr preferRelativeResize="0"/>
          <p:nvPr/>
        </p:nvPicPr>
        <p:blipFill rotWithShape="1">
          <a:blip r:embed="rId5">
            <a:alphaModFix/>
          </a:blip>
          <a:srcRect b="0" l="0" r="0" t="0"/>
          <a:stretch/>
        </p:blipFill>
        <p:spPr>
          <a:xfrm>
            <a:off x="5954688" y="4702471"/>
            <a:ext cx="351340" cy="351369"/>
          </a:xfrm>
          <a:prstGeom prst="rect">
            <a:avLst/>
          </a:prstGeom>
          <a:noFill/>
          <a:ln>
            <a:noFill/>
          </a:ln>
        </p:spPr>
      </p:pic>
      <p:pic>
        <p:nvPicPr>
          <p:cNvPr id="868" name="Google Shape;868;g3ddac08760b_0_1125"/>
          <p:cNvPicPr preferRelativeResize="0"/>
          <p:nvPr/>
        </p:nvPicPr>
        <p:blipFill rotWithShape="1">
          <a:blip r:embed="rId5">
            <a:alphaModFix/>
          </a:blip>
          <a:srcRect b="0" l="0" r="0" t="0"/>
          <a:stretch/>
        </p:blipFill>
        <p:spPr>
          <a:xfrm>
            <a:off x="6373570" y="4702471"/>
            <a:ext cx="351340" cy="351369"/>
          </a:xfrm>
          <a:prstGeom prst="rect">
            <a:avLst/>
          </a:prstGeom>
          <a:noFill/>
          <a:ln>
            <a:noFill/>
          </a:ln>
        </p:spPr>
      </p:pic>
      <p:pic>
        <p:nvPicPr>
          <p:cNvPr id="869" name="Google Shape;869;g3ddac08760b_0_1125"/>
          <p:cNvPicPr preferRelativeResize="0"/>
          <p:nvPr/>
        </p:nvPicPr>
        <p:blipFill rotWithShape="1">
          <a:blip r:embed="rId5">
            <a:alphaModFix/>
          </a:blip>
          <a:srcRect b="0" l="0" r="0" t="0"/>
          <a:stretch/>
        </p:blipFill>
        <p:spPr>
          <a:xfrm>
            <a:off x="5535800" y="4702483"/>
            <a:ext cx="351340" cy="351369"/>
          </a:xfrm>
          <a:prstGeom prst="rect">
            <a:avLst/>
          </a:prstGeom>
          <a:noFill/>
          <a:ln>
            <a:noFill/>
          </a:ln>
        </p:spPr>
      </p:pic>
      <p:pic>
        <p:nvPicPr>
          <p:cNvPr id="870" name="Google Shape;870;g3ddac08760b_0_1125"/>
          <p:cNvPicPr preferRelativeResize="0"/>
          <p:nvPr/>
        </p:nvPicPr>
        <p:blipFill rotWithShape="1">
          <a:blip r:embed="rId5">
            <a:alphaModFix/>
          </a:blip>
          <a:srcRect b="0" l="0" r="0" t="0"/>
          <a:stretch/>
        </p:blipFill>
        <p:spPr>
          <a:xfrm>
            <a:off x="6792469" y="4702479"/>
            <a:ext cx="351340" cy="351369"/>
          </a:xfrm>
          <a:prstGeom prst="rect">
            <a:avLst/>
          </a:prstGeom>
          <a:noFill/>
          <a:ln>
            <a:noFill/>
          </a:ln>
        </p:spPr>
      </p:pic>
      <p:sp>
        <p:nvSpPr>
          <p:cNvPr id="871" name="Google Shape;871;g3ddac08760b_0_1125"/>
          <p:cNvSpPr txBox="1"/>
          <p:nvPr/>
        </p:nvSpPr>
        <p:spPr>
          <a:xfrm>
            <a:off x="1988895" y="4578209"/>
            <a:ext cx="1666800" cy="435300"/>
          </a:xfrm>
          <a:prstGeom prst="rect">
            <a:avLst/>
          </a:prstGeom>
          <a:noFill/>
          <a:ln>
            <a:noFill/>
          </a:ln>
        </p:spPr>
        <p:txBody>
          <a:bodyPr anchorCtr="0" anchor="ctr" bIns="107775" lIns="107775" spcFirstLastPara="1" rIns="107775" wrap="square" tIns="107775">
            <a:noAutofit/>
          </a:bodyPr>
          <a:lstStyle/>
          <a:p>
            <a:pPr indent="0" lvl="0" marL="0" marR="0" rtl="0" algn="ctr">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Clients Connected</a:t>
            </a:r>
            <a:endParaRPr b="0" i="0" sz="1414" u="none" cap="none" strike="noStrike">
              <a:solidFill>
                <a:schemeClr val="dk1"/>
              </a:solidFill>
              <a:latin typeface="Montserrat"/>
              <a:ea typeface="Montserrat"/>
              <a:cs typeface="Montserrat"/>
              <a:sym typeface="Montserrat"/>
            </a:endParaRPr>
          </a:p>
        </p:txBody>
      </p:sp>
      <p:pic>
        <p:nvPicPr>
          <p:cNvPr id="872" name="Google Shape;872;g3ddac08760b_0_1125"/>
          <p:cNvPicPr preferRelativeResize="0"/>
          <p:nvPr/>
        </p:nvPicPr>
        <p:blipFill rotWithShape="1">
          <a:blip r:embed="rId5">
            <a:alphaModFix/>
          </a:blip>
          <a:srcRect b="0" l="0" r="0" t="0"/>
          <a:stretch/>
        </p:blipFill>
        <p:spPr>
          <a:xfrm>
            <a:off x="9993957" y="3051623"/>
            <a:ext cx="351340" cy="351369"/>
          </a:xfrm>
          <a:prstGeom prst="rect">
            <a:avLst/>
          </a:prstGeom>
          <a:noFill/>
          <a:ln>
            <a:noFill/>
          </a:ln>
        </p:spPr>
      </p:pic>
      <p:pic>
        <p:nvPicPr>
          <p:cNvPr id="873" name="Google Shape;873;g3ddac08760b_0_1125"/>
          <p:cNvPicPr preferRelativeResize="0"/>
          <p:nvPr/>
        </p:nvPicPr>
        <p:blipFill rotWithShape="1">
          <a:blip r:embed="rId5">
            <a:alphaModFix/>
          </a:blip>
          <a:srcRect b="0" l="0" r="0" t="0"/>
          <a:stretch/>
        </p:blipFill>
        <p:spPr>
          <a:xfrm>
            <a:off x="10412839" y="3051623"/>
            <a:ext cx="351340" cy="351369"/>
          </a:xfrm>
          <a:prstGeom prst="rect">
            <a:avLst/>
          </a:prstGeom>
          <a:noFill/>
          <a:ln>
            <a:noFill/>
          </a:ln>
        </p:spPr>
      </p:pic>
      <p:pic>
        <p:nvPicPr>
          <p:cNvPr id="874" name="Google Shape;874;g3ddac08760b_0_1125"/>
          <p:cNvPicPr preferRelativeResize="0"/>
          <p:nvPr/>
        </p:nvPicPr>
        <p:blipFill rotWithShape="1">
          <a:blip r:embed="rId5">
            <a:alphaModFix/>
          </a:blip>
          <a:srcRect b="0" l="0" r="0" t="0"/>
          <a:stretch/>
        </p:blipFill>
        <p:spPr>
          <a:xfrm>
            <a:off x="9575069" y="3051635"/>
            <a:ext cx="351340" cy="351369"/>
          </a:xfrm>
          <a:prstGeom prst="rect">
            <a:avLst/>
          </a:prstGeom>
          <a:noFill/>
          <a:ln>
            <a:noFill/>
          </a:ln>
        </p:spPr>
      </p:pic>
      <p:pic>
        <p:nvPicPr>
          <p:cNvPr id="875" name="Google Shape;875;g3ddac08760b_0_1125"/>
          <p:cNvPicPr preferRelativeResize="0"/>
          <p:nvPr/>
        </p:nvPicPr>
        <p:blipFill rotWithShape="1">
          <a:blip r:embed="rId5">
            <a:alphaModFix/>
          </a:blip>
          <a:srcRect b="0" l="0" r="0" t="0"/>
          <a:stretch/>
        </p:blipFill>
        <p:spPr>
          <a:xfrm>
            <a:off x="10831739" y="3051631"/>
            <a:ext cx="351340" cy="351369"/>
          </a:xfrm>
          <a:prstGeom prst="rect">
            <a:avLst/>
          </a:prstGeom>
          <a:noFill/>
          <a:ln>
            <a:noFill/>
          </a:ln>
        </p:spPr>
      </p:pic>
      <p:sp>
        <p:nvSpPr>
          <p:cNvPr id="876" name="Google Shape;876;g3ddac08760b_0_1125"/>
          <p:cNvSpPr txBox="1"/>
          <p:nvPr/>
        </p:nvSpPr>
        <p:spPr>
          <a:xfrm>
            <a:off x="9545539" y="4578209"/>
            <a:ext cx="1921200" cy="435300"/>
          </a:xfrm>
          <a:prstGeom prst="rect">
            <a:avLst/>
          </a:prstGeom>
          <a:noFill/>
          <a:ln>
            <a:noFill/>
          </a:ln>
        </p:spPr>
        <p:txBody>
          <a:bodyPr anchorCtr="0" anchor="ctr" bIns="107775" lIns="107775" spcFirstLastPara="1" rIns="107775" wrap="square" tIns="107775">
            <a:noAutofit/>
          </a:bodyPr>
          <a:lstStyle/>
          <a:p>
            <a:pPr indent="0" lvl="0" marL="0" marR="0" rtl="0" algn="ctr">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Clients Reconnected</a:t>
            </a:r>
            <a:endParaRPr b="0" i="0" sz="1414" u="none" cap="none" strike="noStrike">
              <a:solidFill>
                <a:schemeClr val="dk1"/>
              </a:solidFill>
              <a:latin typeface="Montserrat"/>
              <a:ea typeface="Montserrat"/>
              <a:cs typeface="Montserrat"/>
              <a:sym typeface="Montserrat"/>
            </a:endParaRPr>
          </a:p>
        </p:txBody>
      </p:sp>
      <p:cxnSp>
        <p:nvCxnSpPr>
          <p:cNvPr id="877" name="Google Shape;877;g3ddac08760b_0_1125"/>
          <p:cNvCxnSpPr/>
          <p:nvPr/>
        </p:nvCxnSpPr>
        <p:spPr>
          <a:xfrm>
            <a:off x="3802193" y="3821121"/>
            <a:ext cx="1030800" cy="0"/>
          </a:xfrm>
          <a:prstGeom prst="straightConnector1">
            <a:avLst/>
          </a:prstGeom>
          <a:noFill/>
          <a:ln cap="flat" cmpd="sng" w="11225">
            <a:solidFill>
              <a:srgbClr val="595959"/>
            </a:solidFill>
            <a:prstDash val="solid"/>
            <a:round/>
            <a:headEnd len="sm" w="sm" type="none"/>
            <a:tailEnd len="med" w="med" type="triangle"/>
          </a:ln>
        </p:spPr>
      </p:cxnSp>
      <p:sp>
        <p:nvSpPr>
          <p:cNvPr id="878" name="Google Shape;878;g3ddac08760b_0_1125"/>
          <p:cNvSpPr txBox="1"/>
          <p:nvPr/>
        </p:nvSpPr>
        <p:spPr>
          <a:xfrm>
            <a:off x="3802193" y="3252185"/>
            <a:ext cx="1313400" cy="435300"/>
          </a:xfrm>
          <a:prstGeom prst="rect">
            <a:avLst/>
          </a:prstGeom>
          <a:no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Travel Start</a:t>
            </a:r>
            <a:endParaRPr b="0" i="0" sz="1414" u="none" cap="none" strike="noStrike">
              <a:solidFill>
                <a:schemeClr val="dk1"/>
              </a:solidFill>
              <a:latin typeface="Montserrat"/>
              <a:ea typeface="Montserrat"/>
              <a:cs typeface="Montserrat"/>
              <a:sym typeface="Montserrat"/>
            </a:endParaRPr>
          </a:p>
        </p:txBody>
      </p:sp>
      <p:sp>
        <p:nvSpPr>
          <p:cNvPr id="879" name="Google Shape;879;g3ddac08760b_0_1125"/>
          <p:cNvSpPr txBox="1"/>
          <p:nvPr/>
        </p:nvSpPr>
        <p:spPr>
          <a:xfrm>
            <a:off x="4832984" y="3603471"/>
            <a:ext cx="1523700" cy="435300"/>
          </a:xfrm>
          <a:prstGeom prst="rect">
            <a:avLst/>
          </a:prstGeom>
          <a:no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Unload Map A</a:t>
            </a:r>
            <a:endParaRPr b="0" i="0" sz="1414" u="none" cap="none" strike="noStrike">
              <a:solidFill>
                <a:schemeClr val="dk1"/>
              </a:solidFill>
              <a:latin typeface="Montserrat"/>
              <a:ea typeface="Montserrat"/>
              <a:cs typeface="Montserrat"/>
              <a:sym typeface="Montserrat"/>
            </a:endParaRPr>
          </a:p>
        </p:txBody>
      </p:sp>
      <p:cxnSp>
        <p:nvCxnSpPr>
          <p:cNvPr id="880" name="Google Shape;880;g3ddac08760b_0_1125"/>
          <p:cNvCxnSpPr>
            <a:stCxn id="879" idx="3"/>
          </p:cNvCxnSpPr>
          <p:nvPr/>
        </p:nvCxnSpPr>
        <p:spPr>
          <a:xfrm>
            <a:off x="6356684" y="3821121"/>
            <a:ext cx="780900" cy="0"/>
          </a:xfrm>
          <a:prstGeom prst="straightConnector1">
            <a:avLst/>
          </a:prstGeom>
          <a:noFill/>
          <a:ln cap="flat" cmpd="sng" w="11225">
            <a:solidFill>
              <a:srgbClr val="595959"/>
            </a:solidFill>
            <a:prstDash val="solid"/>
            <a:round/>
            <a:headEnd len="sm" w="sm" type="none"/>
            <a:tailEnd len="med" w="med" type="triangle"/>
          </a:ln>
        </p:spPr>
      </p:cxnSp>
      <p:sp>
        <p:nvSpPr>
          <p:cNvPr id="881" name="Google Shape;881;g3ddac08760b_0_1125"/>
          <p:cNvSpPr txBox="1"/>
          <p:nvPr/>
        </p:nvSpPr>
        <p:spPr>
          <a:xfrm>
            <a:off x="7137501" y="3603471"/>
            <a:ext cx="1313400" cy="435300"/>
          </a:xfrm>
          <a:prstGeom prst="rect">
            <a:avLst/>
          </a:prstGeom>
          <a:noFill/>
          <a:ln>
            <a:noFill/>
          </a:ln>
        </p:spPr>
        <p:txBody>
          <a:bodyPr anchorCtr="0" anchor="ctr" bIns="107775" lIns="107775" spcFirstLastPara="1" rIns="107775" wrap="square" tIns="107775">
            <a:noAutofit/>
          </a:bodyPr>
          <a:lstStyle/>
          <a:p>
            <a:pPr indent="0" lvl="0" marL="0" marR="0" rtl="0" algn="l">
              <a:lnSpc>
                <a:spcPct val="100000"/>
              </a:lnSpc>
              <a:spcBef>
                <a:spcPts val="0"/>
              </a:spcBef>
              <a:spcAft>
                <a:spcPts val="0"/>
              </a:spcAft>
              <a:buClr>
                <a:srgbClr val="000000"/>
              </a:buClr>
              <a:buSzPts val="1414"/>
              <a:buFont typeface="Arial"/>
              <a:buNone/>
            </a:pPr>
            <a:r>
              <a:rPr b="0" i="0" lang="en-GB" sz="1414" u="none" cap="none" strike="noStrike">
                <a:solidFill>
                  <a:schemeClr val="dk1"/>
                </a:solidFill>
                <a:latin typeface="Montserrat"/>
                <a:ea typeface="Montserrat"/>
                <a:cs typeface="Montserrat"/>
                <a:sym typeface="Montserrat"/>
              </a:rPr>
              <a:t>Load Map B</a:t>
            </a:r>
            <a:endParaRPr b="0" i="0" sz="1414" u="none" cap="none" strike="noStrike">
              <a:solidFill>
                <a:schemeClr val="dk1"/>
              </a:solidFill>
              <a:latin typeface="Montserrat"/>
              <a:ea typeface="Montserrat"/>
              <a:cs typeface="Montserrat"/>
              <a:sym typeface="Montserrat"/>
            </a:endParaRPr>
          </a:p>
        </p:txBody>
      </p:sp>
      <p:cxnSp>
        <p:nvCxnSpPr>
          <p:cNvPr id="882" name="Google Shape;882;g3ddac08760b_0_1125"/>
          <p:cNvCxnSpPr/>
          <p:nvPr/>
        </p:nvCxnSpPr>
        <p:spPr>
          <a:xfrm>
            <a:off x="8389479" y="3821121"/>
            <a:ext cx="1030800" cy="0"/>
          </a:xfrm>
          <a:prstGeom prst="straightConnector1">
            <a:avLst/>
          </a:prstGeom>
          <a:noFill/>
          <a:ln cap="flat" cmpd="sng" w="11225">
            <a:solidFill>
              <a:srgbClr val="595959"/>
            </a:solidFill>
            <a:prstDash val="solid"/>
            <a:round/>
            <a:headEnd len="sm" w="sm" type="none"/>
            <a:tailEnd len="med" w="med" type="triangle"/>
          </a:ln>
        </p:spPr>
      </p:cxnSp>
      <p:sp>
        <p:nvSpPr>
          <p:cNvPr id="883" name="Google Shape;883;g3ddac08760b_0_1125"/>
          <p:cNvSpPr txBox="1"/>
          <p:nvPr/>
        </p:nvSpPr>
        <p:spPr>
          <a:xfrm>
            <a:off x="5259525" y="2284875"/>
            <a:ext cx="2579400" cy="654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200"/>
              <a:buFont typeface="Arial"/>
              <a:buNone/>
            </a:pPr>
            <a:r>
              <a:rPr b="0" i="0" lang="en-GB" sz="2200" u="none" cap="none" strike="noStrike">
                <a:solidFill>
                  <a:schemeClr val="dk1"/>
                </a:solidFill>
                <a:latin typeface="Montserrat"/>
                <a:ea typeface="Montserrat"/>
                <a:cs typeface="Montserrat"/>
                <a:sym typeface="Montserrat"/>
              </a:rPr>
              <a:t>Non-Seamless Travel</a:t>
            </a:r>
            <a:endParaRPr b="0" i="0" sz="22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pic>
        <p:nvPicPr>
          <p:cNvPr id="888" name="Google Shape;888;g3ddac08760b_0_118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889" name="Google Shape;889;g3ddac08760b_0_118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890" name="Google Shape;890;g3ddac08760b_0_1183"/>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Il Seamless Travel invece e’ un’operazione non bloccante che permette di caricare la Map successiva asincronamente senza disconnettere i Client.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Per farlo pero’ ha bisogno di una Map (meglio se vuota o estremamente leggera) interamente dedicata a tale transizione.</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Questo serve ad avere sempre un World disponibile per mantenere le connessioni attive.</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891" name="Google Shape;891;g3ddac08760b_0_118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892" name="Google Shape;892;g3ddac08760b_0_1183"/>
          <p:cNvPicPr preferRelativeResize="0"/>
          <p:nvPr/>
        </p:nvPicPr>
        <p:blipFill rotWithShape="1">
          <a:blip r:embed="rId4">
            <a:alphaModFix/>
          </a:blip>
          <a:srcRect b="0" l="0" r="0" t="0"/>
          <a:stretch/>
        </p:blipFill>
        <p:spPr>
          <a:xfrm>
            <a:off x="5558348" y="5096072"/>
            <a:ext cx="1587713" cy="1489428"/>
          </a:xfrm>
          <a:prstGeom prst="rect">
            <a:avLst/>
          </a:prstGeom>
          <a:noFill/>
          <a:ln cap="flat" cmpd="sng" w="10700">
            <a:solidFill>
              <a:srgbClr val="595959"/>
            </a:solidFill>
            <a:prstDash val="solid"/>
            <a:round/>
            <a:headEnd len="sm" w="sm" type="none"/>
            <a:tailEnd len="sm" w="sm" type="none"/>
          </a:ln>
        </p:spPr>
      </p:pic>
      <p:pic>
        <p:nvPicPr>
          <p:cNvPr id="893" name="Google Shape;893;g3ddac08760b_0_1183"/>
          <p:cNvPicPr preferRelativeResize="0"/>
          <p:nvPr/>
        </p:nvPicPr>
        <p:blipFill rotWithShape="1">
          <a:blip r:embed="rId4">
            <a:alphaModFix/>
          </a:blip>
          <a:srcRect b="0" l="0" r="0" t="0"/>
          <a:stretch/>
        </p:blipFill>
        <p:spPr>
          <a:xfrm>
            <a:off x="2376825" y="3587587"/>
            <a:ext cx="1587713" cy="1489428"/>
          </a:xfrm>
          <a:prstGeom prst="rect">
            <a:avLst/>
          </a:prstGeom>
          <a:noFill/>
          <a:ln cap="flat" cmpd="sng" w="10700">
            <a:solidFill>
              <a:srgbClr val="595959"/>
            </a:solidFill>
            <a:prstDash val="solid"/>
            <a:round/>
            <a:headEnd len="sm" w="sm" type="none"/>
            <a:tailEnd len="sm" w="sm" type="none"/>
          </a:ln>
        </p:spPr>
      </p:pic>
      <p:pic>
        <p:nvPicPr>
          <p:cNvPr id="894" name="Google Shape;894;g3ddac08760b_0_1183"/>
          <p:cNvPicPr preferRelativeResize="0"/>
          <p:nvPr/>
        </p:nvPicPr>
        <p:blipFill rotWithShape="1">
          <a:blip r:embed="rId5">
            <a:alphaModFix/>
          </a:blip>
          <a:srcRect b="0" l="0" r="0" t="0"/>
          <a:stretch/>
        </p:blipFill>
        <p:spPr>
          <a:xfrm>
            <a:off x="2803890" y="3650562"/>
            <a:ext cx="334618" cy="334646"/>
          </a:xfrm>
          <a:prstGeom prst="rect">
            <a:avLst/>
          </a:prstGeom>
          <a:noFill/>
          <a:ln>
            <a:noFill/>
          </a:ln>
        </p:spPr>
      </p:pic>
      <p:pic>
        <p:nvPicPr>
          <p:cNvPr id="895" name="Google Shape;895;g3ddac08760b_0_1183"/>
          <p:cNvPicPr preferRelativeResize="0"/>
          <p:nvPr/>
        </p:nvPicPr>
        <p:blipFill rotWithShape="1">
          <a:blip r:embed="rId5">
            <a:alphaModFix/>
          </a:blip>
          <a:srcRect b="0" l="0" r="0" t="0"/>
          <a:stretch/>
        </p:blipFill>
        <p:spPr>
          <a:xfrm>
            <a:off x="3202834" y="3650562"/>
            <a:ext cx="334618" cy="334646"/>
          </a:xfrm>
          <a:prstGeom prst="rect">
            <a:avLst/>
          </a:prstGeom>
          <a:noFill/>
          <a:ln>
            <a:noFill/>
          </a:ln>
        </p:spPr>
      </p:pic>
      <p:pic>
        <p:nvPicPr>
          <p:cNvPr id="896" name="Google Shape;896;g3ddac08760b_0_1183"/>
          <p:cNvPicPr preferRelativeResize="0"/>
          <p:nvPr/>
        </p:nvPicPr>
        <p:blipFill rotWithShape="1">
          <a:blip r:embed="rId5">
            <a:alphaModFix/>
          </a:blip>
          <a:srcRect b="0" l="0" r="0" t="0"/>
          <a:stretch/>
        </p:blipFill>
        <p:spPr>
          <a:xfrm>
            <a:off x="2404940" y="3650574"/>
            <a:ext cx="334618" cy="334646"/>
          </a:xfrm>
          <a:prstGeom prst="rect">
            <a:avLst/>
          </a:prstGeom>
          <a:noFill/>
          <a:ln>
            <a:noFill/>
          </a:ln>
        </p:spPr>
      </p:pic>
      <p:pic>
        <p:nvPicPr>
          <p:cNvPr id="897" name="Google Shape;897;g3ddac08760b_0_1183"/>
          <p:cNvPicPr preferRelativeResize="0"/>
          <p:nvPr/>
        </p:nvPicPr>
        <p:blipFill rotWithShape="1">
          <a:blip r:embed="rId5">
            <a:alphaModFix/>
          </a:blip>
          <a:srcRect b="0" l="0" r="0" t="0"/>
          <a:stretch/>
        </p:blipFill>
        <p:spPr>
          <a:xfrm>
            <a:off x="3601795" y="3650570"/>
            <a:ext cx="334618" cy="334646"/>
          </a:xfrm>
          <a:prstGeom prst="rect">
            <a:avLst/>
          </a:prstGeom>
          <a:noFill/>
          <a:ln>
            <a:noFill/>
          </a:ln>
        </p:spPr>
      </p:pic>
      <p:pic>
        <p:nvPicPr>
          <p:cNvPr id="898" name="Google Shape;898;g3ddac08760b_0_1183"/>
          <p:cNvPicPr preferRelativeResize="0"/>
          <p:nvPr/>
        </p:nvPicPr>
        <p:blipFill rotWithShape="1">
          <a:blip r:embed="rId4">
            <a:alphaModFix/>
          </a:blip>
          <a:srcRect b="0" l="0" r="0" t="0"/>
          <a:stretch/>
        </p:blipFill>
        <p:spPr>
          <a:xfrm>
            <a:off x="8074104" y="3587574"/>
            <a:ext cx="1587713" cy="1489428"/>
          </a:xfrm>
          <a:prstGeom prst="rect">
            <a:avLst/>
          </a:prstGeom>
          <a:noFill/>
          <a:ln cap="flat" cmpd="sng" w="10700">
            <a:solidFill>
              <a:srgbClr val="595959"/>
            </a:solidFill>
            <a:prstDash val="solid"/>
            <a:round/>
            <a:headEnd len="sm" w="sm" type="none"/>
            <a:tailEnd len="sm" w="sm" type="none"/>
          </a:ln>
        </p:spPr>
      </p:pic>
      <p:sp>
        <p:nvSpPr>
          <p:cNvPr id="899" name="Google Shape;899;g3ddac08760b_0_1183"/>
          <p:cNvSpPr txBox="1"/>
          <p:nvPr/>
        </p:nvSpPr>
        <p:spPr>
          <a:xfrm>
            <a:off x="2599739" y="3260710"/>
            <a:ext cx="1213800" cy="2994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Map A</a:t>
            </a:r>
            <a:endParaRPr b="0" i="0" sz="1347" u="none" cap="none" strike="noStrike">
              <a:solidFill>
                <a:schemeClr val="dk1"/>
              </a:solidFill>
              <a:latin typeface="Montserrat"/>
              <a:ea typeface="Montserrat"/>
              <a:cs typeface="Montserrat"/>
              <a:sym typeface="Montserrat"/>
            </a:endParaRPr>
          </a:p>
        </p:txBody>
      </p:sp>
      <p:sp>
        <p:nvSpPr>
          <p:cNvPr id="900" name="Google Shape;900;g3ddac08760b_0_1183"/>
          <p:cNvSpPr txBox="1"/>
          <p:nvPr/>
        </p:nvSpPr>
        <p:spPr>
          <a:xfrm>
            <a:off x="8362746" y="3260850"/>
            <a:ext cx="1010400" cy="2994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Map B</a:t>
            </a:r>
            <a:endParaRPr b="0" i="0" sz="1347" u="none" cap="none" strike="noStrike">
              <a:solidFill>
                <a:schemeClr val="dk1"/>
              </a:solidFill>
              <a:latin typeface="Montserrat"/>
              <a:ea typeface="Montserrat"/>
              <a:cs typeface="Montserrat"/>
              <a:sym typeface="Montserrat"/>
            </a:endParaRPr>
          </a:p>
        </p:txBody>
      </p:sp>
      <p:sp>
        <p:nvSpPr>
          <p:cNvPr id="901" name="Google Shape;901;g3ddac08760b_0_1183"/>
          <p:cNvSpPr txBox="1"/>
          <p:nvPr/>
        </p:nvSpPr>
        <p:spPr>
          <a:xfrm>
            <a:off x="5558394" y="6040892"/>
            <a:ext cx="1587600" cy="5010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235"/>
              <a:buFont typeface="Arial"/>
              <a:buNone/>
            </a:pPr>
            <a:r>
              <a:rPr b="0" i="0" lang="en-GB" sz="1235" u="none" cap="none" strike="noStrike">
                <a:solidFill>
                  <a:srgbClr val="FFFFFF"/>
                </a:solidFill>
                <a:latin typeface="Montserrat"/>
                <a:ea typeface="Montserrat"/>
                <a:cs typeface="Montserrat"/>
                <a:sym typeface="Montserrat"/>
              </a:rPr>
              <a:t>Clients Moved</a:t>
            </a:r>
            <a:br>
              <a:rPr b="0" i="0" lang="en-GB" sz="1235" u="none" cap="none" strike="noStrike">
                <a:solidFill>
                  <a:srgbClr val="FFFFFF"/>
                </a:solidFill>
                <a:latin typeface="Montserrat"/>
                <a:ea typeface="Montserrat"/>
                <a:cs typeface="Montserrat"/>
                <a:sym typeface="Montserrat"/>
              </a:rPr>
            </a:br>
            <a:r>
              <a:rPr b="0" i="0" lang="en-GB" sz="1235" u="none" cap="none" strike="noStrike">
                <a:solidFill>
                  <a:srgbClr val="FFFFFF"/>
                </a:solidFill>
                <a:latin typeface="Montserrat"/>
                <a:ea typeface="Montserrat"/>
                <a:cs typeface="Montserrat"/>
                <a:sym typeface="Montserrat"/>
              </a:rPr>
              <a:t>(Still Connected)</a:t>
            </a:r>
            <a:endParaRPr b="0" i="0" sz="1235" u="none" cap="none" strike="noStrike">
              <a:solidFill>
                <a:srgbClr val="FFFFFF"/>
              </a:solidFill>
              <a:latin typeface="Montserrat"/>
              <a:ea typeface="Montserrat"/>
              <a:cs typeface="Montserrat"/>
              <a:sym typeface="Montserrat"/>
            </a:endParaRPr>
          </a:p>
        </p:txBody>
      </p:sp>
      <p:pic>
        <p:nvPicPr>
          <p:cNvPr id="902" name="Google Shape;902;g3ddac08760b_0_1183"/>
          <p:cNvPicPr preferRelativeResize="0"/>
          <p:nvPr/>
        </p:nvPicPr>
        <p:blipFill rotWithShape="1">
          <a:blip r:embed="rId5">
            <a:alphaModFix/>
          </a:blip>
          <a:srcRect b="0" l="0" r="0" t="0"/>
          <a:stretch/>
        </p:blipFill>
        <p:spPr>
          <a:xfrm>
            <a:off x="5971899" y="5160211"/>
            <a:ext cx="334618" cy="334646"/>
          </a:xfrm>
          <a:prstGeom prst="rect">
            <a:avLst/>
          </a:prstGeom>
          <a:noFill/>
          <a:ln>
            <a:noFill/>
          </a:ln>
        </p:spPr>
      </p:pic>
      <p:pic>
        <p:nvPicPr>
          <p:cNvPr id="903" name="Google Shape;903;g3ddac08760b_0_1183"/>
          <p:cNvPicPr preferRelativeResize="0"/>
          <p:nvPr/>
        </p:nvPicPr>
        <p:blipFill rotWithShape="1">
          <a:blip r:embed="rId5">
            <a:alphaModFix/>
          </a:blip>
          <a:srcRect b="0" l="0" r="0" t="0"/>
          <a:stretch/>
        </p:blipFill>
        <p:spPr>
          <a:xfrm>
            <a:off x="6356236" y="5160198"/>
            <a:ext cx="334618" cy="334646"/>
          </a:xfrm>
          <a:prstGeom prst="rect">
            <a:avLst/>
          </a:prstGeom>
          <a:noFill/>
          <a:ln>
            <a:noFill/>
          </a:ln>
        </p:spPr>
      </p:pic>
      <p:pic>
        <p:nvPicPr>
          <p:cNvPr id="904" name="Google Shape;904;g3ddac08760b_0_1183"/>
          <p:cNvPicPr preferRelativeResize="0"/>
          <p:nvPr/>
        </p:nvPicPr>
        <p:blipFill rotWithShape="1">
          <a:blip r:embed="rId5">
            <a:alphaModFix/>
          </a:blip>
          <a:srcRect b="0" l="0" r="0" t="0"/>
          <a:stretch/>
        </p:blipFill>
        <p:spPr>
          <a:xfrm>
            <a:off x="5587558" y="5160209"/>
            <a:ext cx="334618" cy="334646"/>
          </a:xfrm>
          <a:prstGeom prst="rect">
            <a:avLst/>
          </a:prstGeom>
          <a:noFill/>
          <a:ln>
            <a:noFill/>
          </a:ln>
        </p:spPr>
      </p:pic>
      <p:pic>
        <p:nvPicPr>
          <p:cNvPr id="905" name="Google Shape;905;g3ddac08760b_0_1183"/>
          <p:cNvPicPr preferRelativeResize="0"/>
          <p:nvPr/>
        </p:nvPicPr>
        <p:blipFill rotWithShape="1">
          <a:blip r:embed="rId5">
            <a:alphaModFix/>
          </a:blip>
          <a:srcRect b="0" l="0" r="0" t="0"/>
          <a:stretch/>
        </p:blipFill>
        <p:spPr>
          <a:xfrm>
            <a:off x="6755197" y="5160205"/>
            <a:ext cx="334618" cy="334646"/>
          </a:xfrm>
          <a:prstGeom prst="rect">
            <a:avLst/>
          </a:prstGeom>
          <a:noFill/>
          <a:ln>
            <a:noFill/>
          </a:ln>
        </p:spPr>
      </p:pic>
      <p:sp>
        <p:nvSpPr>
          <p:cNvPr id="906" name="Google Shape;906;g3ddac08760b_0_1183"/>
          <p:cNvSpPr txBox="1"/>
          <p:nvPr/>
        </p:nvSpPr>
        <p:spPr>
          <a:xfrm>
            <a:off x="2376675" y="5104491"/>
            <a:ext cx="1587600" cy="4146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Clients Connected</a:t>
            </a:r>
            <a:endParaRPr b="0" i="0" sz="1347" u="none" cap="none" strike="noStrike">
              <a:solidFill>
                <a:schemeClr val="dk1"/>
              </a:solidFill>
              <a:latin typeface="Montserrat"/>
              <a:ea typeface="Montserrat"/>
              <a:cs typeface="Montserrat"/>
              <a:sym typeface="Montserrat"/>
            </a:endParaRPr>
          </a:p>
        </p:txBody>
      </p:sp>
      <p:pic>
        <p:nvPicPr>
          <p:cNvPr id="907" name="Google Shape;907;g3ddac08760b_0_1183"/>
          <p:cNvPicPr preferRelativeResize="0"/>
          <p:nvPr/>
        </p:nvPicPr>
        <p:blipFill rotWithShape="1">
          <a:blip r:embed="rId5">
            <a:alphaModFix/>
          </a:blip>
          <a:srcRect b="0" l="0" r="0" t="0"/>
          <a:stretch/>
        </p:blipFill>
        <p:spPr>
          <a:xfrm>
            <a:off x="8501168" y="3650548"/>
            <a:ext cx="334618" cy="334646"/>
          </a:xfrm>
          <a:prstGeom prst="rect">
            <a:avLst/>
          </a:prstGeom>
          <a:noFill/>
          <a:ln>
            <a:noFill/>
          </a:ln>
        </p:spPr>
      </p:pic>
      <p:pic>
        <p:nvPicPr>
          <p:cNvPr id="908" name="Google Shape;908;g3ddac08760b_0_1183"/>
          <p:cNvPicPr preferRelativeResize="0"/>
          <p:nvPr/>
        </p:nvPicPr>
        <p:blipFill rotWithShape="1">
          <a:blip r:embed="rId5">
            <a:alphaModFix/>
          </a:blip>
          <a:srcRect b="0" l="0" r="0" t="0"/>
          <a:stretch/>
        </p:blipFill>
        <p:spPr>
          <a:xfrm>
            <a:off x="8900113" y="3650548"/>
            <a:ext cx="334618" cy="334646"/>
          </a:xfrm>
          <a:prstGeom prst="rect">
            <a:avLst/>
          </a:prstGeom>
          <a:noFill/>
          <a:ln>
            <a:noFill/>
          </a:ln>
        </p:spPr>
      </p:pic>
      <p:pic>
        <p:nvPicPr>
          <p:cNvPr id="909" name="Google Shape;909;g3ddac08760b_0_1183"/>
          <p:cNvPicPr preferRelativeResize="0"/>
          <p:nvPr/>
        </p:nvPicPr>
        <p:blipFill rotWithShape="1">
          <a:blip r:embed="rId5">
            <a:alphaModFix/>
          </a:blip>
          <a:srcRect b="0" l="0" r="0" t="0"/>
          <a:stretch/>
        </p:blipFill>
        <p:spPr>
          <a:xfrm>
            <a:off x="8102219" y="3650574"/>
            <a:ext cx="334618" cy="334646"/>
          </a:xfrm>
          <a:prstGeom prst="rect">
            <a:avLst/>
          </a:prstGeom>
          <a:noFill/>
          <a:ln>
            <a:noFill/>
          </a:ln>
        </p:spPr>
      </p:pic>
      <p:pic>
        <p:nvPicPr>
          <p:cNvPr id="910" name="Google Shape;910;g3ddac08760b_0_1183"/>
          <p:cNvPicPr preferRelativeResize="0"/>
          <p:nvPr/>
        </p:nvPicPr>
        <p:blipFill rotWithShape="1">
          <a:blip r:embed="rId5">
            <a:alphaModFix/>
          </a:blip>
          <a:srcRect b="0" l="0" r="0" t="0"/>
          <a:stretch/>
        </p:blipFill>
        <p:spPr>
          <a:xfrm>
            <a:off x="9299074" y="3650556"/>
            <a:ext cx="334618" cy="334646"/>
          </a:xfrm>
          <a:prstGeom prst="rect">
            <a:avLst/>
          </a:prstGeom>
          <a:noFill/>
          <a:ln>
            <a:noFill/>
          </a:ln>
        </p:spPr>
      </p:pic>
      <p:cxnSp>
        <p:nvCxnSpPr>
          <p:cNvPr id="911" name="Google Shape;911;g3ddac08760b_0_1183"/>
          <p:cNvCxnSpPr>
            <a:stCxn id="893" idx="3"/>
            <a:endCxn id="912" idx="1"/>
          </p:cNvCxnSpPr>
          <p:nvPr/>
        </p:nvCxnSpPr>
        <p:spPr>
          <a:xfrm>
            <a:off x="3964539" y="4332301"/>
            <a:ext cx="413400" cy="0"/>
          </a:xfrm>
          <a:prstGeom prst="straightConnector1">
            <a:avLst/>
          </a:prstGeom>
          <a:noFill/>
          <a:ln cap="flat" cmpd="sng" w="10700">
            <a:solidFill>
              <a:srgbClr val="595959"/>
            </a:solidFill>
            <a:prstDash val="solid"/>
            <a:round/>
            <a:headEnd len="sm" w="sm" type="none"/>
            <a:tailEnd len="med" w="med" type="triangle"/>
          </a:ln>
        </p:spPr>
      </p:cxnSp>
      <p:sp>
        <p:nvSpPr>
          <p:cNvPr id="913" name="Google Shape;913;g3ddac08760b_0_1183"/>
          <p:cNvSpPr txBox="1"/>
          <p:nvPr/>
        </p:nvSpPr>
        <p:spPr>
          <a:xfrm>
            <a:off x="5759764" y="4021281"/>
            <a:ext cx="836100" cy="6219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Unload Map A</a:t>
            </a:r>
            <a:endParaRPr b="0" i="0" sz="1347" u="none" cap="none" strike="noStrike">
              <a:solidFill>
                <a:schemeClr val="dk1"/>
              </a:solidFill>
              <a:latin typeface="Montserrat"/>
              <a:ea typeface="Montserrat"/>
              <a:cs typeface="Montserrat"/>
              <a:sym typeface="Montserrat"/>
            </a:endParaRPr>
          </a:p>
        </p:txBody>
      </p:sp>
      <p:cxnSp>
        <p:nvCxnSpPr>
          <p:cNvPr id="914" name="Google Shape;914;g3ddac08760b_0_1183"/>
          <p:cNvCxnSpPr>
            <a:stCxn id="913" idx="3"/>
            <a:endCxn id="915" idx="1"/>
          </p:cNvCxnSpPr>
          <p:nvPr/>
        </p:nvCxnSpPr>
        <p:spPr>
          <a:xfrm>
            <a:off x="6595864" y="4332231"/>
            <a:ext cx="332100" cy="0"/>
          </a:xfrm>
          <a:prstGeom prst="straightConnector1">
            <a:avLst/>
          </a:prstGeom>
          <a:noFill/>
          <a:ln cap="flat" cmpd="sng" w="10700">
            <a:solidFill>
              <a:srgbClr val="595959"/>
            </a:solidFill>
            <a:prstDash val="solid"/>
            <a:round/>
            <a:headEnd len="sm" w="sm" type="none"/>
            <a:tailEnd len="med" w="med" type="triangle"/>
          </a:ln>
        </p:spPr>
      </p:cxnSp>
      <p:sp>
        <p:nvSpPr>
          <p:cNvPr id="915" name="Google Shape;915;g3ddac08760b_0_1183"/>
          <p:cNvSpPr txBox="1"/>
          <p:nvPr/>
        </p:nvSpPr>
        <p:spPr>
          <a:xfrm>
            <a:off x="6927902" y="4021281"/>
            <a:ext cx="836100" cy="6219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Load</a:t>
            </a:r>
            <a:endParaRPr b="0" i="0" sz="1347"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Map B</a:t>
            </a:r>
            <a:endParaRPr b="0" i="0" sz="1347" u="none" cap="none" strike="noStrike">
              <a:solidFill>
                <a:schemeClr val="dk1"/>
              </a:solidFill>
              <a:latin typeface="Montserrat"/>
              <a:ea typeface="Montserrat"/>
              <a:cs typeface="Montserrat"/>
              <a:sym typeface="Montserrat"/>
            </a:endParaRPr>
          </a:p>
        </p:txBody>
      </p:sp>
      <p:cxnSp>
        <p:nvCxnSpPr>
          <p:cNvPr id="916" name="Google Shape;916;g3ddac08760b_0_1183"/>
          <p:cNvCxnSpPr>
            <a:endCxn id="898" idx="1"/>
          </p:cNvCxnSpPr>
          <p:nvPr/>
        </p:nvCxnSpPr>
        <p:spPr>
          <a:xfrm>
            <a:off x="7748004" y="4332288"/>
            <a:ext cx="326100" cy="0"/>
          </a:xfrm>
          <a:prstGeom prst="straightConnector1">
            <a:avLst/>
          </a:prstGeom>
          <a:noFill/>
          <a:ln cap="flat" cmpd="sng" w="10700">
            <a:solidFill>
              <a:srgbClr val="595959"/>
            </a:solidFill>
            <a:prstDash val="solid"/>
            <a:round/>
            <a:headEnd len="sm" w="sm" type="none"/>
            <a:tailEnd len="med" w="med" type="triangle"/>
          </a:ln>
        </p:spPr>
      </p:cxnSp>
      <p:sp>
        <p:nvSpPr>
          <p:cNvPr id="917" name="Google Shape;917;g3ddac08760b_0_1183"/>
          <p:cNvSpPr txBox="1"/>
          <p:nvPr/>
        </p:nvSpPr>
        <p:spPr>
          <a:xfrm>
            <a:off x="5127506" y="2759575"/>
            <a:ext cx="2895600" cy="5010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2470"/>
              <a:buFont typeface="Arial"/>
              <a:buNone/>
            </a:pPr>
            <a:r>
              <a:rPr b="0" i="0" lang="en-GB" sz="2470" u="none" cap="none" strike="noStrike">
                <a:solidFill>
                  <a:schemeClr val="dk1"/>
                </a:solidFill>
                <a:latin typeface="Montserrat"/>
                <a:ea typeface="Montserrat"/>
                <a:cs typeface="Montserrat"/>
                <a:sym typeface="Montserrat"/>
              </a:rPr>
              <a:t>Seamless Travel</a:t>
            </a:r>
            <a:endParaRPr b="0" i="0" sz="2470" u="none" cap="none" strike="noStrike">
              <a:solidFill>
                <a:schemeClr val="dk1"/>
              </a:solidFill>
              <a:latin typeface="Montserrat"/>
              <a:ea typeface="Montserrat"/>
              <a:cs typeface="Montserrat"/>
              <a:sym typeface="Montserrat"/>
            </a:endParaRPr>
          </a:p>
        </p:txBody>
      </p:sp>
      <p:sp>
        <p:nvSpPr>
          <p:cNvPr id="918" name="Google Shape;918;g3ddac08760b_0_1183"/>
          <p:cNvSpPr txBox="1"/>
          <p:nvPr/>
        </p:nvSpPr>
        <p:spPr>
          <a:xfrm>
            <a:off x="5558338" y="4762768"/>
            <a:ext cx="1587600" cy="2994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rgbClr val="FFFFFF"/>
                </a:solidFill>
                <a:latin typeface="Montserrat"/>
                <a:ea typeface="Montserrat"/>
                <a:cs typeface="Montserrat"/>
                <a:sym typeface="Montserrat"/>
              </a:rPr>
              <a:t>Transition Map</a:t>
            </a:r>
            <a:endParaRPr b="0" i="0" sz="1347" u="none" cap="none" strike="noStrike">
              <a:solidFill>
                <a:srgbClr val="FFFFFF"/>
              </a:solidFill>
              <a:latin typeface="Montserrat"/>
              <a:ea typeface="Montserrat"/>
              <a:cs typeface="Montserrat"/>
              <a:sym typeface="Montserrat"/>
            </a:endParaRPr>
          </a:p>
        </p:txBody>
      </p:sp>
      <p:sp>
        <p:nvSpPr>
          <p:cNvPr id="912" name="Google Shape;912;g3ddac08760b_0_1183"/>
          <p:cNvSpPr txBox="1"/>
          <p:nvPr/>
        </p:nvSpPr>
        <p:spPr>
          <a:xfrm>
            <a:off x="4377991" y="3917551"/>
            <a:ext cx="1071600" cy="8295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Load Transition Map</a:t>
            </a:r>
            <a:endParaRPr b="0" i="0" sz="1347" u="none" cap="none" strike="noStrike">
              <a:solidFill>
                <a:schemeClr val="dk1"/>
              </a:solidFill>
              <a:latin typeface="Montserrat"/>
              <a:ea typeface="Montserrat"/>
              <a:cs typeface="Montserrat"/>
              <a:sym typeface="Montserrat"/>
            </a:endParaRPr>
          </a:p>
        </p:txBody>
      </p:sp>
      <p:cxnSp>
        <p:nvCxnSpPr>
          <p:cNvPr id="919" name="Google Shape;919;g3ddac08760b_0_1183"/>
          <p:cNvCxnSpPr>
            <a:stCxn id="912" idx="3"/>
            <a:endCxn id="913" idx="1"/>
          </p:cNvCxnSpPr>
          <p:nvPr/>
        </p:nvCxnSpPr>
        <p:spPr>
          <a:xfrm>
            <a:off x="5449591" y="4332301"/>
            <a:ext cx="310200" cy="0"/>
          </a:xfrm>
          <a:prstGeom prst="straightConnector1">
            <a:avLst/>
          </a:prstGeom>
          <a:noFill/>
          <a:ln cap="flat" cmpd="sng" w="10700">
            <a:solidFill>
              <a:srgbClr val="595959"/>
            </a:solidFill>
            <a:prstDash val="solid"/>
            <a:round/>
            <a:headEnd len="sm" w="sm" type="none"/>
            <a:tailEnd len="med" w="med" type="triangle"/>
          </a:ln>
        </p:spPr>
      </p:cxnSp>
      <p:sp>
        <p:nvSpPr>
          <p:cNvPr id="920" name="Google Shape;920;g3ddac08760b_0_1183"/>
          <p:cNvSpPr txBox="1"/>
          <p:nvPr/>
        </p:nvSpPr>
        <p:spPr>
          <a:xfrm>
            <a:off x="8074094" y="4489229"/>
            <a:ext cx="1587600" cy="5010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235"/>
              <a:buFont typeface="Arial"/>
              <a:buNone/>
            </a:pPr>
            <a:r>
              <a:rPr b="0" i="0" lang="en-GB" sz="1235" u="none" cap="none" strike="noStrike">
                <a:solidFill>
                  <a:srgbClr val="FFFFFF"/>
                </a:solidFill>
                <a:latin typeface="Montserrat"/>
                <a:ea typeface="Montserrat"/>
                <a:cs typeface="Montserrat"/>
                <a:sym typeface="Montserrat"/>
              </a:rPr>
              <a:t>Clients Moved</a:t>
            </a:r>
            <a:br>
              <a:rPr b="0" i="0" lang="en-GB" sz="1235" u="none" cap="none" strike="noStrike">
                <a:solidFill>
                  <a:srgbClr val="FFFFFF"/>
                </a:solidFill>
                <a:latin typeface="Montserrat"/>
                <a:ea typeface="Montserrat"/>
                <a:cs typeface="Montserrat"/>
                <a:sym typeface="Montserrat"/>
              </a:rPr>
            </a:br>
            <a:r>
              <a:rPr b="0" i="0" lang="en-GB" sz="1235" u="none" cap="none" strike="noStrike">
                <a:solidFill>
                  <a:srgbClr val="FFFFFF"/>
                </a:solidFill>
                <a:latin typeface="Montserrat"/>
                <a:ea typeface="Montserrat"/>
                <a:cs typeface="Montserrat"/>
                <a:sym typeface="Montserrat"/>
              </a:rPr>
              <a:t>(Still Connected)</a:t>
            </a:r>
            <a:endParaRPr b="0" i="0" sz="1235" u="none" cap="none" strike="noStrike">
              <a:solidFill>
                <a:srgbClr val="FFFFFF"/>
              </a:solidFill>
              <a:latin typeface="Montserrat"/>
              <a:ea typeface="Montserrat"/>
              <a:cs typeface="Montserrat"/>
              <a:sym typeface="Montserrat"/>
            </a:endParaRPr>
          </a:p>
        </p:txBody>
      </p:sp>
      <p:sp>
        <p:nvSpPr>
          <p:cNvPr id="921" name="Google Shape;921;g3ddac08760b_0_1183"/>
          <p:cNvSpPr txBox="1"/>
          <p:nvPr/>
        </p:nvSpPr>
        <p:spPr>
          <a:xfrm>
            <a:off x="9969575" y="3917551"/>
            <a:ext cx="1071600" cy="829500"/>
          </a:xfrm>
          <a:prstGeom prst="rect">
            <a:avLst/>
          </a:prstGeom>
          <a:noFill/>
          <a:ln>
            <a:noFill/>
          </a:ln>
        </p:spPr>
        <p:txBody>
          <a:bodyPr anchorCtr="0" anchor="ctr" bIns="102625" lIns="102625" spcFirstLastPara="1" rIns="102625" wrap="square" tIns="102625">
            <a:noAutofit/>
          </a:bodyPr>
          <a:lstStyle/>
          <a:p>
            <a:pPr indent="0" lvl="0" marL="0" marR="0" rtl="0" algn="ctr">
              <a:lnSpc>
                <a:spcPct val="100000"/>
              </a:lnSpc>
              <a:spcBef>
                <a:spcPts val="0"/>
              </a:spcBef>
              <a:spcAft>
                <a:spcPts val="0"/>
              </a:spcAft>
              <a:buClr>
                <a:srgbClr val="000000"/>
              </a:buClr>
              <a:buSzPts val="1347"/>
              <a:buFont typeface="Arial"/>
              <a:buNone/>
            </a:pPr>
            <a:r>
              <a:rPr b="0" i="0" lang="en-GB" sz="1347" u="none" cap="none" strike="noStrike">
                <a:solidFill>
                  <a:schemeClr val="dk1"/>
                </a:solidFill>
                <a:latin typeface="Montserrat"/>
                <a:ea typeface="Montserrat"/>
                <a:cs typeface="Montserrat"/>
                <a:sym typeface="Montserrat"/>
              </a:rPr>
              <a:t>Transition</a:t>
            </a:r>
            <a:br>
              <a:rPr b="0" i="0" lang="en-GB" sz="1347" u="none" cap="none" strike="noStrike">
                <a:solidFill>
                  <a:schemeClr val="dk1"/>
                </a:solidFill>
                <a:latin typeface="Montserrat"/>
                <a:ea typeface="Montserrat"/>
                <a:cs typeface="Montserrat"/>
                <a:sym typeface="Montserrat"/>
              </a:rPr>
            </a:br>
            <a:r>
              <a:rPr b="0" i="0" lang="en-GB" sz="1347" u="none" cap="none" strike="noStrike">
                <a:solidFill>
                  <a:schemeClr val="dk1"/>
                </a:solidFill>
                <a:latin typeface="Montserrat"/>
                <a:ea typeface="Montserrat"/>
                <a:cs typeface="Montserrat"/>
                <a:sym typeface="Montserrat"/>
              </a:rPr>
              <a:t>Map Unloaded</a:t>
            </a:r>
            <a:endParaRPr b="0" i="0" sz="1347" u="none" cap="none" strike="noStrike">
              <a:solidFill>
                <a:schemeClr val="dk1"/>
              </a:solidFill>
              <a:latin typeface="Montserrat"/>
              <a:ea typeface="Montserrat"/>
              <a:cs typeface="Montserrat"/>
              <a:sym typeface="Montserrat"/>
            </a:endParaRPr>
          </a:p>
        </p:txBody>
      </p:sp>
      <p:cxnSp>
        <p:nvCxnSpPr>
          <p:cNvPr id="922" name="Google Shape;922;g3ddac08760b_0_1183"/>
          <p:cNvCxnSpPr>
            <a:stCxn id="898" idx="3"/>
            <a:endCxn id="921" idx="1"/>
          </p:cNvCxnSpPr>
          <p:nvPr/>
        </p:nvCxnSpPr>
        <p:spPr>
          <a:xfrm>
            <a:off x="9661817" y="4332288"/>
            <a:ext cx="307800" cy="0"/>
          </a:xfrm>
          <a:prstGeom prst="straightConnector1">
            <a:avLst/>
          </a:prstGeom>
          <a:noFill/>
          <a:ln cap="flat" cmpd="sng" w="10700">
            <a:solidFill>
              <a:srgbClr val="595959"/>
            </a:solidFill>
            <a:prstDash val="solid"/>
            <a:round/>
            <a:headEnd len="sm" w="sm" type="none"/>
            <a:tailEnd len="med" w="med" type="triangl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ddac08760b_0_1278"/>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928" name="Google Shape;928;g3ddac08760b_0_1278"/>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929" name="Google Shape;929;g3ddac08760b_0_1278"/>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il Seamless Travel non e’ sempre possibile. Ci sono alcune circostanze dove un Non-Seamless Travel e’ obbligatorio.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documentazione di Unreal Engine ci dice quali sono queste circostanze.</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il primo punto e’ fuorviante: “per la prima volta” non significa ogni volta che carichiamo una Map per la prima volta, ma la prima Map che la connessione carica (in altre parole, la Map che apriamo come Listen-Server/lobby).</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930" name="Google Shape;930;g3ddac08760b_0_1278"/>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931" name="Google Shape;931;g3ddac08760b_0_1278"/>
          <p:cNvPicPr preferRelativeResize="0"/>
          <p:nvPr/>
        </p:nvPicPr>
        <p:blipFill rotWithShape="1">
          <a:blip r:embed="rId4">
            <a:alphaModFix/>
          </a:blip>
          <a:srcRect b="0" l="0" r="0" t="0"/>
          <a:stretch/>
        </p:blipFill>
        <p:spPr>
          <a:xfrm>
            <a:off x="2160500" y="2436650"/>
            <a:ext cx="9231299" cy="2269697"/>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pic>
        <p:nvPicPr>
          <p:cNvPr id="936" name="Google Shape;936;g3ddac08760b_0_1303"/>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937" name="Google Shape;937;g3ddac08760b_0_1303"/>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938" name="Google Shape;938;g3ddac08760b_0_1303"/>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939" name="Google Shape;939;g3ddac08760b_0_1303"/>
          <p:cNvPicPr preferRelativeResize="0"/>
          <p:nvPr/>
        </p:nvPicPr>
        <p:blipFill rotWithShape="1">
          <a:blip r:embed="rId4">
            <a:alphaModFix/>
          </a:blip>
          <a:srcRect b="0" l="0" r="0" t="0"/>
          <a:stretch/>
        </p:blipFill>
        <p:spPr>
          <a:xfrm>
            <a:off x="1449880" y="1690912"/>
            <a:ext cx="4421350" cy="3476175"/>
          </a:xfrm>
          <a:prstGeom prst="rect">
            <a:avLst/>
          </a:prstGeom>
          <a:noFill/>
          <a:ln cap="flat" cmpd="sng" w="9525">
            <a:solidFill>
              <a:srgbClr val="595959"/>
            </a:solidFill>
            <a:prstDash val="solid"/>
            <a:round/>
            <a:headEnd len="sm" w="sm" type="none"/>
            <a:tailEnd len="sm" w="sm" type="none"/>
          </a:ln>
        </p:spPr>
      </p:pic>
      <p:pic>
        <p:nvPicPr>
          <p:cNvPr id="940" name="Google Shape;940;g3ddac08760b_0_1303"/>
          <p:cNvPicPr preferRelativeResize="0"/>
          <p:nvPr/>
        </p:nvPicPr>
        <p:blipFill rotWithShape="1">
          <a:blip r:embed="rId5">
            <a:alphaModFix/>
          </a:blip>
          <a:srcRect b="0" l="0" r="0" t="0"/>
          <a:stretch/>
        </p:blipFill>
        <p:spPr>
          <a:xfrm>
            <a:off x="7281792" y="1690897"/>
            <a:ext cx="4114600" cy="1333450"/>
          </a:xfrm>
          <a:prstGeom prst="rect">
            <a:avLst/>
          </a:prstGeom>
          <a:noFill/>
          <a:ln cap="flat" cmpd="sng" w="9525">
            <a:solidFill>
              <a:srgbClr val="595959"/>
            </a:solidFill>
            <a:prstDash val="solid"/>
            <a:round/>
            <a:headEnd len="sm" w="sm" type="none"/>
            <a:tailEnd len="sm" w="sm" type="none"/>
          </a:ln>
        </p:spPr>
      </p:pic>
      <p:pic>
        <p:nvPicPr>
          <p:cNvPr id="941" name="Google Shape;941;g3ddac08760b_0_1303"/>
          <p:cNvPicPr preferRelativeResize="0"/>
          <p:nvPr/>
        </p:nvPicPr>
        <p:blipFill rotWithShape="1">
          <a:blip r:embed="rId6">
            <a:alphaModFix/>
          </a:blip>
          <a:srcRect b="0" l="0" r="0" t="0"/>
          <a:stretch/>
        </p:blipFill>
        <p:spPr>
          <a:xfrm>
            <a:off x="7281786" y="3469341"/>
            <a:ext cx="4114600" cy="546970"/>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pic>
        <p:nvPicPr>
          <p:cNvPr id="946" name="Google Shape;946;g3ddac08760b_0_1286"/>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947" name="Google Shape;947;g3ddac08760b_0_1286"/>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948" name="Google Shape;948;g3ddac08760b_0_1286"/>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949" name="Google Shape;949;g3ddac08760b_0_1286"/>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aphicFrame>
        <p:nvGraphicFramePr>
          <p:cNvPr id="950" name="Google Shape;950;g3ddac08760b_0_1286"/>
          <p:cNvGraphicFramePr/>
          <p:nvPr/>
        </p:nvGraphicFramePr>
        <p:xfrm>
          <a:off x="1711063" y="1499825"/>
          <a:ext cx="3000000" cy="3000000"/>
        </p:xfrm>
        <a:graphic>
          <a:graphicData uri="http://schemas.openxmlformats.org/drawingml/2006/table">
            <a:tbl>
              <a:tblPr>
                <a:noFill/>
                <a:tableStyleId>{E21A0DBA-7BFA-4146-8AC2-0E725B44B318}</a:tableStyleId>
              </a:tblPr>
              <a:tblGrid>
                <a:gridCol w="2201275"/>
                <a:gridCol w="2590800"/>
                <a:gridCol w="5203650"/>
              </a:tblGrid>
              <a:tr h="274775">
                <a:tc>
                  <a:txBody>
                    <a:bodyPr/>
                    <a:lstStyle/>
                    <a:p>
                      <a:pPr indent="0" lvl="0" marL="0" marR="0" rtl="0" algn="ctr">
                        <a:lnSpc>
                          <a:spcPct val="100000"/>
                        </a:lnSpc>
                        <a:spcBef>
                          <a:spcPts val="0"/>
                        </a:spcBef>
                        <a:spcAft>
                          <a:spcPts val="0"/>
                        </a:spcAft>
                        <a:buClr>
                          <a:srgbClr val="000000"/>
                        </a:buClr>
                        <a:buSzPts val="900"/>
                        <a:buFont typeface="Arial"/>
                        <a:buNone/>
                      </a:pPr>
                      <a:r>
                        <a:rPr b="1" lang="en-GB" u="none" cap="none" strike="noStrike">
                          <a:solidFill>
                            <a:schemeClr val="dk1"/>
                          </a:solidFill>
                          <a:latin typeface="Montserrat"/>
                          <a:ea typeface="Montserrat"/>
                          <a:cs typeface="Montserrat"/>
                          <a:sym typeface="Montserrat"/>
                        </a:rPr>
                        <a:t>Classe</a:t>
                      </a:r>
                      <a:endParaRPr b="1"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u="none" cap="none" strike="noStrike">
                          <a:solidFill>
                            <a:schemeClr val="dk1"/>
                          </a:solidFill>
                          <a:latin typeface="Montserrat"/>
                          <a:ea typeface="Montserrat"/>
                          <a:cs typeface="Montserrat"/>
                          <a:sym typeface="Montserrat"/>
                        </a:rPr>
                        <a:t>Funzione</a:t>
                      </a:r>
                      <a:endParaRPr b="1"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b="1" lang="en-GB" u="none" cap="none" strike="noStrike">
                          <a:solidFill>
                            <a:schemeClr val="dk1"/>
                          </a:solidFill>
                          <a:latin typeface="Montserrat"/>
                          <a:ea typeface="Montserrat"/>
                          <a:cs typeface="Montserrat"/>
                          <a:sym typeface="Montserrat"/>
                        </a:rPr>
                        <a:t>Descrizione</a:t>
                      </a:r>
                      <a:endParaRPr b="1"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1731925">
                <a:tc>
                  <a:txBody>
                    <a:bodyPr/>
                    <a:lstStyle/>
                    <a:p>
                      <a:pPr indent="0" lvl="0" marL="0" marR="0" rtl="0" algn="ctr">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UGameplayStatics</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OpenLevel</a:t>
                      </a:r>
                      <a:br>
                        <a:rPr lang="en-GB" sz="1200" u="none" cap="none" strike="noStrike">
                          <a:solidFill>
                            <a:schemeClr val="dk1"/>
                          </a:solidFill>
                          <a:latin typeface="Montserrat"/>
                          <a:ea typeface="Montserrat"/>
                          <a:cs typeface="Montserrat"/>
                          <a:sym typeface="Montserrat"/>
                        </a:rPr>
                      </a:br>
                      <a:r>
                        <a:rPr lang="en-GB" sz="1200" u="none" cap="none" strike="noStrike">
                          <a:solidFill>
                            <a:schemeClr val="dk1"/>
                          </a:solidFill>
                          <a:latin typeface="Montserrat"/>
                          <a:ea typeface="Montserrat"/>
                          <a:cs typeface="Montserrat"/>
                          <a:sym typeface="Montserrat"/>
                        </a:rPr>
                        <a:t>OpenLevelBySoftObjectPtr</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Da usare preferibilmente quando dobbiamo fare un Hard Travel. Alcuni casi comuni in cui possiamo usarlo sono:</a:t>
                      </a:r>
                      <a:endParaRPr sz="1200" u="none" cap="none" strike="noStrike">
                        <a:solidFill>
                          <a:schemeClr val="dk1"/>
                        </a:solidFill>
                        <a:latin typeface="Montserrat"/>
                        <a:ea typeface="Montserrat"/>
                        <a:cs typeface="Montserrat"/>
                        <a:sym typeface="Montserrat"/>
                      </a:endParaRPr>
                    </a:p>
                    <a:p>
                      <a:pPr indent="-304800" lvl="0" marL="457200" marR="0" rtl="0" algn="l">
                        <a:lnSpc>
                          <a:spcPct val="100000"/>
                        </a:lnSpc>
                        <a:spcBef>
                          <a:spcPts val="0"/>
                        </a:spcBef>
                        <a:spcAft>
                          <a:spcPts val="0"/>
                        </a:spcAft>
                        <a:buClr>
                          <a:schemeClr val="dk1"/>
                        </a:buClr>
                        <a:buSzPts val="1200"/>
                        <a:buFont typeface="Montserrat"/>
                        <a:buChar char="-"/>
                      </a:pPr>
                      <a:r>
                        <a:rPr lang="en-GB" sz="1200" u="none" cap="none" strike="noStrike">
                          <a:solidFill>
                            <a:schemeClr val="dk1"/>
                          </a:solidFill>
                          <a:latin typeface="Montserrat"/>
                          <a:ea typeface="Montserrat"/>
                          <a:cs typeface="Montserrat"/>
                          <a:sym typeface="Montserrat"/>
                        </a:rPr>
                        <a:t>Quando dobbiamo aprire una Map come Listen-Server</a:t>
                      </a:r>
                      <a:endParaRPr sz="1200" u="none" cap="none" strike="noStrike">
                        <a:solidFill>
                          <a:schemeClr val="dk1"/>
                        </a:solidFill>
                        <a:latin typeface="Montserrat"/>
                        <a:ea typeface="Montserrat"/>
                        <a:cs typeface="Montserrat"/>
                        <a:sym typeface="Montserrat"/>
                      </a:endParaRPr>
                    </a:p>
                    <a:p>
                      <a:pPr indent="-304800" lvl="0" marL="457200" marR="0" rtl="0" algn="l">
                        <a:lnSpc>
                          <a:spcPct val="100000"/>
                        </a:lnSpc>
                        <a:spcBef>
                          <a:spcPts val="0"/>
                        </a:spcBef>
                        <a:spcAft>
                          <a:spcPts val="0"/>
                        </a:spcAft>
                        <a:buClr>
                          <a:schemeClr val="dk1"/>
                        </a:buClr>
                        <a:buSzPts val="1200"/>
                        <a:buFont typeface="Montserrat"/>
                        <a:buChar char="-"/>
                      </a:pPr>
                      <a:r>
                        <a:rPr lang="en-GB" sz="1200" u="none" cap="none" strike="noStrike">
                          <a:solidFill>
                            <a:schemeClr val="dk1"/>
                          </a:solidFill>
                          <a:latin typeface="Montserrat"/>
                          <a:ea typeface="Montserrat"/>
                          <a:cs typeface="Montserrat"/>
                          <a:sym typeface="Montserrat"/>
                        </a:rPr>
                        <a:t>Quando dobbiamo spostarci fra una Map e l’altra quando NON siamo connessi ad una sessione</a:t>
                      </a:r>
                      <a:endParaRPr sz="1200" u="none" cap="none" strike="noStrike">
                        <a:solidFill>
                          <a:schemeClr val="dk1"/>
                        </a:solidFill>
                        <a:latin typeface="Montserrat"/>
                        <a:ea typeface="Montserrat"/>
                        <a:cs typeface="Montserrat"/>
                        <a:sym typeface="Montserrat"/>
                      </a:endParaRPr>
                    </a:p>
                    <a:p>
                      <a:pPr indent="-304800" lvl="0" marL="457200" marR="0" rtl="0" algn="l">
                        <a:lnSpc>
                          <a:spcPct val="100000"/>
                        </a:lnSpc>
                        <a:spcBef>
                          <a:spcPts val="0"/>
                        </a:spcBef>
                        <a:spcAft>
                          <a:spcPts val="0"/>
                        </a:spcAft>
                        <a:buClr>
                          <a:schemeClr val="dk1"/>
                        </a:buClr>
                        <a:buSzPts val="1200"/>
                        <a:buFont typeface="Montserrat"/>
                        <a:buChar char="-"/>
                      </a:pPr>
                      <a:r>
                        <a:rPr lang="en-GB" sz="1200" u="none" cap="none" strike="noStrike">
                          <a:solidFill>
                            <a:schemeClr val="dk1"/>
                          </a:solidFill>
                          <a:latin typeface="Montserrat"/>
                          <a:ea typeface="Montserrat"/>
                          <a:cs typeface="Montserrat"/>
                          <a:sym typeface="Montserrat"/>
                        </a:rPr>
                        <a:t>Quando vogliamo disconnetterci da una sessione e andare su una Map (per esempio, tornare al Main Menu).</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1107000">
                <a:tc>
                  <a:txBody>
                    <a:bodyPr/>
                    <a:lstStyle/>
                    <a:p>
                      <a:pPr indent="0" lvl="0" marL="0" marR="0" rtl="0" algn="ctr">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UWorld</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GB" sz="1200" u="none" cap="none" strike="noStrike">
                          <a:solidFill>
                            <a:schemeClr val="dk1"/>
                          </a:solidFill>
                          <a:latin typeface="Montserrat"/>
                          <a:ea typeface="Montserrat"/>
                          <a:cs typeface="Montserrat"/>
                          <a:sym typeface="Montserrat"/>
                        </a:rPr>
                        <a:t>ServerTravel</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Da usare quando vogliamo eseguire un Travel in qualita’ di Server da una Map ad un’altra. Questo tipo di Travel chiamera’ automaticamente ClientTravel su tutti i Client. E’ ideale per quando vogliamo spostare tutti i giocatori all’interno di una sessione su un’altra Map.</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r h="982000">
                <a:tc>
                  <a:txBody>
                    <a:bodyPr/>
                    <a:lstStyle/>
                    <a:p>
                      <a:pPr indent="0" lvl="0" marL="0" marR="0" rtl="0" algn="ctr">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APlayerController</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ClientTravel</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lang="en-GB" sz="1200" u="none" cap="none" strike="noStrike">
                          <a:solidFill>
                            <a:schemeClr val="dk1"/>
                          </a:solidFill>
                          <a:latin typeface="Montserrat"/>
                          <a:ea typeface="Montserrat"/>
                          <a:cs typeface="Montserrat"/>
                          <a:sym typeface="Montserrat"/>
                        </a:rPr>
                        <a:t>Normalmente, le uniche istanze dove viene usato sono:</a:t>
                      </a:r>
                      <a:endParaRPr sz="1200" u="none" cap="none" strike="noStrike">
                        <a:solidFill>
                          <a:schemeClr val="dk1"/>
                        </a:solidFill>
                        <a:latin typeface="Montserrat"/>
                        <a:ea typeface="Montserrat"/>
                        <a:cs typeface="Montserrat"/>
                        <a:sym typeface="Montserrat"/>
                      </a:endParaRPr>
                    </a:p>
                    <a:p>
                      <a:pPr indent="-304800" lvl="0" marL="457200" marR="0" rtl="0" algn="l">
                        <a:lnSpc>
                          <a:spcPct val="100000"/>
                        </a:lnSpc>
                        <a:spcBef>
                          <a:spcPts val="0"/>
                        </a:spcBef>
                        <a:spcAft>
                          <a:spcPts val="0"/>
                        </a:spcAft>
                        <a:buClr>
                          <a:schemeClr val="dk1"/>
                        </a:buClr>
                        <a:buSzPts val="1200"/>
                        <a:buFont typeface="Montserrat"/>
                        <a:buChar char="-"/>
                      </a:pPr>
                      <a:r>
                        <a:rPr lang="en-GB" sz="1200" u="none" cap="none" strike="noStrike">
                          <a:solidFill>
                            <a:schemeClr val="dk1"/>
                          </a:solidFill>
                          <a:latin typeface="Montserrat"/>
                          <a:ea typeface="Montserrat"/>
                          <a:cs typeface="Montserrat"/>
                          <a:sym typeface="Montserrat"/>
                        </a:rPr>
                        <a:t>Quando un Client vuole unirsi ad una sessione</a:t>
                      </a:r>
                      <a:endParaRPr sz="1200" u="none" cap="none" strike="noStrike">
                        <a:solidFill>
                          <a:schemeClr val="dk1"/>
                        </a:solidFill>
                        <a:latin typeface="Montserrat"/>
                        <a:ea typeface="Montserrat"/>
                        <a:cs typeface="Montserrat"/>
                        <a:sym typeface="Montserrat"/>
                      </a:endParaRPr>
                    </a:p>
                    <a:p>
                      <a:pPr indent="-304800" lvl="0" marL="457200" marR="0" rtl="0" algn="l">
                        <a:lnSpc>
                          <a:spcPct val="100000"/>
                        </a:lnSpc>
                        <a:spcBef>
                          <a:spcPts val="0"/>
                        </a:spcBef>
                        <a:spcAft>
                          <a:spcPts val="0"/>
                        </a:spcAft>
                        <a:buClr>
                          <a:schemeClr val="dk1"/>
                        </a:buClr>
                        <a:buSzPts val="1200"/>
                        <a:buFont typeface="Montserrat"/>
                        <a:buChar char="-"/>
                      </a:pPr>
                      <a:r>
                        <a:rPr lang="en-GB" sz="1200" u="none" cap="none" strike="noStrike">
                          <a:solidFill>
                            <a:schemeClr val="dk1"/>
                          </a:solidFill>
                          <a:latin typeface="Montserrat"/>
                          <a:ea typeface="Montserrat"/>
                          <a:cs typeface="Montserrat"/>
                          <a:sym typeface="Montserrat"/>
                        </a:rPr>
                        <a:t>Quando il Server vuole spostare un Client su un’altra Map (disconnettendolo oppure no).</a:t>
                      </a:r>
                      <a:endParaRPr sz="1200" u="none" cap="none" strike="noStrike">
                        <a:solidFill>
                          <a:schemeClr val="dk1"/>
                        </a:solidFill>
                        <a:latin typeface="Montserrat"/>
                        <a:ea typeface="Montserrat"/>
                        <a:cs typeface="Montserrat"/>
                        <a:sym typeface="Montserrat"/>
                      </a:endParaRPr>
                    </a:p>
                  </a:txBody>
                  <a:tcPr marT="91425" marB="91425" marR="91425" marL="91425" anchor="ctr">
                    <a:lnL cap="flat" cmpd="sng" w="9525">
                      <a:solidFill>
                        <a:srgbClr val="595959"/>
                      </a:solidFill>
                      <a:prstDash val="solid"/>
                      <a:round/>
                      <a:headEnd len="sm" w="sm" type="none"/>
                      <a:tailEnd len="sm" w="sm" type="none"/>
                    </a:lnL>
                    <a:lnR cap="flat" cmpd="sng" w="9525">
                      <a:solidFill>
                        <a:srgbClr val="595959"/>
                      </a:solidFill>
                      <a:prstDash val="solid"/>
                      <a:round/>
                      <a:headEnd len="sm" w="sm" type="none"/>
                      <a:tailEnd len="sm" w="sm" type="none"/>
                    </a:lnR>
                    <a:lnT cap="flat" cmpd="sng" w="9525">
                      <a:solidFill>
                        <a:srgbClr val="595959"/>
                      </a:solidFill>
                      <a:prstDash val="solid"/>
                      <a:round/>
                      <a:headEnd len="sm" w="sm" type="none"/>
                      <a:tailEnd len="sm" w="sm" type="none"/>
                    </a:lnT>
                    <a:lnB cap="flat" cmpd="sng" w="9525">
                      <a:solidFill>
                        <a:srgbClr val="595959"/>
                      </a:solidFill>
                      <a:prstDash val="solid"/>
                      <a:round/>
                      <a:headEnd len="sm" w="sm" type="none"/>
                      <a:tailEnd len="sm" w="sm" type="none"/>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pic>
        <p:nvPicPr>
          <p:cNvPr id="955" name="Google Shape;955;g3ddac08760b_0_1294"/>
          <p:cNvPicPr preferRelativeResize="0"/>
          <p:nvPr/>
        </p:nvPicPr>
        <p:blipFill rotWithShape="1">
          <a:blip r:embed="rId3">
            <a:alphaModFix/>
          </a:blip>
          <a:srcRect b="0" l="0" r="0" t="0"/>
          <a:stretch/>
        </p:blipFill>
        <p:spPr>
          <a:xfrm>
            <a:off x="291136" y="311680"/>
            <a:ext cx="657798" cy="703000"/>
          </a:xfrm>
          <a:prstGeom prst="rect">
            <a:avLst/>
          </a:prstGeom>
          <a:noFill/>
          <a:ln>
            <a:noFill/>
          </a:ln>
        </p:spPr>
      </p:pic>
      <p:sp>
        <p:nvSpPr>
          <p:cNvPr id="956" name="Google Shape;956;g3ddac08760b_0_1294"/>
          <p:cNvSpPr txBox="1"/>
          <p:nvPr/>
        </p:nvSpPr>
        <p:spPr>
          <a:xfrm>
            <a:off x="1225825" y="450900"/>
            <a:ext cx="10966200" cy="795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GB" sz="4000">
                <a:solidFill>
                  <a:schemeClr val="dk1"/>
                </a:solidFill>
                <a:latin typeface="Montserrat"/>
                <a:ea typeface="Montserrat"/>
                <a:cs typeface="Montserrat"/>
                <a:sym typeface="Montserrat"/>
              </a:rPr>
              <a:t>Traveling</a:t>
            </a:r>
            <a:endParaRPr b="1" i="0" sz="1100" u="none" cap="none" strike="noStrike">
              <a:solidFill>
                <a:srgbClr val="FF0000"/>
              </a:solidFill>
              <a:latin typeface="Montserrat"/>
              <a:ea typeface="Montserrat"/>
              <a:cs typeface="Montserrat"/>
              <a:sym typeface="Montserrat"/>
            </a:endParaRPr>
          </a:p>
        </p:txBody>
      </p:sp>
      <p:sp>
        <p:nvSpPr>
          <p:cNvPr id="957" name="Google Shape;957;g3ddac08760b_0_1294"/>
          <p:cNvSpPr txBox="1"/>
          <p:nvPr/>
        </p:nvSpPr>
        <p:spPr>
          <a:xfrm>
            <a:off x="2093275" y="1186075"/>
            <a:ext cx="9231300" cy="508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il Seamless Travel non e’ sempre possibile. Ci sono alcune circostanze dove un Non-Seamless Travel e’ obbligatorio.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La documentazione di Unreal Engine ci dice quali sono queste circostanze.</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rtl="0" algn="l">
              <a:spcBef>
                <a:spcPts val="0"/>
              </a:spcBef>
              <a:spcAft>
                <a:spcPts val="0"/>
              </a:spcAft>
              <a:buClr>
                <a:srgbClr val="000000"/>
              </a:buClr>
              <a:buSzPts val="1600"/>
              <a:buFont typeface="Arial"/>
              <a:buNone/>
            </a:pPr>
            <a:r>
              <a:rPr lang="en-GB" sz="1600">
                <a:solidFill>
                  <a:schemeClr val="dk1"/>
                </a:solidFill>
                <a:latin typeface="Montserrat"/>
                <a:ea typeface="Montserrat"/>
                <a:cs typeface="Montserrat"/>
                <a:sym typeface="Montserrat"/>
              </a:rPr>
              <a:t>Tuttavia, il primo punto e’ fuorviante: “per la prima volta” non significa ogni volta che carichiamo una Map per la prima volta, ma la prima Map che la connessione carica (in altre parole, la Map che apriamo come Listen-Server/lobby).</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sz="1600">
              <a:solidFill>
                <a:schemeClr val="dk1"/>
              </a:solidFill>
              <a:latin typeface="Montserrat"/>
              <a:ea typeface="Montserrat"/>
              <a:cs typeface="Montserrat"/>
              <a:sym typeface="Montserrat"/>
            </a:endParaRPr>
          </a:p>
        </p:txBody>
      </p:sp>
      <p:sp>
        <p:nvSpPr>
          <p:cNvPr id="958" name="Google Shape;958;g3ddac08760b_0_1294"/>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959" name="Google Shape;959;g3ddac08760b_0_1294"/>
          <p:cNvPicPr preferRelativeResize="0"/>
          <p:nvPr/>
        </p:nvPicPr>
        <p:blipFill rotWithShape="1">
          <a:blip r:embed="rId4">
            <a:alphaModFix/>
          </a:blip>
          <a:srcRect b="0" l="0" r="0" t="0"/>
          <a:stretch/>
        </p:blipFill>
        <p:spPr>
          <a:xfrm>
            <a:off x="2160500" y="2436650"/>
            <a:ext cx="9231299" cy="2269697"/>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pic>
        <p:nvPicPr>
          <p:cNvPr id="965" name="Google Shape;965;p11"/>
          <p:cNvPicPr preferRelativeResize="0"/>
          <p:nvPr/>
        </p:nvPicPr>
        <p:blipFill rotWithShape="1">
          <a:blip r:embed="rId3">
            <a:alphaModFix/>
          </a:blip>
          <a:srcRect b="32407" l="167" r="-167" t="5899"/>
          <a:stretch/>
        </p:blipFill>
        <p:spPr>
          <a:xfrm>
            <a:off x="1225825" y="2349500"/>
            <a:ext cx="10966175" cy="4508500"/>
          </a:xfrm>
          <a:prstGeom prst="rect">
            <a:avLst/>
          </a:prstGeom>
          <a:noFill/>
          <a:ln>
            <a:noFill/>
          </a:ln>
        </p:spPr>
      </p:pic>
      <p:pic>
        <p:nvPicPr>
          <p:cNvPr id="966" name="Google Shape;966;p11"/>
          <p:cNvPicPr preferRelativeResize="0"/>
          <p:nvPr/>
        </p:nvPicPr>
        <p:blipFill rotWithShape="1">
          <a:blip r:embed="rId4">
            <a:alphaModFix/>
          </a:blip>
          <a:srcRect b="0" l="0" r="0" t="0"/>
          <a:stretch/>
        </p:blipFill>
        <p:spPr>
          <a:xfrm>
            <a:off x="291136" y="311680"/>
            <a:ext cx="657798" cy="703000"/>
          </a:xfrm>
          <a:prstGeom prst="rect">
            <a:avLst/>
          </a:prstGeom>
          <a:noFill/>
          <a:ln>
            <a:noFill/>
          </a:ln>
        </p:spPr>
      </p:pic>
      <p:sp>
        <p:nvSpPr>
          <p:cNvPr id="967" name="Google Shape;967;p11"/>
          <p:cNvSpPr txBox="1"/>
          <p:nvPr/>
        </p:nvSpPr>
        <p:spPr>
          <a:xfrm>
            <a:off x="1225700" y="792575"/>
            <a:ext cx="10966200" cy="832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chemeClr val="dk1"/>
                </a:solidFill>
                <a:latin typeface="Montserrat"/>
                <a:ea typeface="Montserrat"/>
                <a:cs typeface="Montserrat"/>
                <a:sym typeface="Montserrat"/>
              </a:rPr>
              <a:t>Questions</a:t>
            </a:r>
            <a:endParaRPr b="1" i="0" sz="4400" u="none" cap="none" strike="noStrike">
              <a:solidFill>
                <a:srgbClr val="FF0000"/>
              </a:solidFill>
              <a:latin typeface="Montserrat"/>
              <a:ea typeface="Montserrat"/>
              <a:cs typeface="Montserrat"/>
              <a:sym typeface="Montserrat"/>
            </a:endParaRPr>
          </a:p>
        </p:txBody>
      </p:sp>
      <p:sp>
        <p:nvSpPr>
          <p:cNvPr id="968" name="Google Shape;968;p11"/>
          <p:cNvSpPr txBox="1"/>
          <p:nvPr/>
        </p:nvSpPr>
        <p:spPr>
          <a:xfrm>
            <a:off x="5403647" y="2159002"/>
            <a:ext cx="2610300" cy="334200"/>
          </a:xfrm>
          <a:prstGeom prst="rect">
            <a:avLst/>
          </a:prstGeom>
          <a:solidFill>
            <a:srgbClr val="FF000D"/>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chemeClr val="lt1"/>
                </a:solidFill>
                <a:latin typeface="Montserrat"/>
                <a:ea typeface="Montserrat"/>
                <a:cs typeface="Montserrat"/>
                <a:sym typeface="Montserrat"/>
              </a:rPr>
              <a:t>NOW IS THE TIME!</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pic>
        <p:nvPicPr>
          <p:cNvPr id="975" name="Google Shape;975;p12"/>
          <p:cNvPicPr preferRelativeResize="0"/>
          <p:nvPr/>
        </p:nvPicPr>
        <p:blipFill rotWithShape="1">
          <a:blip r:embed="rId3">
            <a:alphaModFix amt="5000"/>
          </a:blip>
          <a:srcRect b="0" l="0" r="0" t="0"/>
          <a:stretch/>
        </p:blipFill>
        <p:spPr>
          <a:xfrm>
            <a:off x="7234950" y="-525790"/>
            <a:ext cx="5560190" cy="5942264"/>
          </a:xfrm>
          <a:prstGeom prst="rect">
            <a:avLst/>
          </a:prstGeom>
          <a:noFill/>
          <a:ln>
            <a:noFill/>
          </a:ln>
        </p:spPr>
      </p:pic>
      <p:pic>
        <p:nvPicPr>
          <p:cNvPr id="976" name="Google Shape;976;p12"/>
          <p:cNvPicPr preferRelativeResize="0"/>
          <p:nvPr/>
        </p:nvPicPr>
        <p:blipFill rotWithShape="1">
          <a:blip r:embed="rId3">
            <a:alphaModFix/>
          </a:blip>
          <a:srcRect b="0" l="0" r="0" t="0"/>
          <a:stretch/>
        </p:blipFill>
        <p:spPr>
          <a:xfrm>
            <a:off x="291136" y="300794"/>
            <a:ext cx="657798" cy="703000"/>
          </a:xfrm>
          <a:prstGeom prst="rect">
            <a:avLst/>
          </a:prstGeom>
          <a:noFill/>
          <a:ln>
            <a:noFill/>
          </a:ln>
        </p:spPr>
      </p:pic>
      <p:pic>
        <p:nvPicPr>
          <p:cNvPr id="977" name="Google Shape;977;p12"/>
          <p:cNvPicPr preferRelativeResize="0"/>
          <p:nvPr/>
        </p:nvPicPr>
        <p:blipFill rotWithShape="1">
          <a:blip r:embed="rId4">
            <a:alphaModFix/>
          </a:blip>
          <a:srcRect b="34586" l="0" r="0" t="0"/>
          <a:stretch/>
        </p:blipFill>
        <p:spPr>
          <a:xfrm>
            <a:off x="3952033" y="2855689"/>
            <a:ext cx="5513534" cy="1146622"/>
          </a:xfrm>
          <a:prstGeom prst="rect">
            <a:avLst/>
          </a:prstGeom>
          <a:noFill/>
          <a:ln>
            <a:noFill/>
          </a:ln>
        </p:spPr>
      </p:pic>
      <p:sp>
        <p:nvSpPr>
          <p:cNvPr id="978" name="Google Shape;978;p12"/>
          <p:cNvSpPr/>
          <p:nvPr/>
        </p:nvSpPr>
        <p:spPr>
          <a:xfrm flipH="1">
            <a:off x="1225829" y="0"/>
            <a:ext cx="9000" cy="68580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