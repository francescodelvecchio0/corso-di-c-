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12192000"/>
  <p:notesSz cx="6858000" cy="9144000"/>
  <p:embeddedFontLst>
    <p:embeddedFont>
      <p:font typeface="Montserrat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1" roundtripDataSignature="AMtx7mg2e7cMzIool2WYsWOsW+RrfbpB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100A6F0-5E9D-4E33-9077-14FBDED450D0}">
  <a:tblStyle styleId="{7100A6F0-5E9D-4E33-9077-14FBDED450D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Montserrat-bold.fntdata"/><Relationship Id="rId27" Type="http://schemas.openxmlformats.org/officeDocument/2006/relationships/font" Target="fonts/Montserrat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customschemas.google.com/relationships/presentationmetadata" Target="metadata"/><Relationship Id="rId30" Type="http://schemas.openxmlformats.org/officeDocument/2006/relationships/font" Target="fonts/Montserrat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1" name="Google Shape;91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83d73ba60_0_1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0" name="Google Shape;100;g3d83d73ba60_0_1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9f3472d7f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0" name="Google Shape;110;g3d9f3472d7f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9f3472d7f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9" name="Google Shape;119;g3d9f3472d7f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9f3472d7f_0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29" name="Google Shape;129;g3d9f3472d7f_0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9f3472d7f_0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38" name="Google Shape;138;g3d9f3472d7f_0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d9f3472d7f_0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47" name="Google Shape;147;g3d9f3472d7f_0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d9f3472d7f_0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56" name="Google Shape;156;g3d9f3472d7f_0_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9f3472d7f_0_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66" name="Google Shape;166;g3d9f3472d7f_0_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d9f3472d7f_0_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76" name="Google Shape;176;g3d9f3472d7f_0_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d9f3472d7f_0_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84" name="Google Shape;184;g3d9f3472d7f_0_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d9f3472d7f_0_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94" name="Google Shape;194;g3d9f3472d7f_0_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d9f3472d7f_0_1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02" name="Google Shape;202;g3d9f3472d7f_0_1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d9f3472d7f_0_1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10" name="Google Shape;210;g3d9f3472d7f_0_1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d9f3472d7f_0_1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18" name="Google Shape;218;g3d9f3472d7f_0_1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d9f3472d7f_0_1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26" name="Google Shape;226;g3d9f3472d7f_0_1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9f3472d7f_0_1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34" name="Google Shape;234;g3d9f3472d7f_0_1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d9f3472d7f_0_1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45" name="Google Shape;245;g3d9f3472d7f_0_1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d9f3472d7f_0_1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52" name="Google Shape;252;g3d9f3472d7f_0_1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60" name="Google Shape;26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70" name="Google Shape;27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1">
  <p:cSld name="slide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3">
  <p:cSld name="slide3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bout us2">
  <p:cSld name="about us2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 collection2">
  <p:cSld name="car collection2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5" name="Google Shape;65;p2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6" name="Google Shape;66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2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3" name="Google Shape;73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8.png"/><Relationship Id="rId6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jpg"/><Relationship Id="rId4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"/>
          <p:cNvPicPr preferRelativeResize="0"/>
          <p:nvPr/>
        </p:nvPicPr>
        <p:blipFill rotWithShape="1">
          <a:blip r:embed="rId3">
            <a:alphaModFix amt="5000"/>
          </a:blip>
          <a:srcRect b="0" l="0" r="0" t="0"/>
          <a:stretch/>
        </p:blipFill>
        <p:spPr>
          <a:xfrm>
            <a:off x="1671543" y="2445342"/>
            <a:ext cx="5560190" cy="5942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"/>
          <p:cNvPicPr preferRelativeResize="0"/>
          <p:nvPr/>
        </p:nvPicPr>
        <p:blipFill rotWithShape="1">
          <a:blip r:embed="rId3">
            <a:alphaModFix amt="5000"/>
          </a:blip>
          <a:srcRect b="0" l="0" r="0" t="0"/>
          <a:stretch/>
        </p:blipFill>
        <p:spPr>
          <a:xfrm>
            <a:off x="6838939" y="-1296713"/>
            <a:ext cx="5560190" cy="5942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136" y="311680"/>
            <a:ext cx="657798" cy="703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"/>
          <p:cNvSpPr txBox="1"/>
          <p:nvPr/>
        </p:nvSpPr>
        <p:spPr>
          <a:xfrm>
            <a:off x="1225825" y="0"/>
            <a:ext cx="109662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Montserrat"/>
              <a:buNone/>
            </a:pPr>
            <a:r>
              <a:rPr b="1" lang="en-GB" sz="44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MULTIPLAYER</a:t>
            </a:r>
            <a:endParaRPr b="1" sz="44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Montserrat"/>
              <a:buNone/>
            </a:pPr>
            <a:r>
              <a:rPr b="1" lang="en-GB" sz="44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Parte 1</a:t>
            </a:r>
            <a:endParaRPr b="1" sz="44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" name="Google Shape;97;p1"/>
          <p:cNvSpPr/>
          <p:nvPr/>
        </p:nvSpPr>
        <p:spPr>
          <a:xfrm flipH="1">
            <a:off x="1225829" y="0"/>
            <a:ext cx="9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g3d83d73ba60_0_1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136" y="311680"/>
            <a:ext cx="657798" cy="70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g3d83d73ba60_0_186"/>
          <p:cNvSpPr txBox="1"/>
          <p:nvPr/>
        </p:nvSpPr>
        <p:spPr>
          <a:xfrm>
            <a:off x="1225825" y="450900"/>
            <a:ext cx="10966200" cy="7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GB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Introduzione</a:t>
            </a:r>
            <a:endParaRPr b="1" i="0" sz="11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" name="Google Shape;104;g3d83d73ba60_0_186"/>
          <p:cNvSpPr txBox="1"/>
          <p:nvPr/>
        </p:nvSpPr>
        <p:spPr>
          <a:xfrm>
            <a:off x="2093275" y="1186075"/>
            <a:ext cx="9231300" cy="50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</a:t>
            </a: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ei giochi singleplayer (giocati localmente) tutte le informazioni sullo stato del gioco vengono memorizzate su una singola macchina.</a:t>
            </a:r>
            <a:b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Al contrario, in un</a:t>
            </a: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gioco multiplayer, le informazioni sullo stato del gioco vengono comunicate tra più macchine tramite una connessione di rete. </a:t>
            </a:r>
            <a:b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Questa necesseità di comunicazione tramite rete, rende la creazione di un multiplayer intrinsecamente più complessa rispetto a un singleplayer.</a:t>
            </a:r>
            <a:b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Unreal Engine offre un solido framework di rete per semplificare questo processo. </a:t>
            </a:r>
            <a:endParaRPr b="1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" name="Google Shape;105;g3d83d73ba60_0_186"/>
          <p:cNvSpPr/>
          <p:nvPr/>
        </p:nvSpPr>
        <p:spPr>
          <a:xfrm flipH="1">
            <a:off x="1225829" y="0"/>
            <a:ext cx="9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g3d83d73ba60_0_1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93275" y="4292875"/>
            <a:ext cx="4743450" cy="19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g3d83d73ba60_0_18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36725" y="4287359"/>
            <a:ext cx="4743450" cy="19962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g3d9f3472d7f_0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136" y="311680"/>
            <a:ext cx="657798" cy="70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g3d9f3472d7f_0_2"/>
          <p:cNvSpPr txBox="1"/>
          <p:nvPr/>
        </p:nvSpPr>
        <p:spPr>
          <a:xfrm>
            <a:off x="1225825" y="450900"/>
            <a:ext cx="10966200" cy="7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GB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Plan early</a:t>
            </a:r>
            <a:endParaRPr b="1" i="0" sz="11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" name="Google Shape;114;g3d9f3472d7f_0_2"/>
          <p:cNvSpPr txBox="1"/>
          <p:nvPr/>
        </p:nvSpPr>
        <p:spPr>
          <a:xfrm>
            <a:off x="2093275" y="1186075"/>
            <a:ext cx="9231300" cy="50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 esiste anche solo la possibilità che il progetto necessiti di funzionalità multiplayer in futuro, bisognerebbe progettare l'intero gameplay tenendo conto del multiplayer fin dall'inizio.</a:t>
            </a:r>
            <a:b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Qualsiasi elemento di gameplay programmato per il multiplayer in Unreal Engine funzionerà correttamente anche in singleplayer.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 non si progetta pensando al multiplayer fin dall'inizio, il refactoring di un codice già sviluppato singleplayer richiede di esaminare l'intero progetto e riscrivereo sistemare la maggior parte delle funzionalità. </a:t>
            </a:r>
            <a:b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Oltrettutto, vanno considerati nuovi ostacoli tecnici :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 velocità della rete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 stabilità della rete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" name="Google Shape;115;g3d9f3472d7f_0_2"/>
          <p:cNvSpPr/>
          <p:nvPr/>
        </p:nvSpPr>
        <p:spPr>
          <a:xfrm flipH="1">
            <a:off x="1225829" y="0"/>
            <a:ext cx="9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" name="Google Shape;116;g3d9f3472d7f_0_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60800" y="4028425"/>
            <a:ext cx="3463774" cy="224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g3d9f3472d7f_0_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136" y="311680"/>
            <a:ext cx="657798" cy="70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g3d9f3472d7f_0_12"/>
          <p:cNvSpPr txBox="1"/>
          <p:nvPr/>
        </p:nvSpPr>
        <p:spPr>
          <a:xfrm>
            <a:off x="1225825" y="450900"/>
            <a:ext cx="10966200" cy="7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GB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Networking in Unreal</a:t>
            </a:r>
            <a:endParaRPr b="1" i="0" sz="11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" name="Google Shape;123;g3d9f3472d7f_0_12"/>
          <p:cNvSpPr txBox="1"/>
          <p:nvPr/>
        </p:nvSpPr>
        <p:spPr>
          <a:xfrm>
            <a:off x="2093275" y="1186075"/>
            <a:ext cx="9231300" cy="50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Unreal Engine utilizza l'architettura </a:t>
            </a:r>
            <a:r>
              <a:rPr b="1"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client-server</a:t>
            </a: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per i giochi multiplayer. 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Esistono due tipologie di giochi multiplayer principali : 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          Locale (couch coop)                                                 Multiplayer online. 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" name="Google Shape;124;g3d9f3472d7f_0_12"/>
          <p:cNvSpPr/>
          <p:nvPr/>
        </p:nvSpPr>
        <p:spPr>
          <a:xfrm flipH="1">
            <a:off x="1225829" y="0"/>
            <a:ext cx="9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" name="Google Shape;125;g3d9f3472d7f_0_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17775" y="3472625"/>
            <a:ext cx="3016941" cy="280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g3d9f3472d7f_0_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81975" y="3472625"/>
            <a:ext cx="5595475" cy="2801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g3d9f3472d7f_0_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136" y="311680"/>
            <a:ext cx="657798" cy="70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g3d9f3472d7f_0_22"/>
          <p:cNvSpPr txBox="1"/>
          <p:nvPr/>
        </p:nvSpPr>
        <p:spPr>
          <a:xfrm>
            <a:off x="1225825" y="450900"/>
            <a:ext cx="10966200" cy="7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GB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Local Multiplayer</a:t>
            </a:r>
            <a:endParaRPr b="1" i="0" sz="11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" name="Google Shape;133;g3d9f3472d7f_0_22"/>
          <p:cNvSpPr txBox="1"/>
          <p:nvPr/>
        </p:nvSpPr>
        <p:spPr>
          <a:xfrm>
            <a:off x="2093275" y="1186075"/>
            <a:ext cx="9231300" cy="50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 un gioco per giocatore singolo o multiplayer locale, il gioco viene eseguito localmente su una singola macchina come gioco autonomo.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Tutti i giocatori, le risorse e le funzionalità risiedono </a:t>
            </a: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 un'unica macchina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utti gli input vengono elaborati su un'unica macchina. 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 giocatori collegano diversi dispositivi di input a questa macchina e controllano tutto direttamente all'interno del gioco. 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" name="Google Shape;134;g3d9f3472d7f_0_22"/>
          <p:cNvSpPr/>
          <p:nvPr/>
        </p:nvSpPr>
        <p:spPr>
          <a:xfrm flipH="1">
            <a:off x="1225829" y="0"/>
            <a:ext cx="9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" name="Google Shape;135;g3d9f3472d7f_0_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67197" y="3557122"/>
            <a:ext cx="2883450" cy="271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g3d9f3472d7f_0_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136" y="311680"/>
            <a:ext cx="657798" cy="70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g3d9f3472d7f_0_33"/>
          <p:cNvSpPr txBox="1"/>
          <p:nvPr/>
        </p:nvSpPr>
        <p:spPr>
          <a:xfrm>
            <a:off x="1225825" y="450900"/>
            <a:ext cx="10966200" cy="7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GB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Online </a:t>
            </a:r>
            <a:r>
              <a:rPr b="1" lang="en-GB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Multiplayer</a:t>
            </a:r>
            <a:endParaRPr b="1" i="0" sz="11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" name="Google Shape;142;g3d9f3472d7f_0_33"/>
          <p:cNvSpPr txBox="1"/>
          <p:nvPr/>
        </p:nvSpPr>
        <p:spPr>
          <a:xfrm>
            <a:off x="2093275" y="1186075"/>
            <a:ext cx="9231300" cy="50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 un gioco multiplayer online, molti giocatori su macchine diverse (</a:t>
            </a:r>
            <a:r>
              <a:rPr b="1"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client</a:t>
            </a: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) si connettono a una macchina centrale (</a:t>
            </a:r>
            <a:r>
              <a:rPr b="1"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server</a:t>
            </a: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) tramite rete. </a:t>
            </a:r>
            <a:b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Il </a:t>
            </a:r>
            <a:r>
              <a:rPr b="1"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server</a:t>
            </a: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ospita il gioco multiplayer, mentre tutti gli altri giocatori su macchine diverse si connettono come </a:t>
            </a:r>
            <a:r>
              <a:rPr b="1"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client</a:t>
            </a: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b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Il server </a:t>
            </a:r>
            <a:r>
              <a:rPr b="1"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condivide </a:t>
            </a: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 informazioni sullo stato del gioco con ciascun client connesso e fornisce i mezzi per consentire a tutti i giocatori su macchine diverse di comunicare tra loro.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" name="Google Shape;143;g3d9f3472d7f_0_33"/>
          <p:cNvSpPr/>
          <p:nvPr/>
        </p:nvSpPr>
        <p:spPr>
          <a:xfrm flipH="1">
            <a:off x="1225829" y="0"/>
            <a:ext cx="9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g3d9f3472d7f_0_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7225" y="3584549"/>
            <a:ext cx="3803400" cy="268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g3d9f3472d7f_0_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136" y="311680"/>
            <a:ext cx="657798" cy="70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g3d9f3472d7f_0_44"/>
          <p:cNvSpPr txBox="1"/>
          <p:nvPr/>
        </p:nvSpPr>
        <p:spPr>
          <a:xfrm>
            <a:off x="1225825" y="450900"/>
            <a:ext cx="10966200" cy="7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GB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Network Modes</a:t>
            </a:r>
            <a:endParaRPr b="1" i="0" sz="11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g3d9f3472d7f_0_44"/>
          <p:cNvSpPr txBox="1"/>
          <p:nvPr/>
        </p:nvSpPr>
        <p:spPr>
          <a:xfrm>
            <a:off x="2093275" y="1186075"/>
            <a:ext cx="9231300" cy="50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 </a:t>
            </a:r>
            <a:r>
              <a:rPr b="1"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Network Modes </a:t>
            </a: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descrive la relazione di una macchina rispettto alla sessione multiplayer.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" name="Google Shape;152;g3d9f3472d7f_0_44"/>
          <p:cNvSpPr/>
          <p:nvPr/>
        </p:nvSpPr>
        <p:spPr>
          <a:xfrm flipH="1">
            <a:off x="1225829" y="0"/>
            <a:ext cx="9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3" name="Google Shape;153;g3d9f3472d7f_0_44"/>
          <p:cNvGraphicFramePr/>
          <p:nvPr/>
        </p:nvGraphicFramePr>
        <p:xfrm>
          <a:off x="2093275" y="2372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{7100A6F0-5E9D-4E33-9077-14FBDED450D0}</a:tableStyleId>
              </a:tblPr>
              <a:tblGrid>
                <a:gridCol w="2318850"/>
                <a:gridCol w="2624450"/>
                <a:gridCol w="4288000"/>
              </a:tblGrid>
              <a:tr h="895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Standalone</a:t>
                      </a:r>
                      <a:endParaRPr b="1"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NM_Standalone</a:t>
                      </a:r>
                      <a:endParaRPr i="1"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Modalità con uno o più giocatori locali.</a:t>
                      </a:r>
                      <a:endParaRPr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Runna sia server che client sulla stessa macchina</a:t>
                      </a:r>
                      <a:endParaRPr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/>
                </a:tc>
              </a:tr>
              <a:tr h="895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Dedicated Server</a:t>
                      </a:r>
                      <a:endParaRPr b="1"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NM_DedicatedServer</a:t>
                      </a:r>
                      <a:endParaRPr i="1"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Un server senza giocatori.</a:t>
                      </a:r>
                      <a:endParaRPr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Macchina senza grafica, suoni o input.</a:t>
                      </a:r>
                      <a:endParaRPr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Accetta connessioni dai client</a:t>
                      </a:r>
                      <a:endParaRPr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/>
                </a:tc>
              </a:tr>
              <a:tr h="895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Listen Server</a:t>
                      </a:r>
                      <a:endParaRPr b="1"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NM_ListenServer</a:t>
                      </a:r>
                      <a:endParaRPr i="1"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Un server che ha un giocatore locale, che hosta il gioca.</a:t>
                      </a:r>
                      <a:endParaRPr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Accetta connessioni dai client</a:t>
                      </a:r>
                      <a:endParaRPr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/>
                </a:tc>
              </a:tr>
              <a:tr h="895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Client</a:t>
                      </a:r>
                      <a:endParaRPr b="1"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NM_Client</a:t>
                      </a:r>
                      <a:endParaRPr i="1"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Client connesso a un server remoto, sia dedicated che listen.</a:t>
                      </a:r>
                      <a:endParaRPr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Non runna nessun logica server</a:t>
                      </a:r>
                      <a:endParaRPr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g3d9f3472d7f_0_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136" y="311680"/>
            <a:ext cx="657798" cy="70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g3d9f3472d7f_0_55"/>
          <p:cNvSpPr txBox="1"/>
          <p:nvPr/>
        </p:nvSpPr>
        <p:spPr>
          <a:xfrm>
            <a:off x="1225825" y="450900"/>
            <a:ext cx="10966200" cy="7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GB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Tipi di Server - Listen</a:t>
            </a:r>
            <a:endParaRPr b="1" i="0" sz="11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" name="Google Shape;160;g3d9f3472d7f_0_55"/>
          <p:cNvSpPr txBox="1"/>
          <p:nvPr/>
        </p:nvSpPr>
        <p:spPr>
          <a:xfrm>
            <a:off x="2093275" y="1186075"/>
            <a:ext cx="9231300" cy="20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Il server è anche un client (uno dei giocatori ospita e gioca contemporaneamente).</a:t>
            </a:r>
            <a:b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Ha UI e controller locali, come ogni client.</a:t>
            </a:r>
            <a:b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 il giocatore host chiude il gioco, anche il server si chiude, a meno che non venga implementato il passaggio di host.</a:t>
            </a:r>
            <a:b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1" name="Google Shape;161;g3d9f3472d7f_0_55"/>
          <p:cNvSpPr/>
          <p:nvPr/>
        </p:nvSpPr>
        <p:spPr>
          <a:xfrm flipH="1">
            <a:off x="1225829" y="0"/>
            <a:ext cx="9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g3d9f3472d7f_0_55"/>
          <p:cNvSpPr txBox="1"/>
          <p:nvPr/>
        </p:nvSpPr>
        <p:spPr>
          <a:xfrm>
            <a:off x="2093275" y="3247975"/>
            <a:ext cx="4560900" cy="31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Vantaggi</a:t>
            </a:r>
            <a:endParaRPr b="1"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Setup semplice, basso costo (nessuna infrastruttura separata).</a:t>
            </a:r>
            <a:b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Il giocatore host non deve configurare un server esterno.</a:t>
            </a:r>
            <a:b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Utile per prototipi, piccole sessioni, giochi locali o cooperativi casuali.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" name="Google Shape;163;g3d9f3472d7f_0_55"/>
          <p:cNvSpPr txBox="1"/>
          <p:nvPr/>
        </p:nvSpPr>
        <p:spPr>
          <a:xfrm>
            <a:off x="6763675" y="3247875"/>
            <a:ext cx="4560900" cy="31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Svantaggi</a:t>
            </a:r>
            <a:endParaRPr b="1"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Il giocatore host può avere un vantaggio, le prestazioni dipendono dal suo hardware e rete.</a:t>
            </a:r>
            <a:b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Quasi zero costi</a:t>
            </a:r>
            <a:b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Nativamente, se l’host disconnette, il server muore.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g3d9f3472d7f_0_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136" y="311680"/>
            <a:ext cx="657798" cy="70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g3d9f3472d7f_0_73"/>
          <p:cNvSpPr txBox="1"/>
          <p:nvPr/>
        </p:nvSpPr>
        <p:spPr>
          <a:xfrm>
            <a:off x="1225825" y="450900"/>
            <a:ext cx="10966200" cy="7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GB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Tipi di Server - </a:t>
            </a:r>
            <a:r>
              <a:rPr b="1" lang="en-GB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Dedicated</a:t>
            </a:r>
            <a:endParaRPr b="1" i="0" sz="11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" name="Google Shape;170;g3d9f3472d7f_0_73"/>
          <p:cNvSpPr txBox="1"/>
          <p:nvPr/>
        </p:nvSpPr>
        <p:spPr>
          <a:xfrm>
            <a:off x="2093275" y="1186075"/>
            <a:ext cx="9231300" cy="20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È un server autonomo, separato da qualsiasi client.</a:t>
            </a:r>
            <a:b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Non ha interfaccia grafica né controller locale.</a:t>
            </a:r>
            <a:b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Funziona come “host puro”: i client si connettono ad esso.</a:t>
            </a:r>
            <a:b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1" name="Google Shape;171;g3d9f3472d7f_0_73"/>
          <p:cNvSpPr/>
          <p:nvPr/>
        </p:nvSpPr>
        <p:spPr>
          <a:xfrm flipH="1">
            <a:off x="1225829" y="0"/>
            <a:ext cx="9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g3d9f3472d7f_0_73"/>
          <p:cNvSpPr txBox="1"/>
          <p:nvPr/>
        </p:nvSpPr>
        <p:spPr>
          <a:xfrm>
            <a:off x="2093275" y="3247975"/>
            <a:ext cx="4560900" cy="31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Vantaggi</a:t>
            </a:r>
            <a:endParaRPr b="1"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Nessun vantaggio ingiusto per il giocatore host.</a:t>
            </a:r>
            <a:b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Prestazioni ottimizzate poichè il server non deve renderizzare grafica, può concentrare risorse sulla logica di gioco.</a:t>
            </a:r>
            <a:b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Stabilità maggiore, il server non dipende da un client.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3" name="Google Shape;173;g3d9f3472d7f_0_73"/>
          <p:cNvSpPr txBox="1"/>
          <p:nvPr/>
        </p:nvSpPr>
        <p:spPr>
          <a:xfrm>
            <a:off x="6763675" y="3247875"/>
            <a:ext cx="4560900" cy="31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Svantaggi</a:t>
            </a:r>
            <a:endParaRPr b="1"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Richiede infrastruttura separata(hardware, hosting, manutenzione).</a:t>
            </a:r>
            <a:b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Alto costo</a:t>
            </a:r>
            <a:b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Più complessità nella gestione della distribuzione e del collegamento dei client.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g3d9f3472d7f_0_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136" y="311680"/>
            <a:ext cx="657798" cy="70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g3d9f3472d7f_0_82"/>
          <p:cNvSpPr txBox="1"/>
          <p:nvPr/>
        </p:nvSpPr>
        <p:spPr>
          <a:xfrm>
            <a:off x="1225825" y="450900"/>
            <a:ext cx="10966200" cy="7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lang="en-GB" sz="4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Gameplay Framework</a:t>
            </a:r>
            <a:endParaRPr b="1" i="0" sz="11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0" name="Google Shape;180;g3d9f3472d7f_0_82"/>
          <p:cNvSpPr/>
          <p:nvPr/>
        </p:nvSpPr>
        <p:spPr>
          <a:xfrm flipH="1">
            <a:off x="1225829" y="0"/>
            <a:ext cx="9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3d9f3472d7f_0_82"/>
          <p:cNvSpPr txBox="1"/>
          <p:nvPr/>
        </p:nvSpPr>
        <p:spPr>
          <a:xfrm>
            <a:off x="2093275" y="1186075"/>
            <a:ext cx="9231300" cy="50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Creando un gioco multiplayer, l’infrastuttura del gameplay framework và riconsiderata.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UGameInstance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AGameMode e AGameModeBase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AGameState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APlayerState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APawn e ACharacter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APlayerController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UUserWidget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Tutte le classi fondamentali del Gameplay Framework hanno nuove responsabilità rispetto a un gioco multiplayer.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 il multiplayer, non si può più dire </a:t>
            </a:r>
            <a:b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“ah questo dato lo metto sul controller anche se andrebbe sulla gamemode, tanto mi serve solo come punto univoco”</a:t>
            </a:r>
            <a:endParaRPr i="1"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g3d9f3472d7f_0_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136" y="311680"/>
            <a:ext cx="657798" cy="70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g3d9f3472d7f_0_92"/>
          <p:cNvSpPr txBox="1"/>
          <p:nvPr/>
        </p:nvSpPr>
        <p:spPr>
          <a:xfrm>
            <a:off x="1225825" y="450900"/>
            <a:ext cx="10966200" cy="7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lang="en-GB" sz="4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GameInstance</a:t>
            </a:r>
            <a:endParaRPr b="1" i="0" sz="11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" name="Google Shape;188;g3d9f3472d7f_0_92"/>
          <p:cNvSpPr/>
          <p:nvPr/>
        </p:nvSpPr>
        <p:spPr>
          <a:xfrm flipH="1">
            <a:off x="1225829" y="0"/>
            <a:ext cx="9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g3d9f3472d7f_0_92"/>
          <p:cNvSpPr txBox="1"/>
          <p:nvPr/>
        </p:nvSpPr>
        <p:spPr>
          <a:xfrm>
            <a:off x="2093275" y="1186075"/>
            <a:ext cx="9231300" cy="50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Ogni dispositivo connesso al gioco possiede una propria copia locale della GameInstance.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 GameInstance non viene replicata. </a:t>
            </a:r>
            <a:b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 altre parole, solo il client o server conosce la sua GameInstance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0" name="Google Shape;190;g3d9f3472d7f_0_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1825" y="3281900"/>
            <a:ext cx="2948350" cy="2919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g3d9f3472d7f_0_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01350" y="3497400"/>
            <a:ext cx="1069825" cy="144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g3d9f3472d7f_0_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136" y="311680"/>
            <a:ext cx="657798" cy="70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g3d9f3472d7f_0_99"/>
          <p:cNvSpPr txBox="1"/>
          <p:nvPr/>
        </p:nvSpPr>
        <p:spPr>
          <a:xfrm>
            <a:off x="1225825" y="450900"/>
            <a:ext cx="10966200" cy="7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lang="en-GB" sz="4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GameMode</a:t>
            </a:r>
            <a:endParaRPr b="1" i="0" sz="11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8" name="Google Shape;198;g3d9f3472d7f_0_99"/>
          <p:cNvSpPr/>
          <p:nvPr/>
        </p:nvSpPr>
        <p:spPr>
          <a:xfrm flipH="1">
            <a:off x="1225829" y="0"/>
            <a:ext cx="9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g3d9f3472d7f_0_99"/>
          <p:cNvSpPr txBox="1"/>
          <p:nvPr/>
        </p:nvSpPr>
        <p:spPr>
          <a:xfrm>
            <a:off x="2093275" y="1186075"/>
            <a:ext cx="9231300" cy="50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Serve solo sul server, i client non hanno un’istanza di GameMode.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Permette di creare modalità come Deathmatch, Team Deathmatch, Capture the Flag</a:t>
            </a:r>
            <a:b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Presenta override utili per gestire la sessione della partita, come 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○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ReadyToStartMatch → quando deve iniziare la partita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○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OnPostLogin → Reagire all’ingresso di un nuovo player/client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○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MatchState → Controllare lo stato del gioco</a:t>
            </a:r>
            <a:b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Contiene variabili per controllare il flow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○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bDelayedStart → Indica ad </a:t>
            </a: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Unreal</a:t>
            </a: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che saremo noi a dire quando partire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○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Options string → Vengono passate  opzioni che indicano cosa deve succedere e le regole dela partita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Inoltre, la Gamemode può coordinarsi con il GameState per gestire lo stato del match.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g3d9f3472d7f_0_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136" y="311680"/>
            <a:ext cx="657798" cy="70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g3d9f3472d7f_0_106"/>
          <p:cNvSpPr txBox="1"/>
          <p:nvPr/>
        </p:nvSpPr>
        <p:spPr>
          <a:xfrm>
            <a:off x="1225825" y="450900"/>
            <a:ext cx="10966200" cy="7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lang="en-GB" sz="4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GameState</a:t>
            </a:r>
            <a:endParaRPr b="1" i="0" sz="11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6" name="Google Shape;206;g3d9f3472d7f_0_106"/>
          <p:cNvSpPr/>
          <p:nvPr/>
        </p:nvSpPr>
        <p:spPr>
          <a:xfrm flipH="1">
            <a:off x="1225829" y="0"/>
            <a:ext cx="9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g3d9f3472d7f_0_106"/>
          <p:cNvSpPr txBox="1"/>
          <p:nvPr/>
        </p:nvSpPr>
        <p:spPr>
          <a:xfrm>
            <a:off x="2093275" y="1186075"/>
            <a:ext cx="9231300" cy="50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È replicato ai client, che lo usano per visualizzare dati condivisi.</a:t>
            </a:r>
            <a:b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Gestisce il Player State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○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Ogni PlayerState si registra nel GameState durante la costruzione.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○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Il GameState mantiene l’elenco aggiornato e sincronizzato dei giocatori.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○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Questo evita “race condition” tra creazione e registrazione dei player.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Informazioni utili :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PlayerArray → contiene i riferimenti a tutti i PlayerState attivi.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MatchState → Gestisce la fase del match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ElapsedTime → Gestisce la durata del match.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Esempio di logica sul GameState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Funzione </a:t>
            </a:r>
            <a:r>
              <a:rPr i="1"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AddScore(bool bTeamAScored)</a:t>
            </a: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per gestire i punteggi delle squadre.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Replica dei valori (</a:t>
            </a:r>
            <a:r>
              <a:rPr i="1"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TeamAScore</a:t>
            </a: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i="1"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TeamBScore</a:t>
            </a: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) tramite </a:t>
            </a:r>
            <a:r>
              <a:rPr i="1"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DOREPLIFETIME</a:t>
            </a: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L’aggiornamento dei punteggi avviene solo sul server, ma i risultati sono visibili su tutti i client tramite replica.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g3d9f3472d7f_0_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136" y="311680"/>
            <a:ext cx="657798" cy="70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g3d9f3472d7f_0_113"/>
          <p:cNvSpPr txBox="1"/>
          <p:nvPr/>
        </p:nvSpPr>
        <p:spPr>
          <a:xfrm>
            <a:off x="1225825" y="450900"/>
            <a:ext cx="10966200" cy="7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lang="en-GB" sz="4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PlayerState</a:t>
            </a:r>
            <a:endParaRPr b="1" i="0" sz="11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4" name="Google Shape;214;g3d9f3472d7f_0_113"/>
          <p:cNvSpPr/>
          <p:nvPr/>
        </p:nvSpPr>
        <p:spPr>
          <a:xfrm flipH="1">
            <a:off x="1225829" y="0"/>
            <a:ext cx="9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g3d9f3472d7f_0_113"/>
          <p:cNvSpPr txBox="1"/>
          <p:nvPr/>
        </p:nvSpPr>
        <p:spPr>
          <a:xfrm>
            <a:off x="2093275" y="1186075"/>
            <a:ext cx="9231300" cy="50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Contiene e sincronizza i dati specifici di un singolo giocatore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○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Nome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○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Punteggio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○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Ping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○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Team</a:t>
            </a:r>
            <a:b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È replicato.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Il server è autorevole, i client ricevono lo stato per visualizzazione/uso.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Rende possibile definire variabili custom replicate</a:t>
            </a:r>
            <a:b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Quando un giocatore cambia livello o si ricollega, i dati possono essere trasferiti fra istanze di PlayerState.</a:t>
            </a:r>
            <a:b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Funzioni chiave </a:t>
            </a: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usate per copiare o sovrascrivere dati rilevanti.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○"/>
            </a:pPr>
            <a:r>
              <a:rPr b="1"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CopyProperties</a:t>
            </a: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(APlayerState* Other) 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○"/>
            </a:pPr>
            <a:r>
              <a:rPr b="1"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OverrideWith</a:t>
            </a: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(APlayerState* Other)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g3d9f3472d7f_0_1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136" y="311680"/>
            <a:ext cx="657798" cy="70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g3d9f3472d7f_0_120"/>
          <p:cNvSpPr txBox="1"/>
          <p:nvPr/>
        </p:nvSpPr>
        <p:spPr>
          <a:xfrm>
            <a:off x="1225825" y="450900"/>
            <a:ext cx="10966200" cy="7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lang="en-GB" sz="4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Pawn/Character</a:t>
            </a:r>
            <a:endParaRPr b="1" i="0" sz="11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2" name="Google Shape;222;g3d9f3472d7f_0_120"/>
          <p:cNvSpPr/>
          <p:nvPr/>
        </p:nvSpPr>
        <p:spPr>
          <a:xfrm flipH="1">
            <a:off x="1225829" y="0"/>
            <a:ext cx="9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g3d9f3472d7f_0_120"/>
          <p:cNvSpPr txBox="1"/>
          <p:nvPr/>
        </p:nvSpPr>
        <p:spPr>
          <a:xfrm>
            <a:off x="2093275" y="1186075"/>
            <a:ext cx="9231300" cy="50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Il Pawn è replicato ai client, così che la posizione, la rotazione e altri stati siano sincronizzati.</a:t>
            </a:r>
            <a:b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ACharacter fornisce già movement compoenents  e replica posizione/rotazione</a:t>
            </a:r>
            <a:b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 variabili sensibili (es. Health) sono replicate perché il server abbia autorità e i client non possano barare.</a:t>
            </a:r>
            <a:b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Best practices :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Evitare di replicare variabili inutili per risparmiare banda.</a:t>
            </a:r>
            <a:b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Eseguire le operazioni critiche (tipo infliggere danno) solo sul server.</a:t>
            </a:r>
            <a:b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Usare OnRep_ o eventi per notificare il client dei cambiamenti di stato.</a:t>
            </a:r>
            <a:b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Assicurarsi che distruzioni e sincronizzazioni siano gestite correttamente per evitare desync.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g3d9f3472d7f_0_1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136" y="311680"/>
            <a:ext cx="657798" cy="70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g3d9f3472d7f_0_127"/>
          <p:cNvSpPr txBox="1"/>
          <p:nvPr/>
        </p:nvSpPr>
        <p:spPr>
          <a:xfrm>
            <a:off x="1225825" y="450900"/>
            <a:ext cx="10966200" cy="7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lang="en-GB" sz="4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PlayerController</a:t>
            </a:r>
            <a:endParaRPr b="1" i="0" sz="11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0" name="Google Shape;230;g3d9f3472d7f_0_127"/>
          <p:cNvSpPr/>
          <p:nvPr/>
        </p:nvSpPr>
        <p:spPr>
          <a:xfrm flipH="1">
            <a:off x="1225829" y="0"/>
            <a:ext cx="9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g3d9f3472d7f_0_127"/>
          <p:cNvSpPr txBox="1"/>
          <p:nvPr/>
        </p:nvSpPr>
        <p:spPr>
          <a:xfrm>
            <a:off x="2093275" y="1186075"/>
            <a:ext cx="9231300" cy="50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Ogni client ha il proprio PlayerController, e il server mantiene riferimenti a tutti i controller dei client.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Il PlayerController è “posseduto” dal client, il che lo rende idoneo per invocare </a:t>
            </a:r>
            <a:b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RPC </a:t>
            </a: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(remote procedural call) verso il server.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Best practices :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Delegare al PlayerController le azioni che originano da input locale e che devono raggiungere il server.</a:t>
            </a:r>
            <a:b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Fare le modifiche di stato (es. incremento variabile) solo sul server e lasciare che la replicazione porti i cambiamenti ai client.</a:t>
            </a:r>
            <a:b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Evitare che il client provi ad accedere ai PlayerController di altri giocatori. </a:t>
            </a:r>
            <a:b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Il client conosce solo il proprio controller.</a:t>
            </a:r>
            <a:b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Usare </a:t>
            </a:r>
            <a:r>
              <a:rPr b="1"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IsLocalController </a:t>
            </a: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 controlli di autorità (Role &lt; </a:t>
            </a:r>
            <a:r>
              <a:rPr b="1"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ROLE_Authority</a:t>
            </a: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) per invocare RPC in maniera sicura.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g3d9f3472d7f_0_1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136" y="311680"/>
            <a:ext cx="657798" cy="70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g3d9f3472d7f_0_134"/>
          <p:cNvSpPr txBox="1"/>
          <p:nvPr/>
        </p:nvSpPr>
        <p:spPr>
          <a:xfrm>
            <a:off x="1225825" y="450900"/>
            <a:ext cx="10966200" cy="7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lang="en-GB" sz="4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UserWidget</a:t>
            </a:r>
            <a:endParaRPr b="1" i="0" sz="11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8" name="Google Shape;238;g3d9f3472d7f_0_134"/>
          <p:cNvSpPr/>
          <p:nvPr/>
        </p:nvSpPr>
        <p:spPr>
          <a:xfrm flipH="1">
            <a:off x="1225829" y="0"/>
            <a:ext cx="9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g3d9f3472d7f_0_134"/>
          <p:cNvSpPr txBox="1"/>
          <p:nvPr/>
        </p:nvSpPr>
        <p:spPr>
          <a:xfrm>
            <a:off x="2093275" y="1186075"/>
            <a:ext cx="9231300" cy="50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 widget esistono solo lato client, non sono replicati, quindi non devono contenere codice di rete o replica.</a:t>
            </a:r>
            <a:b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Poiché non replicano, per far comunicare un’azione di widget col server, si deve passare tramite il PlayerController o altri oggetti autorizzati al server (RPC).</a:t>
            </a:r>
            <a:b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 widget possono invocare funzioni locali o chiamare RPC tramite l’oggetto controller posseduto dal giocatore.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40" name="Google Shape;240;g3d9f3472d7f_0_1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45750" y="3660912"/>
            <a:ext cx="2840875" cy="2813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g3d9f3472d7f_0_1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78633" y="3868558"/>
            <a:ext cx="1030827" cy="1388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g3d9f3472d7f_0_1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54944" y="4061175"/>
            <a:ext cx="4290358" cy="241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g3d9f3472d7f_0_1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136" y="311680"/>
            <a:ext cx="657798" cy="70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g3d9f3472d7f_0_141"/>
          <p:cNvSpPr/>
          <p:nvPr/>
        </p:nvSpPr>
        <p:spPr>
          <a:xfrm flipH="1">
            <a:off x="1225829" y="0"/>
            <a:ext cx="9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9" name="Google Shape;249;g3d9f3472d7f_0_1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7061" y="460391"/>
            <a:ext cx="9377876" cy="59372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g3d9f3472d7f_0_1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136" y="311680"/>
            <a:ext cx="657798" cy="70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g3d9f3472d7f_0_151"/>
          <p:cNvSpPr/>
          <p:nvPr/>
        </p:nvSpPr>
        <p:spPr>
          <a:xfrm flipH="1">
            <a:off x="1225829" y="0"/>
            <a:ext cx="9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6" name="Google Shape;256;g3d9f3472d7f_0_1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06125" y="171450"/>
            <a:ext cx="7379759" cy="6515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11"/>
          <p:cNvPicPr preferRelativeResize="0"/>
          <p:nvPr/>
        </p:nvPicPr>
        <p:blipFill rotWithShape="1">
          <a:blip r:embed="rId3">
            <a:alphaModFix/>
          </a:blip>
          <a:srcRect b="32407" l="167" r="-167" t="5899"/>
          <a:stretch/>
        </p:blipFill>
        <p:spPr>
          <a:xfrm>
            <a:off x="1225825" y="2349500"/>
            <a:ext cx="10966175" cy="450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1136" y="311680"/>
            <a:ext cx="657798" cy="70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1"/>
          <p:cNvSpPr txBox="1"/>
          <p:nvPr/>
        </p:nvSpPr>
        <p:spPr>
          <a:xfrm>
            <a:off x="1225700" y="792575"/>
            <a:ext cx="109662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GB" sz="4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Questions</a:t>
            </a:r>
            <a:endParaRPr b="1" i="0" sz="44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5" name="Google Shape;265;p11"/>
          <p:cNvSpPr txBox="1"/>
          <p:nvPr/>
        </p:nvSpPr>
        <p:spPr>
          <a:xfrm>
            <a:off x="5403647" y="2159002"/>
            <a:ext cx="2610300" cy="334200"/>
          </a:xfrm>
          <a:prstGeom prst="rect">
            <a:avLst/>
          </a:prstGeom>
          <a:solidFill>
            <a:srgbClr val="FF000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NOW IS THE TIME!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1"/>
          <p:cNvSpPr/>
          <p:nvPr/>
        </p:nvSpPr>
        <p:spPr>
          <a:xfrm flipH="1">
            <a:off x="1225829" y="0"/>
            <a:ext cx="9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12"/>
          <p:cNvPicPr preferRelativeResize="0"/>
          <p:nvPr/>
        </p:nvPicPr>
        <p:blipFill rotWithShape="1">
          <a:blip r:embed="rId3">
            <a:alphaModFix amt="5000"/>
          </a:blip>
          <a:srcRect b="0" l="0" r="0" t="0"/>
          <a:stretch/>
        </p:blipFill>
        <p:spPr>
          <a:xfrm>
            <a:off x="7234950" y="-525790"/>
            <a:ext cx="5560190" cy="5942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136" y="300794"/>
            <a:ext cx="657798" cy="70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12"/>
          <p:cNvPicPr preferRelativeResize="0"/>
          <p:nvPr/>
        </p:nvPicPr>
        <p:blipFill rotWithShape="1">
          <a:blip r:embed="rId4">
            <a:alphaModFix/>
          </a:blip>
          <a:srcRect b="34586" l="0" r="0" t="0"/>
          <a:stretch/>
        </p:blipFill>
        <p:spPr>
          <a:xfrm>
            <a:off x="3952033" y="2855689"/>
            <a:ext cx="5513534" cy="1146622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2"/>
          <p:cNvSpPr/>
          <p:nvPr/>
        </p:nvSpPr>
        <p:spPr>
          <a:xfrm flipH="1">
            <a:off x="1225829" y="0"/>
            <a:ext cx="9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